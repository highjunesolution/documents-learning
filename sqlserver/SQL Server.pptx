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5F4707-B503-4F9E-6E78-A8AFC8D5842D}" v="2" dt="2026-04-24T09:17:38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1I2 Jirayu S.Kaw" userId="S::300260129@th.maxxis.com::f59d7631-84c6-4c5a-a848-622dc00af3ab" providerId="AD" clId="Web-{A05F4707-B503-4F9E-6E78-A8AFC8D5842D}"/>
    <pc:docChg chg="mod addSld delSld modSld addMainMaster delMainMaster modNotesMaster setSldSz">
      <pc:chgData name="D1I2 Jirayu S.Kaw" userId="S::300260129@th.maxxis.com::f59d7631-84c6-4c5a-a848-622dc00af3ab" providerId="AD" clId="Web-{A05F4707-B503-4F9E-6E78-A8AFC8D5842D}" dt="2026-04-24T09:17:38.856" v="1"/>
      <pc:docMkLst>
        <pc:docMk/>
      </pc:docMkLst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56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57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58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59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60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61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62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63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64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65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66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67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68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69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70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71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72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73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74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75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76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77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78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79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80"/>
        </pc:sldMkLst>
      </pc:sldChg>
      <pc:sldChg chg="ad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0" sldId="281"/>
        </pc:sldMkLst>
      </pc:sldChg>
      <pc:sldChg chg="del replId">
        <pc:chgData name="D1I2 Jirayu S.Kaw" userId="S::300260129@th.maxxis.com::f59d7631-84c6-4c5a-a848-622dc00af3ab" providerId="AD" clId="Web-{A05F4707-B503-4F9E-6E78-A8AFC8D5842D}" dt="2026-04-24T09:17:38.856" v="1"/>
        <pc:sldMkLst>
          <pc:docMk/>
          <pc:sldMk cId="109857222" sldId="282"/>
        </pc:sldMkLst>
      </pc:sldChg>
      <pc:sldMasterChg chg="add addSldLayout">
        <pc:chgData name="D1I2 Jirayu S.Kaw" userId="S::300260129@th.maxxis.com::f59d7631-84c6-4c5a-a848-622dc00af3ab" providerId="AD" clId="Web-{A05F4707-B503-4F9E-6E78-A8AFC8D5842D}" dt="2026-04-24T09:17:38.856" v="1"/>
        <pc:sldMasterMkLst>
          <pc:docMk/>
          <pc:sldMasterMk cId="0" sldId="2147483648"/>
        </pc:sldMasterMkLst>
        <pc:sldLayoutChg chg="add">
          <pc:chgData name="D1I2 Jirayu S.Kaw" userId="S::300260129@th.maxxis.com::f59d7631-84c6-4c5a-a848-622dc00af3ab" providerId="AD" clId="Web-{A05F4707-B503-4F9E-6E78-A8AFC8D5842D}" dt="2026-04-24T09:17:38.856" v="1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delSldLayout">
        <pc:chgData name="D1I2 Jirayu S.Kaw" userId="S::300260129@th.maxxis.com::f59d7631-84c6-4c5a-a848-622dc00af3ab" providerId="AD" clId="Web-{A05F4707-B503-4F9E-6E78-A8AFC8D5842D}" dt="2026-04-24T09:17:38.856" v="1"/>
        <pc:sldMasterMkLst>
          <pc:docMk/>
          <pc:sldMasterMk cId="2460954070" sldId="2147483660"/>
        </pc:sldMasterMkLst>
        <pc:sldLayoutChg chg="del">
          <pc:chgData name="D1I2 Jirayu S.Kaw" userId="S::300260129@th.maxxis.com::f59d7631-84c6-4c5a-a848-622dc00af3ab" providerId="AD" clId="Web-{A05F4707-B503-4F9E-6E78-A8AFC8D5842D}" dt="2026-04-24T09:17:38.856" v="1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D1I2 Jirayu S.Kaw" userId="S::300260129@th.maxxis.com::f59d7631-84c6-4c5a-a848-622dc00af3ab" providerId="AD" clId="Web-{A05F4707-B503-4F9E-6E78-A8AFC8D5842D}" dt="2026-04-24T09:17:38.856" v="1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D1I2 Jirayu S.Kaw" userId="S::300260129@th.maxxis.com::f59d7631-84c6-4c5a-a848-622dc00af3ab" providerId="AD" clId="Web-{A05F4707-B503-4F9E-6E78-A8AFC8D5842D}" dt="2026-04-24T09:17:38.856" v="1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D1I2 Jirayu S.Kaw" userId="S::300260129@th.maxxis.com::f59d7631-84c6-4c5a-a848-622dc00af3ab" providerId="AD" clId="Web-{A05F4707-B503-4F9E-6E78-A8AFC8D5842D}" dt="2026-04-24T09:17:38.856" v="1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D1I2 Jirayu S.Kaw" userId="S::300260129@th.maxxis.com::f59d7631-84c6-4c5a-a848-622dc00af3ab" providerId="AD" clId="Web-{A05F4707-B503-4F9E-6E78-A8AFC8D5842D}" dt="2026-04-24T09:17:38.856" v="1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D1I2 Jirayu S.Kaw" userId="S::300260129@th.maxxis.com::f59d7631-84c6-4c5a-a848-622dc00af3ab" providerId="AD" clId="Web-{A05F4707-B503-4F9E-6E78-A8AFC8D5842D}" dt="2026-04-24T09:17:38.856" v="1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D1I2 Jirayu S.Kaw" userId="S::300260129@th.maxxis.com::f59d7631-84c6-4c5a-a848-622dc00af3ab" providerId="AD" clId="Web-{A05F4707-B503-4F9E-6E78-A8AFC8D5842D}" dt="2026-04-24T09:17:38.856" v="1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D1I2 Jirayu S.Kaw" userId="S::300260129@th.maxxis.com::f59d7631-84c6-4c5a-a848-622dc00af3ab" providerId="AD" clId="Web-{A05F4707-B503-4F9E-6E78-A8AFC8D5842D}" dt="2026-04-24T09:17:38.856" v="1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D1I2 Jirayu S.Kaw" userId="S::300260129@th.maxxis.com::f59d7631-84c6-4c5a-a848-622dc00af3ab" providerId="AD" clId="Web-{A05F4707-B503-4F9E-6E78-A8AFC8D5842D}" dt="2026-04-24T09:17:38.856" v="1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D1I2 Jirayu S.Kaw" userId="S::300260129@th.maxxis.com::f59d7631-84c6-4c5a-a848-622dc00af3ab" providerId="AD" clId="Web-{A05F4707-B503-4F9E-6E78-A8AFC8D5842D}" dt="2026-04-24T09:17:38.856" v="1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D1I2 Jirayu S.Kaw" userId="S::300260129@th.maxxis.com::f59d7631-84c6-4c5a-a848-622dc00af3ab" providerId="AD" clId="Web-{A05F4707-B503-4F9E-6E78-A8AFC8D5842D}" dt="2026-04-24T09:17:38.856" v="1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D1FC78-FFA7-43B4-B46E-7762C2860D34}" type="datetimeFigureOut"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EDDFFA-E423-4A60-B961-C173374F7F1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39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สไลด์เปิด เน้นวางธีมของเนื้อหา หลักสูตรนี้ครอบคลุม SQL Server ทั้งด้าน System Admin/DBA และ Developer ใช้เวลาแนะนำหัวข้อ เป้าหมาย และกลุ่มเป้าหมาย: System Admin, DBA, IT Infrastructure, Backend Developer, Full Stack Developer และนักศึกษา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แนะนำว่า SQL Server คืออะไร เป็น RDBMS ที่ใช้กันอย่างแพร่หลายในองค์กร อธิบายความแตกต่างระหว่าง Edition ให้ผู้เรียนรู้ว่าควรเลือกใช้ตัวไหน Developer Edition เป็นตัวที่แนะนำสำหรับนักพัฒนาเพราะฟรีและเทียบเท่า Enterprise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ยกตัวอย่างการใช้งานจริงในหลากหลายอุตสาหกรรม ทั้ง ERP, การเงิน, อีคอมเมิร์ซ, การแพทย์, ราชการ และคลังข้อมูลเพื่อการวิเคราะห์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อธิบายความแตกต่างของบทบาท Admin/DBA เน้นการดูแลระบบ ส่วน Developer เน้นการออกแบบและเขียนโค้ด ทั้งสองฝ่ายต้องสื่อสารและ review งานร่วมกันเพื่อให้ระบบทั้ง performant และ secure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อธิบายภาพรวมของ SQL Server Architecture: Client ส่ง Query มาผ่าน TDS Protocol เข้า Protocol Layer ต่อไปยัง Relational Engine ที่ทำ parse, optimize, execute แล้วส่งต่อให้ Storage Engine เพื่อเข้าถึงข้อมูลบน data files ผ่าน Buffer Pool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อธิบายขั้นตอนหลัก 6 ขั้นตอน ตั้งแต่ดาวน์โหลด เลือก features ตั้ง Instance ไปจนถึงติดตั้ง SSMS ซึ่งต้องดาวน์โหลดแยกจาก SQL Server Engine ย้ำเรื่องการเลือก Authentication mode ให้เหมาะกับองค์กร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ชี้ให้เห็นว่า Instance หนึ่งสามารถมีหลาย Database และแต่ละ DB มีไฟล์ข้อมูลและ log เป็นของตัวเอง TempDB เป็นจุดสำคัญด้าน performance — DBA ต้องแยก disk และตั้งไฟล์หลายไฟล์เพื่อลด latch contention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ออกแบบเป็นชั้นๆ: Authentication ยืนยันตัวตน → Authorization กำหนดสิทธิ์ → Encryption ป้องกันข้อมูล → Auditing ตรวจสอบ หลักการคือ Least Privilege — ให้สิทธิ์น้อยที่สุดเท่าที่จำเป็น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เน้นให้ผู้ดูแลจัดการสิทธิ์ผ่าน Role แทนการ grant ตรงให้ user แต่ละคน เพราะง่ายต่อการบำรุงรักษา Fixed Server Roles เช่น sysadmin, Fixed Database Roles เช่น db_datareader/db_datawriter องค์กรใหญ่ควรสร้าง Custom Role ตาม business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เปรียบเทียบ Recovery Model 3 แบบ Full ใช้ในระบบ production ที่ต้องการ Point-in-Time Recovery Simple ใช้ใน dev/staging หรือ data warehouse ตัวอย่าง backup strategy แบบ 3-2-1: มี 3 ชุด, 2 สื่อต่าง, 1 offsite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อธิบายงานบำรุงรักษาและตรวจสอบระบบ ต้องทำตามรอบที่กำหนด เน้น DBCC CHECKDB สำหรับตรวจสอบ corruption และการ test restore จริงเพื่อให้มั่นใจว่า backup ใช้ได้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วงจร tuning 5 ขั้น เริ่มจากการวัด baseline ก่อนเสมอ เพราะถ้าไม่รู้ฐานก็วัดผลไม่ได้ ใช้ DMVs หลักๆ เช่น dm_exec_query_stats, dm_os_wait_stats สำหรับหา bottleneck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เปรียบเทียบทางเลือก HA/DR จากพื้นฐานถึงขั้นสูง การเลือกขึ้นกับ SLA, ขนาดระบบ, งบประมาณ และ RPO/RTO ที่ต้องการ Always On AG คือมาตรฐานสำหรับระบบ mission-critical ยุคใหม่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หลักการ normalize ลดความซ้ำซ้อน เพิ่มความสมบูรณ์ แต่ก็ต้องดูบริบท สำหรับ reporting/DW อาจ denormalize บางส่วนเพื่อประสิทธิภาพ ER Diagram ช่วยสื่อสารกับทีม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ตัวอย่างการสร้าง table สองตัวที่มี relation แบบ one-to-many โดยใช้ FK ชี้กลับไปยัง PK ของ Customer เน้น IDENTITY สำหรับ surrogate key, CHECK constraint สำหรับ business rule, DEFAULT สำหรับค่าเริ่มต้น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การเลือก data type มีผลทั้ง storage และ performance ย้ำ 3 เรื่อง: ภาษาไทยใช้ NVARCHAR, เงิน/การเงินใช้ DECIMAL ห้าม FLOAT, date/time ใช้ DATETIME2 แทน DATETIME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แนะนำหมวดหมู่ของคำสั่ง T-SQL 4 กลุ่มหลัก DDL/DML/DCL/TCL ตัวอย่างใช้ DECLARE, @variable, TOP, WHERE, ORDER BY — พื้นฐานที่ developer ทุกคนต้องใช้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ครอบคลุม CRUD ทั้ง 4 กรณี ย้ำเสมอว่าให้ใช้ WHERE ใน UPDATE/DELETE เพื่อป้องกันข้อมูลเสียหาย ใช้ transaction ห่อเมื่อเปลี่ยนข้อมูลหลายแถว และตรวจ row count ก่อน commit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อธิบายความแตกต่างของ JOIN แต่ละแบบ พร้อมตัวอย่าง aggregate GROUP BY ต้องใส่ทุกคอลัมน์ที่ไม่ได้ aggregate HAVING กรองหลังการ aggregate ต่างจาก WHERE ที่กรองก่อน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เปรียบเทียบ SP/View/Function ว่าใช้ตอนไหน SP เหมาะกับ business logic ที่มีหลาย step View ใช้เป็น abstraction layer Function ใช้คำนวณที่เรียกใช้ในคำสั่งอื่น ใส่ SET NOCOUNT ON ช่วยลด overhead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 ACID ทีละตัวพร้อม Isolation Level ที่ SQL Server รองรับ SNAPSHOT เหมาะมากสำหรับ read-heavy ลด blocking เน้น TRY/CATCH ในของจริง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 Index 4 ประเภท เน้น covering index ด้วย INCLUDE ช่วยให้ query ไม่ต้อง lookup กลับ row data ข้อควรระวัง: index มากเกินไปทำให้ INSERT/UPDATE ช้า ต้องสมดุล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สองเรื่องสำคัญที่ developer ต้องทำทุกครั้ง: 1) ครอบด้วย TRY/CATCH + transaction เพื่อ rollback เมื่อ error 2) ห้ามต่อ string เด็ดขาด — ใช้ parameterized query เสมอ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ภาพรวมการเชื่อมต่อจาก stack ยอดนิยม 4 ภาษา เน้นเรื่อง Encrypt=True เสมอใน production และใช้ Connection Pool เพื่อลด overhead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รวบรวม best practices ที่ใช้ได้จริงในองค์กร ทั้งฝั่ง admin และ developer คัดมาจากประสบการณ์จริง ย้ำเรื่อง DR drill ปีละครั้งเพื่อให้ทีมรู้จริงๆ ว่าขั้นตอน recovery เป็นอย่างไร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ปิดท้ายด้วย 7 Workshop ที่ครอบคลุมทั้ง Admin และ Developer และสรุปเป็น 7 Key Takeaways หลัก เชิญผู้เรียนลงมือทำและถามคำถาม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4DA6FF">
              <a:alpha val="10000"/>
            </a:srgbClr>
          </a:solidFill>
          <a:ln w="12700">
            <a:solidFill>
              <a:srgbClr val="4DA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09728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∙ MASTERCLASS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การใช้งาน SQL Server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ทั้งในมุม System Admin และ Developer แบบครบวงจร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ครอบคลุมตั้งแต่การติดตั้ง ดูแลระบบ ความปลอดภัย ประสิทธิภาพ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ไปจนถึงการออกแบบฐานข้อมูล การเขียน T-SQL และ Best Practices จริง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SLIDES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402336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EXAMPLES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402336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402336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 System Admin · DBA · IT Infrastructure · Backend &amp; Full Stack Developer · นักศึกษา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SQL Server คืออะไร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— RDBMS ระดับองค์กร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4114800" cy="146304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54480"/>
            <a:ext cx="54864" cy="14630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916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ความหมาย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" y="205740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ระบบจัดการฐานข้อมูลเชิงสัมพันธ์ (RDBMS) ของ Microsoft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จัดเก็บ ดึง และประมวลผลข้อมูลผ่าน T-SQL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รองรับทั้ง OLTP, OLAP และ Big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3977640" cy="146304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554480"/>
            <a:ext cx="54864" cy="1463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9164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จุดเด่น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20574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ความน่าเชื่อถือสูง มี ACID transactions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ระดับ enterprise (TDE, Always Encrypted)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Windows / Linux / Container / Azure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108960"/>
            <a:ext cx="4114800" cy="173736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108960"/>
            <a:ext cx="54864" cy="1737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461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Editions หลัก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" y="361188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– เต็มความสามารถ สำหรับองค์กรขนาดใหญ่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– ครบสำหรับธุรกิจทั่วไป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– ฟรีสำหรับพัฒนา/ทดสอบ เทียบเท่า Enterprise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– ฟรีสำหรับงานขนาดเล็ก (10 GB/DB)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3977640" cy="173736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108960"/>
            <a:ext cx="54864" cy="17373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2461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Ecosystem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4608" y="361188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SSMS – เครื่องมือบริหารจัดการหลัก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Studio – cross-platform IDE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 / SSRS / SSAS – ETL, รายงาน, วิเคราะห์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และ Azure SQL เชื่อมต่อได้ไร้รอยต่อ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SQL Server ใช้ในงานประเภทใด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ครอบคลุมตั้งแต่ระบบหลังบ้านจนถึง Analytics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2651760" cy="141732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874520"/>
            <a:ext cx="502920" cy="50292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</a:rPr>
              <a:t>◆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18470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CRM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17627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SAP, Dynamics และระบบองค์กร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645920"/>
            <a:ext cx="2651760" cy="141732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1874520"/>
            <a:ext cx="502920" cy="502920"/>
          </a:xfrm>
          <a:prstGeom prst="ellipse">
            <a:avLst/>
          </a:prstGeom>
          <a:solidFill>
            <a:srgbClr val="FFB800">
              <a:alpha val="25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800"/>
                </a:solidFill>
              </a:rPr>
              <a:t>◆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14800" y="18470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217627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ระบบธุรกรรมความถูกต้องสูง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1645920"/>
            <a:ext cx="2651760" cy="141732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874520"/>
            <a:ext cx="502920" cy="502920"/>
          </a:xfrm>
          <a:prstGeom prst="ellipse">
            <a:avLst/>
          </a:prstGeom>
          <a:solidFill>
            <a:srgbClr val="4DA6FF">
              <a:alpha val="25000"/>
            </a:srgbClr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A6FF"/>
                </a:solidFill>
              </a:rPr>
              <a:t>◆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18470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217627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สั่งซื้อ สต็อก ชำระเงิน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200400"/>
            <a:ext cx="2651760" cy="141732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429000"/>
            <a:ext cx="502920" cy="50292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</a:rPr>
              <a:t>◆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3401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37307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เวชระเบียน ข้อมูลผู้ป่วย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3200400"/>
            <a:ext cx="2651760" cy="141732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429000"/>
            <a:ext cx="502920" cy="502920"/>
          </a:xfrm>
          <a:prstGeom prst="ellipse">
            <a:avLst/>
          </a:prstGeom>
          <a:solidFill>
            <a:srgbClr val="FFB800">
              <a:alpha val="25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800"/>
                </a:solidFill>
              </a:rPr>
              <a:t>◆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114800" y="3401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0" y="37307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ทะเบียนประชาชน ภาษี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0760" y="3200400"/>
            <a:ext cx="2651760" cy="141732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429000"/>
            <a:ext cx="502920" cy="502920"/>
          </a:xfrm>
          <a:prstGeom prst="ellipse">
            <a:avLst/>
          </a:prstGeom>
          <a:solidFill>
            <a:srgbClr val="4DA6FF">
              <a:alpha val="25000"/>
            </a:srgbClr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A6FF"/>
                </a:solidFill>
              </a:rPr>
              <a:t>◆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03720" y="3401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03720" y="373075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BI, Power BI, Reporting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แนวโน้ม: การย้ายขึ้น Cloud (Azure SQL) และ Hybrid เพิ่มมากขึ้นในองค์กรทั่วโลก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บทบาทของ Admin และ Developer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ขอบเขตงานที่แตกต่างแต่ต้องทำงานร่วมกัน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4023360" cy="3200400"/>
          </a:xfrm>
          <a:prstGeom prst="rect">
            <a:avLst/>
          </a:prstGeom>
          <a:solidFill>
            <a:srgbClr val="152841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SYSTEM ADMIN / DBA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3703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ติดตั้งและกำหนดค่า SQL Server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 Instance, Database, File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ดูแล Security, Login, Permission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/ Restore / DR Plan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Maintenance, Patching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 ระดับ Server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/ Cluster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17720" y="1600200"/>
            <a:ext cx="4023360" cy="3200400"/>
          </a:xfrm>
          <a:prstGeom prst="rect">
            <a:avLst/>
          </a:prstGeom>
          <a:solidFill>
            <a:srgbClr val="152841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DEVELOPER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2194560"/>
            <a:ext cx="3703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 schema / ER Diagram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เขียน T-SQL / CRUD Queries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Stored Procedure / Function / View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 Transaction &amp; Concurrency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 Index &amp; ทำ Query Tuning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ป้องกัน SQL Injection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เชื่อมต่อฐานข้อมูลกับ Application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SQL Server Architecture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ภาพรวมสถาปัตยกรรมและ Engine หลัก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8138160" cy="3246120"/>
          </a:xfrm>
          <a:prstGeom prst="rect">
            <a:avLst/>
          </a:prstGeom>
          <a:solidFill>
            <a:srgbClr val="0F1E36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459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INSTANCE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2011680"/>
            <a:ext cx="7589520" cy="411480"/>
          </a:xfrm>
          <a:prstGeom prst="roundRect">
            <a:avLst>
              <a:gd name="adj" fmla="val 11111"/>
            </a:avLst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116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Protocol Layer  ·  TDS / TCP / Named Pipes / Shared Memory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514600"/>
            <a:ext cx="3657600" cy="1371600"/>
          </a:xfrm>
          <a:prstGeom prst="roundRect">
            <a:avLst>
              <a:gd name="adj" fmla="val 3333"/>
            </a:avLst>
          </a:prstGeom>
          <a:solidFill>
            <a:srgbClr val="152841"/>
          </a:solidFill>
          <a:ln w="9525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8803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Parser</a:t>
            </a:r>
            <a:endParaRPr lang="en-US" sz="1050" dirty="0"/>
          </a:p>
          <a:p>
            <a:pPr marL="342900" indent="-342900"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Optimizer</a:t>
            </a:r>
            <a:endParaRPr lang="en-US" sz="1050" dirty="0"/>
          </a:p>
          <a:p>
            <a:pPr marL="342900" indent="-342900"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514600"/>
            <a:ext cx="3657600" cy="1371600"/>
          </a:xfrm>
          <a:prstGeom prst="roundRect">
            <a:avLst>
              <a:gd name="adj" fmla="val 3333"/>
            </a:avLst>
          </a:prstGeom>
          <a:solidFill>
            <a:srgbClr val="152841"/>
          </a:solidFill>
          <a:ln w="9525">
            <a:solidFill>
              <a:srgbClr val="4D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Engine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8803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Methods</a:t>
            </a:r>
            <a:endParaRPr lang="en-US" sz="1050" dirty="0"/>
          </a:p>
          <a:p>
            <a:pPr marL="342900" indent="-342900"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Manager</a:t>
            </a:r>
            <a:endParaRPr lang="en-US" sz="1050" dirty="0"/>
          </a:p>
          <a:p>
            <a:pPr marL="342900" indent="-342900"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 &amp; Lock Manager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3977640"/>
            <a:ext cx="7589520" cy="777240"/>
          </a:xfrm>
          <a:prstGeom prst="roundRect">
            <a:avLst>
              <a:gd name="adj" fmla="val 5882"/>
            </a:avLst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776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Storage  ·  Data Files (.mdf, .ndf)   ·   Log File (.ldf)   ·   TempDB   ·   Backup Files (.bak)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การติดตั้ง SQL Server และ SSMS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ขั้นตอนการติดตั้งระบบพร้อมใช้งาน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2651760" cy="141732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373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ดาวน์โหลด Installer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Edition ที่เหมาะสม (Dev/Express สำหรับเรียน)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600200"/>
            <a:ext cx="2651760" cy="141732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7373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2900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Type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installation หรือ Add features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600200"/>
            <a:ext cx="2651760" cy="141732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7373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1792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Engine, Full-Text, Integration Services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154680"/>
            <a:ext cx="2651760" cy="141732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91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08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Config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หรือ Named Instance เลือก path ข้อมูล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154680"/>
            <a:ext cx="2651760" cy="141732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291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2900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Mixed Mode กำหนดรหัส sa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3154680"/>
            <a:ext cx="2651760" cy="141732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291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21792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ติดตั้ง SSMS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ดาวน์โหลดแยก — เครื่องมือหลักในการบริหาร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7365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ใช้ Developer Edition สำหรับสภาพแวดล้อมเรียน/ทดสอบ — ฟรี และความสามารถเท่า Enterprise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Instance, Database, File และ TempDB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โครงสร้างจัดเก็บข้อมูลของ SQL Server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4023360" cy="3246120"/>
          </a:xfrm>
          <a:prstGeom prst="rect">
            <a:avLst/>
          </a:prstGeom>
          <a:solidFill>
            <a:srgbClr val="0F1E3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INSTANCE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057400"/>
            <a:ext cx="822960" cy="365760"/>
          </a:xfrm>
          <a:prstGeom prst="roundRect">
            <a:avLst>
              <a:gd name="adj" fmla="val 10000"/>
            </a:avLst>
          </a:prstGeom>
          <a:solidFill>
            <a:srgbClr val="152841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57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00200" y="2057400"/>
            <a:ext cx="822960" cy="365760"/>
          </a:xfrm>
          <a:prstGeom prst="roundRect">
            <a:avLst>
              <a:gd name="adj" fmla="val 10000"/>
            </a:avLst>
          </a:prstGeom>
          <a:solidFill>
            <a:srgbClr val="152841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2057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2057400"/>
            <a:ext cx="822960" cy="365760"/>
          </a:xfrm>
          <a:prstGeom prst="roundRect">
            <a:avLst>
              <a:gd name="adj" fmla="val 10000"/>
            </a:avLst>
          </a:prstGeom>
          <a:solidFill>
            <a:srgbClr val="152841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2057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29000" y="2057400"/>
            <a:ext cx="822960" cy="365760"/>
          </a:xfrm>
          <a:prstGeom prst="roundRect">
            <a:avLst>
              <a:gd name="adj" fmla="val 10000"/>
            </a:avLst>
          </a:prstGeom>
          <a:solidFill>
            <a:srgbClr val="152841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057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tempdb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Databases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2880360"/>
            <a:ext cx="1143000" cy="411480"/>
          </a:xfrm>
          <a:prstGeom prst="roundRect">
            <a:avLst>
              <a:gd name="adj" fmla="val 8889"/>
            </a:avLst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8803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Sales_DB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65960" y="2880360"/>
            <a:ext cx="1143000" cy="411480"/>
          </a:xfrm>
          <a:prstGeom prst="roundRect">
            <a:avLst>
              <a:gd name="adj" fmla="val 8889"/>
            </a:avLst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28803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HR_DB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880360"/>
            <a:ext cx="1143000" cy="411480"/>
          </a:xfrm>
          <a:prstGeom prst="roundRect">
            <a:avLst>
              <a:gd name="adj" fmla="val 8889"/>
            </a:avLst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28803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Shop_DB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Databases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" y="3703320"/>
            <a:ext cx="3657600" cy="1005840"/>
          </a:xfrm>
          <a:prstGeom prst="rect">
            <a:avLst/>
          </a:prstGeom>
          <a:solidFill>
            <a:srgbClr val="152841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749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.mdf  </a:t>
            </a: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file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.ndf  </a:t>
            </a: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 file(s)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.ldf  </a:t>
            </a: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 file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1600200"/>
            <a:ext cx="3977640" cy="3246120"/>
          </a:xfrm>
          <a:prstGeom prst="rect">
            <a:avLst/>
          </a:prstGeom>
          <a:solidFill>
            <a:srgbClr val="152841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TempDB — ทำไมต้องสนใจ?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46320" y="21488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ชั่วคราวที่ทุก user ใช้ร่วมกัน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 temp tables, table variables, sort/hash workspaces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รีเซ็ตทุกครั้งที่ restart SQL Server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ควรแยก disk และมีหลาย data files (เท่า logical CPUs, สูงสุด 8)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 contention ที่ PAGELATCH_* บน allocation pages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กำหนดขนาดเริ่มต้นและ auto-growth ให้เท่ากัน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Security และ Permission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หลักการรักษาความปลอดภัยแบบหลายชั้น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4572000" cy="621792"/>
          </a:xfrm>
          <a:prstGeom prst="rect">
            <a:avLst/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00200"/>
            <a:ext cx="73152" cy="6217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0020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34440" y="1947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ใครเข้ามาได้บ้าง? (Login)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13432"/>
            <a:ext cx="4572000" cy="621792"/>
          </a:xfrm>
          <a:prstGeom prst="rect">
            <a:avLst/>
          </a:prstGeom>
          <a:solidFill>
            <a:srgbClr val="152841"/>
          </a:solidFill>
          <a:ln w="9525">
            <a:solidFill>
              <a:srgbClr val="FFB8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313432"/>
            <a:ext cx="73152" cy="62179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31343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34440" y="26609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เข้าแล้วทำอะไรได้? (User/Role/Permission)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026664"/>
            <a:ext cx="4572000" cy="621792"/>
          </a:xfrm>
          <a:prstGeom prst="rect">
            <a:avLst/>
          </a:prstGeom>
          <a:solidFill>
            <a:srgbClr val="152841"/>
          </a:solidFill>
          <a:ln w="9525">
            <a:solidFill>
              <a:srgbClr val="4DA6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026664"/>
            <a:ext cx="73152" cy="621792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02666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34440" y="3374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ข้อมูลถูกเข้ารหัส (TDE, Always Encrypted, TLS)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739896"/>
            <a:ext cx="4572000" cy="621792"/>
          </a:xfrm>
          <a:prstGeom prst="rect">
            <a:avLst/>
          </a:prstGeom>
          <a:solidFill>
            <a:srgbClr val="152841"/>
          </a:solidFill>
          <a:ln w="9525">
            <a:solidFill>
              <a:srgbClr val="FF6E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739896"/>
            <a:ext cx="73152" cy="621792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73989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3803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34440" y="4087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ใครทำอะไรเมื่อไหร่ (SQL Audit, Extended Events)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57800" y="1600200"/>
            <a:ext cx="3383280" cy="3200400"/>
          </a:xfrm>
          <a:prstGeom prst="rect">
            <a:avLst/>
          </a:prstGeom>
          <a:solidFill>
            <a:srgbClr val="152841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Hierarchy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40680" y="2103120"/>
            <a:ext cx="3108960" cy="411480"/>
          </a:xfrm>
          <a:prstGeom prst="rect">
            <a:avLst/>
          </a:prstGeom>
          <a:solidFill>
            <a:srgbClr val="0F1E36"/>
          </a:solidFill>
          <a:ln w="635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1031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 —  sysadmin, securityadmin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32120" y="2606040"/>
            <a:ext cx="2926080" cy="411480"/>
          </a:xfrm>
          <a:prstGeom prst="rect">
            <a:avLst/>
          </a:prstGeom>
          <a:solidFill>
            <a:srgbClr val="0F1E36"/>
          </a:solidFill>
          <a:ln w="635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26060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—  db_owner, db_datareader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23560" y="3108960"/>
            <a:ext cx="2743200" cy="411480"/>
          </a:xfrm>
          <a:prstGeom prst="rect">
            <a:avLst/>
          </a:prstGeom>
          <a:solidFill>
            <a:srgbClr val="0F1E36"/>
          </a:solidFill>
          <a:ln w="635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31089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 —  dbo, sales, hr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15000" y="3611880"/>
            <a:ext cx="2560320" cy="411480"/>
          </a:xfrm>
          <a:prstGeom prst="rect">
            <a:avLst/>
          </a:prstGeom>
          <a:solidFill>
            <a:srgbClr val="0F1E36"/>
          </a:solidFill>
          <a:ln w="635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 —  Table, View, SP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06440" y="4114800"/>
            <a:ext cx="2377440" cy="411480"/>
          </a:xfrm>
          <a:prstGeom prst="rect">
            <a:avLst/>
          </a:prstGeom>
          <a:solidFill>
            <a:srgbClr val="0F1E36"/>
          </a:solidFill>
          <a:ln w="635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41148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 —  sensitive columns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Login / User / Role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จัดการสิทธิ์อย่างเป็นระบบด้วย Role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2743200" cy="128016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00200"/>
            <a:ext cx="54864" cy="12801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7373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" y="2103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ระดับ Server — ใช้ login เข้า SQL Server instance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600200"/>
            <a:ext cx="2743200" cy="128016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600200"/>
            <a:ext cx="54864" cy="12801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7373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38728" y="2103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ระดับ Database — map จาก login เพื่อเข้าถึง DB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600200"/>
            <a:ext cx="2468880" cy="128016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600200"/>
            <a:ext cx="54864" cy="128016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7373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73368" y="21031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กลุ่มสิทธิ์ที่กำหนดล่วงหน้า (Fixed/Custom)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2971800"/>
            <a:ext cx="8138160" cy="1828800"/>
          </a:xfrm>
          <a:prstGeom prst="rect">
            <a:avLst/>
          </a:prstGeom>
          <a:solidFill>
            <a:srgbClr val="0B1A2E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971800"/>
            <a:ext cx="8138160" cy="292608"/>
          </a:xfrm>
          <a:prstGeom prst="rect">
            <a:avLst/>
          </a:prstGeom>
          <a:solidFill>
            <a:srgbClr val="0F1E36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" y="305409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305409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" y="305409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300837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T-SQL · Login / User / Role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" y="3319272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C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สร้าง Login ระดับ Server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dev_user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PASSWORD = </a:t>
            </a:r>
            <a:r>
              <a:rPr lang="en-US" sz="1100" dirty="0">
                <a:solidFill>
                  <a:srgbClr val="B5F4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'StrongP@ss2026!'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สร้าง User ใน Database และ map กับ Login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Shop_DB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dev_user FOR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dev_user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ให้สิทธิ์ผ่าน Role (แนะนำ)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db_datareader ADD MEMBER dev_user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SCHEMA::sales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dev_user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Backup / Restore / Recovery Model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หัวใจของการปกป้องข้อมูล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2651760" cy="1005840"/>
          </a:xfrm>
          <a:prstGeom prst="rect">
            <a:avLst/>
          </a:prstGeom>
          <a:solidFill>
            <a:srgbClr val="152841"/>
          </a:solidFill>
          <a:ln w="9525">
            <a:solidFill>
              <a:srgbClr val="FFB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ตัดเอง เสีย log ช่วง backup ล่าสุด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600200"/>
            <a:ext cx="2651760" cy="1005840"/>
          </a:xfrm>
          <a:prstGeom prst="rect">
            <a:avLst/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 log ครบ กู้ point-in-time ได้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600200"/>
            <a:ext cx="2651760" cy="1005840"/>
          </a:xfrm>
          <a:prstGeom prst="rect">
            <a:avLst/>
          </a:prstGeom>
          <a:solidFill>
            <a:srgbClr val="152841"/>
          </a:solidFill>
          <a:ln w="9525">
            <a:solidFill>
              <a:srgbClr val="4D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BULK-LOGGED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น้อยลงสำหรับ bulk ops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Strategy — ตัวอย่าง 3-2-1 Chain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063240"/>
            <a:ext cx="1828800" cy="640080"/>
          </a:xfrm>
          <a:prstGeom prst="rect">
            <a:avLst/>
          </a:prstGeom>
          <a:solidFill>
            <a:srgbClr val="0F1E36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· Sun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 rot="5400000" flipH="1">
            <a:off x="2331720" y="3291840"/>
            <a:ext cx="182880" cy="182880"/>
          </a:xfrm>
          <a:prstGeom prst="rtTriangl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1176" y="3063240"/>
            <a:ext cx="1828800" cy="640080"/>
          </a:xfrm>
          <a:prstGeom prst="rect">
            <a:avLst/>
          </a:prstGeom>
          <a:solidFill>
            <a:srgbClr val="0F1E36"/>
          </a:solidFill>
          <a:ln w="9525">
            <a:solidFill>
              <a:srgbClr val="FFB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42616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42616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· Mon–Sat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 rot="5400000" flipH="1">
            <a:off x="4379976" y="3291840"/>
            <a:ext cx="182880" cy="182880"/>
          </a:xfrm>
          <a:prstGeom prst="rtTriangl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99432" y="3063240"/>
            <a:ext cx="1828800" cy="640080"/>
          </a:xfrm>
          <a:prstGeom prst="rect">
            <a:avLst/>
          </a:prstGeom>
          <a:solidFill>
            <a:srgbClr val="0F1E36"/>
          </a:solidFill>
          <a:ln w="9525">
            <a:solidFill>
              <a:srgbClr val="4DA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90872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15 min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 rot="5400000" flipH="1">
            <a:off x="6428232" y="3291840"/>
            <a:ext cx="182880" cy="182880"/>
          </a:xfrm>
          <a:prstGeom prst="rtTriangl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7688" y="3063240"/>
            <a:ext cx="1828800" cy="640080"/>
          </a:xfrm>
          <a:prstGeom prst="rect">
            <a:avLst/>
          </a:prstGeom>
          <a:solidFill>
            <a:srgbClr val="0F1E36"/>
          </a:solidFill>
          <a:ln w="9525">
            <a:solidFill>
              <a:srgbClr val="FF6E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39128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OFFSITE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39128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Copy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3886200"/>
            <a:ext cx="8138160" cy="914400"/>
          </a:xfrm>
          <a:prstGeom prst="rect">
            <a:avLst/>
          </a:prstGeom>
          <a:solidFill>
            <a:srgbClr val="0B1A2E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886200"/>
            <a:ext cx="8138160" cy="292608"/>
          </a:xfrm>
          <a:prstGeom prst="rect">
            <a:avLst/>
          </a:prstGeom>
          <a:solidFill>
            <a:srgbClr val="0F1E36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396849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396849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1832" y="396849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3000" y="392277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T-SQL · Backup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7512" y="423367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Shop_DB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DISK = </a:t>
            </a:r>
            <a:r>
              <a:rPr lang="en-US" sz="1100" dirty="0">
                <a:solidFill>
                  <a:srgbClr val="B5F4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'D:\Backup\Shop_FULL.bak'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COMPRESSION, CHECKSUM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 Shop_DB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DISK = </a:t>
            </a:r>
            <a:r>
              <a:rPr lang="en-US" sz="1100" dirty="0">
                <a:solidFill>
                  <a:srgbClr val="B5F4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'D:\Backup\Shop_LOG.trn'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COMPRESSION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Maintenance และ Monitoring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งานประจำที่ต้องทำสม่ำเสมอ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4023360" cy="96012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00200"/>
            <a:ext cx="73152" cy="960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Statistics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ช่วยให้ optimizer เลือก plan ดีขึ้น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187452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0F1E36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600200"/>
            <a:ext cx="4023360" cy="96012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600200"/>
            <a:ext cx="73152" cy="960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Rebuild/Reorganize Index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4632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 fragmentation เกิน 30%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80960" y="187452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0F1E36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2670048"/>
            <a:ext cx="4023360" cy="96012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670048"/>
            <a:ext cx="73152" cy="960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761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DBCC CHECKDB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3081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 corruption ของ database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20440" y="2944368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0F1E36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2944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670048"/>
            <a:ext cx="4023360" cy="96012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670048"/>
            <a:ext cx="73152" cy="960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761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Verify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846320" y="3081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VERIFYONLY / test restore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80960" y="2944368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0F1E36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2944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739896"/>
            <a:ext cx="4023360" cy="96012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3739896"/>
            <a:ext cx="73152" cy="960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831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CPU/Memory/IO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85800" y="41513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Counter, DMVs, Query Store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20440" y="4014216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0F1E36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0440" y="40142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739896"/>
            <a:ext cx="4023360" cy="96012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739896"/>
            <a:ext cx="73152" cy="960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831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Notifications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846320" y="41513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Mail + SQL Agent alerts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680960" y="4014216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0F1E36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80960" y="40142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ใช้ Query Store เพื่อดูประวัติ query plans และหา regression อัตโนมัติ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Performance Tuning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ขั้นตอนการ tune ระบบให้รีดประสิทธิภาพสูงสุด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1554480" cy="1554480"/>
          </a:xfrm>
          <a:prstGeom prst="ellipse">
            <a:avLst/>
          </a:prstGeom>
          <a:solidFill>
            <a:srgbClr val="152841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2461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วัดสถานะปัจจุบัน (CPU, Memory, IO, Wait Stats)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57400" y="2423160"/>
            <a:ext cx="1371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94560" y="1645920"/>
            <a:ext cx="1554480" cy="1554480"/>
          </a:xfrm>
          <a:prstGeom prst="ellipse">
            <a:avLst/>
          </a:prstGeom>
          <a:solidFill>
            <a:srgbClr val="152841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19456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32461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 query ที่ช้าที่สุดด้วย DMVs / Query Store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49040" y="2423160"/>
            <a:ext cx="1371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86200" y="1645920"/>
            <a:ext cx="1554480" cy="1554480"/>
          </a:xfrm>
          <a:prstGeom prst="ellipse">
            <a:avLst/>
          </a:prstGeom>
          <a:solidFill>
            <a:srgbClr val="152841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88620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94760" y="32461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 Execution Plan หา bottleneck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2423160"/>
            <a:ext cx="1371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77840" y="1645920"/>
            <a:ext cx="1554480" cy="1554480"/>
          </a:xfrm>
          <a:prstGeom prst="ellipse">
            <a:avLst/>
          </a:prstGeom>
          <a:solidFill>
            <a:srgbClr val="152841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57784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32461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query, เพิ่ม index, อัปเดต stats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32320" y="2423160"/>
            <a:ext cx="1371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269480" y="1645920"/>
            <a:ext cx="1554480" cy="1554480"/>
          </a:xfrm>
          <a:prstGeom prst="ellipse">
            <a:avLst/>
          </a:prstGeom>
          <a:solidFill>
            <a:srgbClr val="152841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726948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78040" y="32461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วัดผลซ้ำ เปรียบกับ baseline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4160520"/>
            <a:ext cx="8138160" cy="640080"/>
          </a:xfrm>
          <a:prstGeom prst="rect">
            <a:avLst/>
          </a:prstGeom>
          <a:solidFill>
            <a:srgbClr val="0B1A2E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160520"/>
            <a:ext cx="8138160" cy="292608"/>
          </a:xfrm>
          <a:prstGeom prst="rect">
            <a:avLst/>
          </a:prstGeom>
          <a:solidFill>
            <a:srgbClr val="0F1E36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" y="424281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424281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1832" y="424281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43000" y="419709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DMV · หา query ที่ใช้ CPU มากที่สุด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7512" y="45079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 *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sys.dm_exec_query_stats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total_worker_time DESC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High Availability และ Disaster Recovery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ทำให้ระบบไม่ล่มและกู้คืนได้เร็ว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8138160" cy="68580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00200"/>
            <a:ext cx="73152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 AG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Groups — ขั้นสูงที่สุด รองรับ read-only replicas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0" y="1600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377440"/>
            <a:ext cx="8138160" cy="68580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377440"/>
            <a:ext cx="73152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Cluster Instance — shared storage, auto-failover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154680"/>
            <a:ext cx="8138160" cy="68580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154680"/>
            <a:ext cx="73152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Shipping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 log ไป secondary ตั้งเวลาสอบ failover manual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3154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3931920"/>
            <a:ext cx="8138160" cy="685800"/>
          </a:xfrm>
          <a:prstGeom prst="rect">
            <a:avLst/>
          </a:prstGeom>
          <a:solidFill>
            <a:srgbClr val="152841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931920"/>
            <a:ext cx="73152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พื้นฐานที่สุด — RTO/RPO ขึ้นกับความถี่ backup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3931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4754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(Recovery Time Objective) · RPO (Recovery Point Objective) — ต้องกำหนดตั้งแต่ออกแบบ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Database Design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ออกแบบอย่างมีหลักก่อนเริ่มสร้าง table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(1NF → 3NF)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4114800" cy="457200"/>
          </a:xfrm>
          <a:prstGeom prst="rect">
            <a:avLst/>
          </a:prstGeom>
          <a:solidFill>
            <a:srgbClr val="152841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1NF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ค่าต้องเป็น atomic ไม่ซ้ำในแถว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514600"/>
            <a:ext cx="4114800" cy="457200"/>
          </a:xfrm>
          <a:prstGeom prst="rect">
            <a:avLst/>
          </a:prstGeom>
          <a:solidFill>
            <a:srgbClr val="152841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2NF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partial dependency จาก composite key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063240"/>
            <a:ext cx="4114800" cy="457200"/>
          </a:xfrm>
          <a:prstGeom prst="rect">
            <a:avLst/>
          </a:prstGeom>
          <a:solidFill>
            <a:srgbClr val="152841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63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3NF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transitive dependency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1600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965960"/>
            <a:ext cx="3931920" cy="1645920"/>
          </a:xfrm>
          <a:prstGeom prst="rect">
            <a:avLst/>
          </a:prstGeom>
          <a:solidFill>
            <a:srgbClr val="152841"/>
          </a:solidFill>
          <a:ln w="9525">
            <a:solidFill>
              <a:srgbClr val="FFB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0574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ตั้งชื่อสื่อความหมาย สอดคล้องทั้งระบบ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Surrogate Key (INT IDENTITY) เป็นหลัก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 lookup tables สำหรับ enum/status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 FK บังคับความสมบูรณ์ของข้อมูล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Denormalize เฉพาะเมื่อจำเป็น (reporting)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3703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 ER Diagram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023360"/>
            <a:ext cx="2103120" cy="777240"/>
          </a:xfrm>
          <a:prstGeom prst="rect">
            <a:avLst/>
          </a:prstGeom>
          <a:solidFill>
            <a:srgbClr val="0F1E36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69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389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email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20440" y="4023360"/>
            <a:ext cx="2103120" cy="777240"/>
          </a:xfrm>
          <a:prstGeom prst="rect">
            <a:avLst/>
          </a:prstGeom>
          <a:solidFill>
            <a:srgbClr val="0F1E36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4069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11880" y="4389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customer_id, total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537960" y="4023360"/>
            <a:ext cx="2103120" cy="777240"/>
          </a:xfrm>
          <a:prstGeom prst="rect">
            <a:avLst/>
          </a:prstGeom>
          <a:solidFill>
            <a:srgbClr val="0F1E36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4069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29400" y="4389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price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06040" y="4389120"/>
            <a:ext cx="914400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  <a:headEnd type="diamon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623560" y="4389120"/>
            <a:ext cx="914400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  <a:headEnd type="diamond"/>
            <a:tailEnd type="triangl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Table, PK, FK และ Relation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schema ที่มีความสมบูรณ์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8138160" cy="3200400"/>
          </a:xfrm>
          <a:prstGeom prst="rect">
            <a:avLst/>
          </a:prstGeom>
          <a:solidFill>
            <a:srgbClr val="0B1A2E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00200"/>
            <a:ext cx="8138160" cy="292608"/>
          </a:xfrm>
          <a:prstGeom prst="rect">
            <a:avLst/>
          </a:prstGeom>
          <a:solidFill>
            <a:srgbClr val="0F1E36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168249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68249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168249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163677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T-SQL · Create Table with PK/FK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" y="1947672"/>
            <a:ext cx="78638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CustomerID  INT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(1,1)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FullName    NVARCHAR(100)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       NVARCHAR(150)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UNIQUE,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CreatedAt   DATETIME2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DEFAULT SYSUTCDATETIME()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[Order]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OrderID     INT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(1,1)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CustomerID  INT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OrderDate   DATETIME2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DEFAULT SYSUTCDATETIME(),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TotalAmount DECIMAL(12,2)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CHECK (TotalAmount &gt;= 0),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FK_Order_Customer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(CustomerID)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Customer(CustomerID)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Data Types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type ที่ถูกต้อง — ส่งผลทั้ง storage และ performance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1463040" cy="36576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645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หมวด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65960" y="1645920"/>
            <a:ext cx="3474720" cy="36576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75688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1645920"/>
            <a:ext cx="3200400" cy="36576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0408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ใช้เมื่อ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011680"/>
            <a:ext cx="1463040" cy="36576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65960" y="2011680"/>
            <a:ext cx="3474720" cy="36576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75688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TINYINT / SMALLINT / INT / BIGINT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40680" y="2011680"/>
            <a:ext cx="3200400" cy="36576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0408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ตัวเลขไม่มีทศนิยม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2377440"/>
            <a:ext cx="1463040" cy="365760"/>
          </a:xfrm>
          <a:prstGeom prst="rect">
            <a:avLst/>
          </a:prstGeom>
          <a:solidFill>
            <a:srgbClr val="152841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965960" y="2377440"/>
            <a:ext cx="3474720" cy="365760"/>
          </a:xfrm>
          <a:prstGeom prst="rect">
            <a:avLst/>
          </a:prstGeom>
          <a:solidFill>
            <a:srgbClr val="152841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75688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DECIMAL(p,s) / NUMERIC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40680" y="2377440"/>
            <a:ext cx="3200400" cy="365760"/>
          </a:xfrm>
          <a:prstGeom prst="rect">
            <a:avLst/>
          </a:prstGeom>
          <a:solidFill>
            <a:srgbClr val="152841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0408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เงิน ค่าที่ต้องแม่นยำ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2743200"/>
            <a:ext cx="1463040" cy="36576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2743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965960" y="2743200"/>
            <a:ext cx="3474720" cy="36576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5688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/ REAL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40680" y="2743200"/>
            <a:ext cx="3200400" cy="36576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0408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งานวิทยาศาสตร์ (approx)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3108960"/>
            <a:ext cx="1463040" cy="365760"/>
          </a:xfrm>
          <a:prstGeom prst="rect">
            <a:avLst/>
          </a:prstGeom>
          <a:solidFill>
            <a:srgbClr val="152841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" y="3108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965960" y="3108960"/>
            <a:ext cx="3474720" cy="365760"/>
          </a:xfrm>
          <a:prstGeom prst="rect">
            <a:avLst/>
          </a:prstGeom>
          <a:solidFill>
            <a:srgbClr val="152841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75688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/ VARCHAR / NVARCHAR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40680" y="3108960"/>
            <a:ext cx="3200400" cy="365760"/>
          </a:xfrm>
          <a:prstGeom prst="rect">
            <a:avLst/>
          </a:prstGeom>
          <a:solidFill>
            <a:srgbClr val="152841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50408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Unicode (ภาษาไทย)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3474720"/>
            <a:ext cx="1463040" cy="36576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" y="3474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Date/Time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965960" y="3474720"/>
            <a:ext cx="3474720" cy="36576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75688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/ DATETIME2 / DATETIMEOFFSET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40680" y="3474720"/>
            <a:ext cx="3200400" cy="36576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50408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DATETIME2 แนะนำแทน DATETIME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" y="3840480"/>
            <a:ext cx="1463040" cy="365760"/>
          </a:xfrm>
          <a:prstGeom prst="rect">
            <a:avLst/>
          </a:prstGeom>
          <a:solidFill>
            <a:srgbClr val="152841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" y="3840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965960" y="3840480"/>
            <a:ext cx="3474720" cy="365760"/>
          </a:xfrm>
          <a:prstGeom prst="rect">
            <a:avLst/>
          </a:prstGeom>
          <a:solidFill>
            <a:srgbClr val="152841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75688" y="3840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VARBINARY(MAX) / FILESTREAM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40680" y="3840480"/>
            <a:ext cx="3200400" cy="365760"/>
          </a:xfrm>
          <a:prstGeom prst="rect">
            <a:avLst/>
          </a:prstGeom>
          <a:solidFill>
            <a:srgbClr val="152841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50408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ไฟล์ รูปภาพ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02920" y="4206240"/>
            <a:ext cx="1463040" cy="36576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" y="4206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965960" y="4206240"/>
            <a:ext cx="3474720" cy="36576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75688" y="4206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/ UNIQUEIDENTIFIER / XML / JSON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440680" y="4206240"/>
            <a:ext cx="3200400" cy="36576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50408" y="4206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= boolean 0/1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ภาษาไทยต้องใช้ NVARCHAR เสมอ · DATETIME2 มี precision สูงกว่า DATETIME เดิม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Basic T-SQL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โครงสร้างคำสั่งพื้นฐานของภาษา T-SQL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1920240" cy="914400"/>
          </a:xfrm>
          <a:prstGeom prst="rect">
            <a:avLst/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2057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· ALTER · DROP · TRUNCATE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9464" y="1600200"/>
            <a:ext cx="1920240" cy="914400"/>
          </a:xfrm>
          <a:prstGeom prst="rect">
            <a:avLst/>
          </a:prstGeom>
          <a:solidFill>
            <a:srgbClr val="152841"/>
          </a:solidFill>
          <a:ln w="9525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9464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60904" y="2057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· INSERT · UPDATE · DELETE · MERGE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36008" y="1600200"/>
            <a:ext cx="1920240" cy="914400"/>
          </a:xfrm>
          <a:prstGeom prst="rect">
            <a:avLst/>
          </a:prstGeom>
          <a:solidFill>
            <a:srgbClr val="152841"/>
          </a:solidFill>
          <a:ln w="9525">
            <a:solidFill>
              <a:srgbClr val="4D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4D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27448" y="2057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· REVOKE · DENY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02552" y="1600200"/>
            <a:ext cx="1920240" cy="914400"/>
          </a:xfrm>
          <a:prstGeom prst="rect">
            <a:avLst/>
          </a:prstGeom>
          <a:solidFill>
            <a:srgbClr val="152841"/>
          </a:solidFill>
          <a:ln w="9525">
            <a:solidFill>
              <a:srgbClr val="FF6E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93992" y="2057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 TRAN · COMMIT · ROLLBACK · SAVE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2651760"/>
            <a:ext cx="8138160" cy="2103120"/>
          </a:xfrm>
          <a:prstGeom prst="rect">
            <a:avLst/>
          </a:prstGeom>
          <a:solidFill>
            <a:srgbClr val="0B1A2E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651760"/>
            <a:ext cx="8138160" cy="292608"/>
          </a:xfrm>
          <a:prstGeom prst="rect">
            <a:avLst/>
          </a:prstGeom>
          <a:solidFill>
            <a:srgbClr val="0F1E36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" y="273405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273405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" y="273405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268833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T-SQL · Basic SELECT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" y="2999232"/>
            <a:ext cx="7863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C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Variable และ SELECT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@MinPrice DECIMAL(10,2) = 100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p.ProductID, p.Name, p.Price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p.Price &gt;= @MinPrice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p.IsActive =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p.Price DESC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CRUD Operations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Read · Update · Delete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4023360" cy="3200400"/>
          </a:xfrm>
          <a:prstGeom prst="rect">
            <a:avLst/>
          </a:prstGeom>
          <a:solidFill>
            <a:srgbClr val="0B1A2E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00200"/>
            <a:ext cx="4023360" cy="292608"/>
          </a:xfrm>
          <a:prstGeom prst="rect">
            <a:avLst/>
          </a:prstGeom>
          <a:solidFill>
            <a:srgbClr val="0F1E36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168249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68249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168249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16367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T-SQL · CREATE / READ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" y="1947672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C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CREATE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 (FullName, Email)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00" dirty="0">
                <a:solidFill>
                  <a:srgbClr val="B5F4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'สมชาย ใจดี'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B5F4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'somchai@ex.com'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CustomerID, FullName, Email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 LIKE </a:t>
            </a:r>
            <a:r>
              <a:rPr lang="en-US" sz="1100" dirty="0">
                <a:solidFill>
                  <a:srgbClr val="B5F4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'%@ex.com'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1600200"/>
            <a:ext cx="4023360" cy="3200400"/>
          </a:xfrm>
          <a:prstGeom prst="rect">
            <a:avLst/>
          </a:prstGeom>
          <a:solidFill>
            <a:srgbClr val="0B1A2E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600200"/>
            <a:ext cx="4023360" cy="292608"/>
          </a:xfrm>
          <a:prstGeom prst="rect">
            <a:avLst/>
          </a:prstGeom>
          <a:solidFill>
            <a:srgbClr val="0F1E36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27448" y="168249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168249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56632" y="168249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6367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T-SQL · UPDATE / DELETE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82312" y="1947672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C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UPDATE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FullName = N</a:t>
            </a:r>
            <a:r>
              <a:rPr lang="en-US" sz="1100" dirty="0">
                <a:solidFill>
                  <a:srgbClr val="B5F4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'สมชาย มีสุข'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CustomerID = 1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DELETE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CustomerID = 99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JOIN และ Aggregate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รวมข้อมูลจากหลาย table และสรุปผล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1920240" cy="822960"/>
          </a:xfrm>
          <a:prstGeom prst="rect">
            <a:avLst/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แถวที่ match ทั้งสองฝั่ง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600200"/>
            <a:ext cx="1920240" cy="822960"/>
          </a:xfrm>
          <a:prstGeom prst="rect">
            <a:avLst/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ทุกแถวจากซ้าย + ที่ match ขวา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600200"/>
            <a:ext cx="1920240" cy="822960"/>
          </a:xfrm>
          <a:prstGeom prst="rect">
            <a:avLst/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JOIN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ทุกแถวจากขวา + ที่ match ซ้าย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0" y="1600200"/>
            <a:ext cx="1920240" cy="822960"/>
          </a:xfrm>
          <a:prstGeom prst="rect">
            <a:avLst/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JOIN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ทุกแถวจากทั้งสองฝั่ง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2560320"/>
            <a:ext cx="8138160" cy="2240280"/>
          </a:xfrm>
          <a:prstGeom prst="rect">
            <a:avLst/>
          </a:prstGeom>
          <a:solidFill>
            <a:srgbClr val="0B1A2E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560320"/>
            <a:ext cx="8138160" cy="292608"/>
          </a:xfrm>
          <a:prstGeom prst="rect">
            <a:avLst/>
          </a:prstGeom>
          <a:solidFill>
            <a:srgbClr val="0F1E36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" y="264261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264261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" y="264261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259689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T-SQL · JOIN + GROUP BY + HAVING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" y="2907792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C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JOIN + Aggregate: ยอดซื้อรวมรายลูกค้า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c.CustomerID, c.FullName,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(o.OrderID) 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OrderCount,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(o.TotalAmount)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TotalSpent,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(o.TotalAmount)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AvgOrderValue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[Order]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o.CustomerID = c.CustomerID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c.CustomerID, c.FullName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(o.TotalAmount) &gt; 10000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TotalSpent DESC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Stored Procedure / View / Function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code objects ของฐานข้อมูล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2651760" cy="1051560"/>
          </a:xfrm>
          <a:prstGeom prst="rect">
            <a:avLst/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โค้ดทำหลาย statement รับ param คืน result/output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600200"/>
            <a:ext cx="2651760" cy="1051560"/>
          </a:xfrm>
          <a:prstGeom prst="rect">
            <a:avLst/>
          </a:prstGeom>
          <a:solidFill>
            <a:srgbClr val="152841"/>
          </a:solidFill>
          <a:ln w="9525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ที่ save ไว้ มองเป็น table ใช้ซ้ำและ abstract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600200"/>
            <a:ext cx="2651760" cy="1051560"/>
          </a:xfrm>
          <a:prstGeom prst="rect">
            <a:avLst/>
          </a:prstGeom>
          <a:solidFill>
            <a:srgbClr val="152841"/>
          </a:solidFill>
          <a:ln w="9525">
            <a:solidFill>
              <a:srgbClr val="4D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Scalar/Table-valued คืนค่าเรียกใน SELECT/WHERE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743200"/>
            <a:ext cx="8138160" cy="2057400"/>
          </a:xfrm>
          <a:prstGeom prst="rect">
            <a:avLst/>
          </a:prstGeom>
          <a:solidFill>
            <a:srgbClr val="0B1A2E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743200"/>
            <a:ext cx="8138160" cy="292608"/>
          </a:xfrm>
          <a:prstGeom prst="rect">
            <a:avLst/>
          </a:prstGeom>
          <a:solidFill>
            <a:srgbClr val="0F1E36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" y="282549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282549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832" y="282549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277977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T-SQL · Stored Procedure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7512" y="3090672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usp_GetTopCustomers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@TopN INT =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NOCOUNT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(@TopN) c.CustomerID, c.FullName,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(o.TotalAmount)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 c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[Order]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o.CustomerID = c.CustomerID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c.CustomerID, c.FullName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 DESC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Transaction และ Concurrency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และการจัดการเข้าพร้อมกัน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457200" cy="4572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 — ทั้งหมดหรือไม่ทำเลย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103120"/>
            <a:ext cx="457200" cy="4572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— คงสถานะถูกต้อง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606040"/>
            <a:ext cx="457200" cy="4572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— ต่างธุรกรรมไม่รบกวนกัน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108960"/>
            <a:ext cx="457200" cy="4572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— commit แล้วไม่หาย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37760" y="1600200"/>
            <a:ext cx="3703320" cy="1920240"/>
          </a:xfrm>
          <a:prstGeom prst="rect">
            <a:avLst/>
          </a:prstGeom>
          <a:solidFill>
            <a:srgbClr val="152841"/>
          </a:solidFill>
          <a:ln w="9525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Levels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19659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UNCOMMITTED (dirty read)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COMMITTED (default)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READ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 (เข้มงวดสุด)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(แนะนำสำหรับ read-heavy)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657600"/>
            <a:ext cx="8138160" cy="1143000"/>
          </a:xfrm>
          <a:prstGeom prst="rect">
            <a:avLst/>
          </a:prstGeom>
          <a:solidFill>
            <a:srgbClr val="0B1A2E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657600"/>
            <a:ext cx="8138160" cy="292608"/>
          </a:xfrm>
          <a:prstGeom prst="rect">
            <a:avLst/>
          </a:prstGeom>
          <a:solidFill>
            <a:srgbClr val="0F1E36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" y="373989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373989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1832" y="373989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369417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T-SQL · Simple Transaction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" y="400507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Account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Balance -= 500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AcctID =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Account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Balance += 500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AcctID =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@@ERROR &lt;&gt; 0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Index และ Query Optimization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กุญแจของ performance ฝั่ง Developer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4023360" cy="731520"/>
          </a:xfrm>
          <a:prstGeom prst="rect">
            <a:avLst/>
          </a:prstGeom>
          <a:solidFill>
            <a:srgbClr val="152841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00200"/>
            <a:ext cx="73152" cy="7315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73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Index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947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เรียงข้อมูลจริงในตาราง — 1 ตัวต่อ table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600200"/>
            <a:ext cx="4023360" cy="731520"/>
          </a:xfrm>
          <a:prstGeom prst="rect">
            <a:avLst/>
          </a:prstGeom>
          <a:solidFill>
            <a:srgbClr val="152841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600200"/>
            <a:ext cx="73152" cy="7315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73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Non-Clustered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47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โครงสร้างแยกชี้กลับไป row data — หลายตัวได้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423160"/>
            <a:ext cx="4023360" cy="731520"/>
          </a:xfrm>
          <a:prstGeom prst="rect">
            <a:avLst/>
          </a:prstGeom>
          <a:solidFill>
            <a:srgbClr val="152841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423160"/>
            <a:ext cx="73152" cy="7315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496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Index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2770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ครอบคลุม column ที่ query ใช้ทั้งหมด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423160"/>
            <a:ext cx="4023360" cy="731520"/>
          </a:xfrm>
          <a:prstGeom prst="rect">
            <a:avLst/>
          </a:prstGeom>
          <a:solidFill>
            <a:srgbClr val="152841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423160"/>
            <a:ext cx="73152" cy="7315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496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Index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770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เฉพาะ subset ของแถว (WHERE clause)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337560"/>
            <a:ext cx="8138160" cy="1463040"/>
          </a:xfrm>
          <a:prstGeom prst="rect">
            <a:avLst/>
          </a:prstGeom>
          <a:solidFill>
            <a:srgbClr val="0B1A2E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337560"/>
            <a:ext cx="8138160" cy="292608"/>
          </a:xfrm>
          <a:prstGeom prst="rect">
            <a:avLst/>
          </a:prstGeom>
          <a:solidFill>
            <a:srgbClr val="0F1E36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" y="341985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341985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" y="341985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337413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T-SQL · Non-Clustered + INCLUDE + Filtered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7512" y="3685032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NONCLUSTERED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IX_Order_Customer_Date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[Order]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(CustomerID, OrderDate DESC)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INCLUDE (TotalAmount)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 = </a:t>
            </a:r>
            <a:r>
              <a:rPr lang="en-US" sz="1100" dirty="0">
                <a:solidFill>
                  <a:srgbClr val="B5F4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'Completed'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6C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Filtered Index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Error Handling และ SQL Injection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เขียนโค้ดปลอดภัยและทนต่อ error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4023360" cy="3200400"/>
          </a:xfrm>
          <a:prstGeom prst="rect">
            <a:avLst/>
          </a:prstGeom>
          <a:solidFill>
            <a:srgbClr val="0B1A2E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00200"/>
            <a:ext cx="4023360" cy="292608"/>
          </a:xfrm>
          <a:prstGeom prst="rect">
            <a:avLst/>
          </a:prstGeom>
          <a:solidFill>
            <a:srgbClr val="0F1E36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168249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68249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168249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16367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/ CATCH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" y="1947672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Account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Bal -= 500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AcctID =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Account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Bal += 500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AcctID =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@@TRANCOUNT &gt; 0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6C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ส่ง error ต่อ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1600200"/>
            <a:ext cx="4023360" cy="1508760"/>
          </a:xfrm>
          <a:prstGeom prst="rect">
            <a:avLst/>
          </a:prstGeom>
          <a:solidFill>
            <a:srgbClr val="152841"/>
          </a:solidFill>
          <a:ln w="9525">
            <a:solidFill>
              <a:srgbClr val="FF5F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664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Vulnerable (String Concat)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965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= "SELECT * FROM User WHERE name='" + input + "'"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2514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' OR 1=1 --  →  เข้าได้ทุก user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200400"/>
            <a:ext cx="4023360" cy="1600200"/>
          </a:xfrm>
          <a:prstGeom prst="rect">
            <a:avLst/>
          </a:prstGeom>
          <a:solidFill>
            <a:srgbClr val="152841"/>
          </a:solidFill>
          <a:ln w="9525">
            <a:solidFill>
              <a:srgbClr val="27C9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C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Safe (Parameterized Query)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5661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sp_executesql หรือ prepared statement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 input validation ทุกชั้น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สำหรับ DB account ของ app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ORM/parameter binding จาก app layer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การเชื่อมต่อ SQL Server กับ Application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และ Connection Pattern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4023360" cy="777240"/>
          </a:xfrm>
          <a:prstGeom prst="rect">
            <a:avLst/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00200"/>
            <a:ext cx="73152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/ C#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Microsoft.Data.SqlClient · Entity Framework Core · Dapper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600200"/>
            <a:ext cx="4023360" cy="777240"/>
          </a:xfrm>
          <a:prstGeom prst="rect">
            <a:avLst/>
          </a:prstGeom>
          <a:solidFill>
            <a:srgbClr val="152841"/>
          </a:solidFill>
          <a:ln w="9525">
            <a:solidFill>
              <a:srgbClr val="FFB8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600200"/>
            <a:ext cx="73152" cy="7772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 JDBC Driver · JPA / Hibernate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468880"/>
            <a:ext cx="4023360" cy="777240"/>
          </a:xfrm>
          <a:prstGeom prst="rect">
            <a:avLst/>
          </a:prstGeom>
          <a:solidFill>
            <a:srgbClr val="152841"/>
          </a:solidFill>
          <a:ln w="9525">
            <a:solidFill>
              <a:srgbClr val="4DA6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468880"/>
            <a:ext cx="73152" cy="77724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mssql package · Tedious · Prisma / TypeORM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468880"/>
            <a:ext cx="4023360" cy="777240"/>
          </a:xfrm>
          <a:prstGeom prst="rect">
            <a:avLst/>
          </a:prstGeom>
          <a:solidFill>
            <a:srgbClr val="152841"/>
          </a:solidFill>
          <a:ln w="9525">
            <a:solidFill>
              <a:srgbClr val="FF6E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468880"/>
            <a:ext cx="73152" cy="777240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4632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pyodbc · pymssql · SQLAlchemy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429000"/>
            <a:ext cx="8138160" cy="1371600"/>
          </a:xfrm>
          <a:prstGeom prst="rect">
            <a:avLst/>
          </a:prstGeom>
          <a:solidFill>
            <a:srgbClr val="0B1A2E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429000"/>
            <a:ext cx="8138160" cy="292608"/>
          </a:xfrm>
          <a:prstGeom prst="rect">
            <a:avLst/>
          </a:prstGeom>
          <a:solidFill>
            <a:srgbClr val="0F1E36"/>
          </a:solidFill>
          <a:ln w="9525">
            <a:solidFill>
              <a:srgbClr val="1E35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" y="351129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351129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" y="351129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346557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String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7512" y="3776472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Connection String (.NET example)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Server=tcp:myserver,1433</a:t>
            </a: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Database=Shop_DB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E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Id=app_userPassword=***Encrypt=True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TrustServerCertificate=FalseConnection Timeout=30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Best Practices สำหรับองค์กร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แนวทางปฏิบัติที่ดีทั้ง Admin และ Developer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1965960" cy="1417320"/>
          </a:xfrm>
          <a:prstGeom prst="rect">
            <a:avLst/>
          </a:prstGeom>
          <a:solidFill>
            <a:srgbClr val="152841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37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· MFA · TDE · audit logs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87752" y="1600200"/>
            <a:ext cx="1965960" cy="1417320"/>
          </a:xfrm>
          <a:prstGeom prst="rect">
            <a:avLst/>
          </a:prstGeom>
          <a:solidFill>
            <a:srgbClr val="152841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1737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87752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79192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3-2-1 strategy · test restore ทุกเดือน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72584" y="1600200"/>
            <a:ext cx="1965960" cy="1417320"/>
          </a:xfrm>
          <a:prstGeom prst="rect">
            <a:avLst/>
          </a:prstGeom>
          <a:solidFill>
            <a:srgbClr val="152841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1737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72584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64024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alert · Query Store เปิดเสมอ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57416" y="1600200"/>
            <a:ext cx="1965960" cy="1417320"/>
          </a:xfrm>
          <a:prstGeom prst="rect">
            <a:avLst/>
          </a:prstGeom>
          <a:solidFill>
            <a:srgbClr val="152841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57416" y="1737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757416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48856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execution plan · index ตาม workload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154680"/>
            <a:ext cx="1965960" cy="1417320"/>
          </a:xfrm>
          <a:prstGeom prst="rect">
            <a:avLst/>
          </a:prstGeom>
          <a:solidFill>
            <a:srgbClr val="152841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91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02920" y="3794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4069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 · FK constraints · version control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87752" y="3154680"/>
            <a:ext cx="1965960" cy="1417320"/>
          </a:xfrm>
          <a:prstGeom prst="rect">
            <a:avLst/>
          </a:prstGeom>
          <a:solidFill>
            <a:srgbClr val="152841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87752" y="3291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587752" y="3794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79192" y="4069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· TRY/CATCH · code review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72584" y="3154680"/>
            <a:ext cx="1965960" cy="1417320"/>
          </a:xfrm>
          <a:prstGeom prst="rect">
            <a:avLst/>
          </a:prstGeom>
          <a:solidFill>
            <a:srgbClr val="152841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72584" y="3291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672584" y="3794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64024" y="4069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diagrams · runbook · DR drill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57416" y="3154680"/>
            <a:ext cx="1965960" cy="1417320"/>
          </a:xfrm>
          <a:prstGeom prst="rect">
            <a:avLst/>
          </a:prstGeom>
          <a:solidFill>
            <a:srgbClr val="152841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57416" y="3291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757416" y="3794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48856" y="4069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migration scripts · CI/CD pipeline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∙ ADMIN &amp; 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E3557"/>
          </a:solidFill>
          <a:ln w="12700">
            <a:solidFill>
              <a:srgbClr val="1E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 Workshop Exercises  ·  26. Key Takeaways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ลงมือทำและบทสรุปของหลักสูตร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4023360" cy="3200400"/>
          </a:xfrm>
          <a:prstGeom prst="rect">
            <a:avLst/>
          </a:prstGeom>
          <a:solidFill>
            <a:srgbClr val="152841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WORKSHOP EXERCISES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 schema สำหรับระบบร้านค้า 5 table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table พร้อม PK/FK และ constraints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เขียน CRUD + JOIN หายอดขายรายลูกค้า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Stored Procedure โอนเงินระหว่างบัญชี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query ช้าด้วย index + execution plan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Login/User + กำหนด Role ให้ทีม dev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 Full + Log backup แล้ว restore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600200"/>
            <a:ext cx="4023360" cy="3200400"/>
          </a:xfrm>
          <a:prstGeom prst="rect">
            <a:avLst/>
          </a:prstGeom>
          <a:solidFill>
            <a:srgbClr val="152841"/>
          </a:solidFill>
          <a:ln w="9525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KEY TAKEAWAYS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10312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และ Developer ต้องทำงานร่วมกัน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ทำหลายชั้นและใช้ Least Privilege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ไม่พอ — ต้องทดสอบ restore ด้วย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วัด baseline ก่อน tune เสมอ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 query ทุกครั้ง · ไม่ต่อ string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ดีกว่าเยอะ — แต่ต้องดูสมดุลกับ write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เรียนรู้ต่อเนื่อง: Query Store, HA, Cloud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754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ขอบคุณที่ติดตาม  ·  Happy Querying!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2026-04-24T08:50:33Z</dcterms:created>
  <dcterms:modified xsi:type="dcterms:W3CDTF">2026-04-24T09:17:45Z</dcterms:modified>
</cp:coreProperties>
</file>