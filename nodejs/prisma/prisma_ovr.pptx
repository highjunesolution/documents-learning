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8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B8DE3E-52A0-9ABF-76F6-60E077A070A5}" v="2" dt="2026-04-24T08:55:47.8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>
        <p:scale>
          <a:sx n="100" d="100"/>
          <a:sy n="100" d="100"/>
        </p:scale>
        <p:origin x="122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1I2 Jirayu S.Kaw" userId="S::300260129@th.maxxis.com::f59d7631-84c6-4c5a-a848-622dc00af3ab" providerId="AD" clId="Web-{7EB8DE3E-52A0-9ABF-76F6-60E077A070A5}"/>
    <pc:docChg chg="mod addSld delSld modSld addMainMaster delMainMaster modNotesMaster">
      <pc:chgData name="D1I2 Jirayu S.Kaw" userId="S::300260129@th.maxxis.com::f59d7631-84c6-4c5a-a848-622dc00af3ab" providerId="AD" clId="Web-{7EB8DE3E-52A0-9ABF-76F6-60E077A070A5}" dt="2026-04-24T08:55:47.889" v="1"/>
      <pc:docMkLst>
        <pc:docMk/>
      </pc:docMkLst>
      <pc:sldChg chg="add">
        <pc:chgData name="D1I2 Jirayu S.Kaw" userId="S::300260129@th.maxxis.com::f59d7631-84c6-4c5a-a848-622dc00af3ab" providerId="AD" clId="Web-{7EB8DE3E-52A0-9ABF-76F6-60E077A070A5}" dt="2026-04-24T08:55:47.889" v="1"/>
        <pc:sldMkLst>
          <pc:docMk/>
          <pc:sldMk cId="0" sldId="256"/>
        </pc:sldMkLst>
      </pc:sldChg>
      <pc:sldChg chg="add">
        <pc:chgData name="D1I2 Jirayu S.Kaw" userId="S::300260129@th.maxxis.com::f59d7631-84c6-4c5a-a848-622dc00af3ab" providerId="AD" clId="Web-{7EB8DE3E-52A0-9ABF-76F6-60E077A070A5}" dt="2026-04-24T08:55:47.889" v="1"/>
        <pc:sldMkLst>
          <pc:docMk/>
          <pc:sldMk cId="0" sldId="257"/>
        </pc:sldMkLst>
      </pc:sldChg>
      <pc:sldChg chg="add">
        <pc:chgData name="D1I2 Jirayu S.Kaw" userId="S::300260129@th.maxxis.com::f59d7631-84c6-4c5a-a848-622dc00af3ab" providerId="AD" clId="Web-{7EB8DE3E-52A0-9ABF-76F6-60E077A070A5}" dt="2026-04-24T08:55:47.889" v="1"/>
        <pc:sldMkLst>
          <pc:docMk/>
          <pc:sldMk cId="0" sldId="258"/>
        </pc:sldMkLst>
      </pc:sldChg>
      <pc:sldChg chg="add">
        <pc:chgData name="D1I2 Jirayu S.Kaw" userId="S::300260129@th.maxxis.com::f59d7631-84c6-4c5a-a848-622dc00af3ab" providerId="AD" clId="Web-{7EB8DE3E-52A0-9ABF-76F6-60E077A070A5}" dt="2026-04-24T08:55:47.889" v="1"/>
        <pc:sldMkLst>
          <pc:docMk/>
          <pc:sldMk cId="0" sldId="259"/>
        </pc:sldMkLst>
      </pc:sldChg>
      <pc:sldChg chg="add">
        <pc:chgData name="D1I2 Jirayu S.Kaw" userId="S::300260129@th.maxxis.com::f59d7631-84c6-4c5a-a848-622dc00af3ab" providerId="AD" clId="Web-{7EB8DE3E-52A0-9ABF-76F6-60E077A070A5}" dt="2026-04-24T08:55:47.889" v="1"/>
        <pc:sldMkLst>
          <pc:docMk/>
          <pc:sldMk cId="0" sldId="260"/>
        </pc:sldMkLst>
      </pc:sldChg>
      <pc:sldChg chg="add">
        <pc:chgData name="D1I2 Jirayu S.Kaw" userId="S::300260129@th.maxxis.com::f59d7631-84c6-4c5a-a848-622dc00af3ab" providerId="AD" clId="Web-{7EB8DE3E-52A0-9ABF-76F6-60E077A070A5}" dt="2026-04-24T08:55:47.889" v="1"/>
        <pc:sldMkLst>
          <pc:docMk/>
          <pc:sldMk cId="0" sldId="261"/>
        </pc:sldMkLst>
      </pc:sldChg>
      <pc:sldChg chg="add">
        <pc:chgData name="D1I2 Jirayu S.Kaw" userId="S::300260129@th.maxxis.com::f59d7631-84c6-4c5a-a848-622dc00af3ab" providerId="AD" clId="Web-{7EB8DE3E-52A0-9ABF-76F6-60E077A070A5}" dt="2026-04-24T08:55:47.889" v="1"/>
        <pc:sldMkLst>
          <pc:docMk/>
          <pc:sldMk cId="0" sldId="262"/>
        </pc:sldMkLst>
      </pc:sldChg>
      <pc:sldChg chg="add">
        <pc:chgData name="D1I2 Jirayu S.Kaw" userId="S::300260129@th.maxxis.com::f59d7631-84c6-4c5a-a848-622dc00af3ab" providerId="AD" clId="Web-{7EB8DE3E-52A0-9ABF-76F6-60E077A070A5}" dt="2026-04-24T08:55:47.889" v="1"/>
        <pc:sldMkLst>
          <pc:docMk/>
          <pc:sldMk cId="0" sldId="263"/>
        </pc:sldMkLst>
      </pc:sldChg>
      <pc:sldChg chg="add">
        <pc:chgData name="D1I2 Jirayu S.Kaw" userId="S::300260129@th.maxxis.com::f59d7631-84c6-4c5a-a848-622dc00af3ab" providerId="AD" clId="Web-{7EB8DE3E-52A0-9ABF-76F6-60E077A070A5}" dt="2026-04-24T08:55:47.889" v="1"/>
        <pc:sldMkLst>
          <pc:docMk/>
          <pc:sldMk cId="0" sldId="264"/>
        </pc:sldMkLst>
      </pc:sldChg>
      <pc:sldChg chg="add">
        <pc:chgData name="D1I2 Jirayu S.Kaw" userId="S::300260129@th.maxxis.com::f59d7631-84c6-4c5a-a848-622dc00af3ab" providerId="AD" clId="Web-{7EB8DE3E-52A0-9ABF-76F6-60E077A070A5}" dt="2026-04-24T08:55:47.889" v="1"/>
        <pc:sldMkLst>
          <pc:docMk/>
          <pc:sldMk cId="0" sldId="265"/>
        </pc:sldMkLst>
      </pc:sldChg>
      <pc:sldChg chg="add">
        <pc:chgData name="D1I2 Jirayu S.Kaw" userId="S::300260129@th.maxxis.com::f59d7631-84c6-4c5a-a848-622dc00af3ab" providerId="AD" clId="Web-{7EB8DE3E-52A0-9ABF-76F6-60E077A070A5}" dt="2026-04-24T08:55:47.889" v="1"/>
        <pc:sldMkLst>
          <pc:docMk/>
          <pc:sldMk cId="0" sldId="266"/>
        </pc:sldMkLst>
      </pc:sldChg>
      <pc:sldChg chg="add">
        <pc:chgData name="D1I2 Jirayu S.Kaw" userId="S::300260129@th.maxxis.com::f59d7631-84c6-4c5a-a848-622dc00af3ab" providerId="AD" clId="Web-{7EB8DE3E-52A0-9ABF-76F6-60E077A070A5}" dt="2026-04-24T08:55:47.889" v="1"/>
        <pc:sldMkLst>
          <pc:docMk/>
          <pc:sldMk cId="0" sldId="267"/>
        </pc:sldMkLst>
      </pc:sldChg>
      <pc:sldChg chg="add">
        <pc:chgData name="D1I2 Jirayu S.Kaw" userId="S::300260129@th.maxxis.com::f59d7631-84c6-4c5a-a848-622dc00af3ab" providerId="AD" clId="Web-{7EB8DE3E-52A0-9ABF-76F6-60E077A070A5}" dt="2026-04-24T08:55:47.889" v="1"/>
        <pc:sldMkLst>
          <pc:docMk/>
          <pc:sldMk cId="0" sldId="268"/>
        </pc:sldMkLst>
      </pc:sldChg>
      <pc:sldChg chg="add">
        <pc:chgData name="D1I2 Jirayu S.Kaw" userId="S::300260129@th.maxxis.com::f59d7631-84c6-4c5a-a848-622dc00af3ab" providerId="AD" clId="Web-{7EB8DE3E-52A0-9ABF-76F6-60E077A070A5}" dt="2026-04-24T08:55:47.889" v="1"/>
        <pc:sldMkLst>
          <pc:docMk/>
          <pc:sldMk cId="0" sldId="269"/>
        </pc:sldMkLst>
      </pc:sldChg>
      <pc:sldChg chg="add">
        <pc:chgData name="D1I2 Jirayu S.Kaw" userId="S::300260129@th.maxxis.com::f59d7631-84c6-4c5a-a848-622dc00af3ab" providerId="AD" clId="Web-{7EB8DE3E-52A0-9ABF-76F6-60E077A070A5}" dt="2026-04-24T08:55:47.889" v="1"/>
        <pc:sldMkLst>
          <pc:docMk/>
          <pc:sldMk cId="0" sldId="270"/>
        </pc:sldMkLst>
      </pc:sldChg>
      <pc:sldChg chg="add">
        <pc:chgData name="D1I2 Jirayu S.Kaw" userId="S::300260129@th.maxxis.com::f59d7631-84c6-4c5a-a848-622dc00af3ab" providerId="AD" clId="Web-{7EB8DE3E-52A0-9ABF-76F6-60E077A070A5}" dt="2026-04-24T08:55:47.889" v="1"/>
        <pc:sldMkLst>
          <pc:docMk/>
          <pc:sldMk cId="0" sldId="271"/>
        </pc:sldMkLst>
      </pc:sldChg>
      <pc:sldChg chg="add">
        <pc:chgData name="D1I2 Jirayu S.Kaw" userId="S::300260129@th.maxxis.com::f59d7631-84c6-4c5a-a848-622dc00af3ab" providerId="AD" clId="Web-{7EB8DE3E-52A0-9ABF-76F6-60E077A070A5}" dt="2026-04-24T08:55:47.889" v="1"/>
        <pc:sldMkLst>
          <pc:docMk/>
          <pc:sldMk cId="0" sldId="272"/>
        </pc:sldMkLst>
      </pc:sldChg>
      <pc:sldChg chg="add">
        <pc:chgData name="D1I2 Jirayu S.Kaw" userId="S::300260129@th.maxxis.com::f59d7631-84c6-4c5a-a848-622dc00af3ab" providerId="AD" clId="Web-{7EB8DE3E-52A0-9ABF-76F6-60E077A070A5}" dt="2026-04-24T08:55:47.889" v="1"/>
        <pc:sldMkLst>
          <pc:docMk/>
          <pc:sldMk cId="0" sldId="273"/>
        </pc:sldMkLst>
      </pc:sldChg>
      <pc:sldChg chg="add">
        <pc:chgData name="D1I2 Jirayu S.Kaw" userId="S::300260129@th.maxxis.com::f59d7631-84c6-4c5a-a848-622dc00af3ab" providerId="AD" clId="Web-{7EB8DE3E-52A0-9ABF-76F6-60E077A070A5}" dt="2026-04-24T08:55:47.889" v="1"/>
        <pc:sldMkLst>
          <pc:docMk/>
          <pc:sldMk cId="0" sldId="274"/>
        </pc:sldMkLst>
      </pc:sldChg>
      <pc:sldChg chg="add">
        <pc:chgData name="D1I2 Jirayu S.Kaw" userId="S::300260129@th.maxxis.com::f59d7631-84c6-4c5a-a848-622dc00af3ab" providerId="AD" clId="Web-{7EB8DE3E-52A0-9ABF-76F6-60E077A070A5}" dt="2026-04-24T08:55:47.889" v="1"/>
        <pc:sldMkLst>
          <pc:docMk/>
          <pc:sldMk cId="0" sldId="275"/>
        </pc:sldMkLst>
      </pc:sldChg>
      <pc:sldChg chg="add">
        <pc:chgData name="D1I2 Jirayu S.Kaw" userId="S::300260129@th.maxxis.com::f59d7631-84c6-4c5a-a848-622dc00af3ab" providerId="AD" clId="Web-{7EB8DE3E-52A0-9ABF-76F6-60E077A070A5}" dt="2026-04-24T08:55:47.889" v="1"/>
        <pc:sldMkLst>
          <pc:docMk/>
          <pc:sldMk cId="0" sldId="276"/>
        </pc:sldMkLst>
      </pc:sldChg>
      <pc:sldChg chg="add">
        <pc:chgData name="D1I2 Jirayu S.Kaw" userId="S::300260129@th.maxxis.com::f59d7631-84c6-4c5a-a848-622dc00af3ab" providerId="AD" clId="Web-{7EB8DE3E-52A0-9ABF-76F6-60E077A070A5}" dt="2026-04-24T08:55:47.889" v="1"/>
        <pc:sldMkLst>
          <pc:docMk/>
          <pc:sldMk cId="0" sldId="277"/>
        </pc:sldMkLst>
      </pc:sldChg>
      <pc:sldChg chg="del replId">
        <pc:chgData name="D1I2 Jirayu S.Kaw" userId="S::300260129@th.maxxis.com::f59d7631-84c6-4c5a-a848-622dc00af3ab" providerId="AD" clId="Web-{7EB8DE3E-52A0-9ABF-76F6-60E077A070A5}" dt="2026-04-24T08:55:47.889" v="1"/>
        <pc:sldMkLst>
          <pc:docMk/>
          <pc:sldMk cId="109857222" sldId="278"/>
        </pc:sldMkLst>
      </pc:sldChg>
      <pc:sldMasterChg chg="add addSldLayout">
        <pc:chgData name="D1I2 Jirayu S.Kaw" userId="S::300260129@th.maxxis.com::f59d7631-84c6-4c5a-a848-622dc00af3ab" providerId="AD" clId="Web-{7EB8DE3E-52A0-9ABF-76F6-60E077A070A5}" dt="2026-04-24T08:55:47.889" v="1"/>
        <pc:sldMasterMkLst>
          <pc:docMk/>
          <pc:sldMasterMk cId="0" sldId="2147483648"/>
        </pc:sldMasterMkLst>
        <pc:sldLayoutChg chg="add">
          <pc:chgData name="D1I2 Jirayu S.Kaw" userId="S::300260129@th.maxxis.com::f59d7631-84c6-4c5a-a848-622dc00af3ab" providerId="AD" clId="Web-{7EB8DE3E-52A0-9ABF-76F6-60E077A070A5}" dt="2026-04-24T08:55:47.889" v="1"/>
          <pc:sldLayoutMkLst>
            <pc:docMk/>
            <pc:sldMasterMk cId="0" sldId="2147483648"/>
            <pc:sldLayoutMk cId="0" sldId="2147483649"/>
          </pc:sldLayoutMkLst>
        </pc:sldLayoutChg>
      </pc:sldMasterChg>
      <pc:sldMasterChg chg="del delSldLayout">
        <pc:chgData name="D1I2 Jirayu S.Kaw" userId="S::300260129@th.maxxis.com::f59d7631-84c6-4c5a-a848-622dc00af3ab" providerId="AD" clId="Web-{7EB8DE3E-52A0-9ABF-76F6-60E077A070A5}" dt="2026-04-24T08:55:47.889" v="1"/>
        <pc:sldMasterMkLst>
          <pc:docMk/>
          <pc:sldMasterMk cId="2460954070" sldId="2147483660"/>
        </pc:sldMasterMkLst>
        <pc:sldLayoutChg chg="del">
          <pc:chgData name="D1I2 Jirayu S.Kaw" userId="S::300260129@th.maxxis.com::f59d7631-84c6-4c5a-a848-622dc00af3ab" providerId="AD" clId="Web-{7EB8DE3E-52A0-9ABF-76F6-60E077A070A5}" dt="2026-04-24T08:55:47.889" v="1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D1I2 Jirayu S.Kaw" userId="S::300260129@th.maxxis.com::f59d7631-84c6-4c5a-a848-622dc00af3ab" providerId="AD" clId="Web-{7EB8DE3E-52A0-9ABF-76F6-60E077A070A5}" dt="2026-04-24T08:55:47.889" v="1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D1I2 Jirayu S.Kaw" userId="S::300260129@th.maxxis.com::f59d7631-84c6-4c5a-a848-622dc00af3ab" providerId="AD" clId="Web-{7EB8DE3E-52A0-9ABF-76F6-60E077A070A5}" dt="2026-04-24T08:55:47.889" v="1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D1I2 Jirayu S.Kaw" userId="S::300260129@th.maxxis.com::f59d7631-84c6-4c5a-a848-622dc00af3ab" providerId="AD" clId="Web-{7EB8DE3E-52A0-9ABF-76F6-60E077A070A5}" dt="2026-04-24T08:55:47.889" v="1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D1I2 Jirayu S.Kaw" userId="S::300260129@th.maxxis.com::f59d7631-84c6-4c5a-a848-622dc00af3ab" providerId="AD" clId="Web-{7EB8DE3E-52A0-9ABF-76F6-60E077A070A5}" dt="2026-04-24T08:55:47.889" v="1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D1I2 Jirayu S.Kaw" userId="S::300260129@th.maxxis.com::f59d7631-84c6-4c5a-a848-622dc00af3ab" providerId="AD" clId="Web-{7EB8DE3E-52A0-9ABF-76F6-60E077A070A5}" dt="2026-04-24T08:55:47.889" v="1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D1I2 Jirayu S.Kaw" userId="S::300260129@th.maxxis.com::f59d7631-84c6-4c5a-a848-622dc00af3ab" providerId="AD" clId="Web-{7EB8DE3E-52A0-9ABF-76F6-60E077A070A5}" dt="2026-04-24T08:55:47.889" v="1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D1I2 Jirayu S.Kaw" userId="S::300260129@th.maxxis.com::f59d7631-84c6-4c5a-a848-622dc00af3ab" providerId="AD" clId="Web-{7EB8DE3E-52A0-9ABF-76F6-60E077A070A5}" dt="2026-04-24T08:55:47.889" v="1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D1I2 Jirayu S.Kaw" userId="S::300260129@th.maxxis.com::f59d7631-84c6-4c5a-a848-622dc00af3ab" providerId="AD" clId="Web-{7EB8DE3E-52A0-9ABF-76F6-60E077A070A5}" dt="2026-04-24T08:55:47.889" v="1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D1I2 Jirayu S.Kaw" userId="S::300260129@th.maxxis.com::f59d7631-84c6-4c5a-a848-622dc00af3ab" providerId="AD" clId="Web-{7EB8DE3E-52A0-9ABF-76F6-60E077A070A5}" dt="2026-04-24T08:55:47.889" v="1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D1I2 Jirayu S.Kaw" userId="S::300260129@th.maxxis.com::f59d7631-84c6-4c5a-a848-622dc00af3ab" providerId="AD" clId="Web-{7EB8DE3E-52A0-9ABF-76F6-60E077A070A5}" dt="2026-04-24T08:55:47.889" v="1"/>
          <pc:sldLayoutMkLst>
            <pc:docMk/>
            <pc:sldMasterMk cId="2460954070" sldId="2147483660"/>
            <pc:sldLayoutMk cId="3479445657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58EED5-7D63-4425-A8E2-FA257B22B43B}" type="datetimeFigureOut">
              <a:t>4/27/2026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1A8655-2C27-42A4-AAA6-5FA64C591928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577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สไลด์เปิด. แนะนำตัววิทยากร วัตถุประสงค์ของคอร์ส และเป้าหมายว่าผู้เรียนจะสามารถสร้าง backend ด้วย Node.js + Prisma เชื่อม SQL Server ได้หลังจบคอร์ส โดยใช้ JavaScript (CommonJS) ล้วน ๆ ไม่ใช้ TypeScript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สรุปเนื้อหาทั้ง 22 สไลด์ แบ่งเป็น 12 หัวข้อย่อย เน้นให้ผู้เรียนเห็นภาพรวมก่อน แล้วจึงค่อยลงรายละเอียด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อธิบายว่า Prisma ไม่ใช่แค่ library query แต่เป็นชุดเครื่องมือครบวงจร ตั้งแต่ออกแบบ schema จนถึงดู data จริงใน DB ผ่าน Prisma Studio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หลายองค์กรใช้ SQL Server อยู่แล้ว การใช้ Prisma ช่วยให้ backend Node.js ทำงานกับ DB เดิมได้อย่างมีประสิทธิภาพ โดยไม่ต้องย้ายระบบ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เน้นเรื่องการแยกชั้น architecture ให้ผู้เรียนเห็นภาพว่า Prisma ทำหน้าที่อะไร และ controller / service ต่างกันอย่างไร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อธิบาย flow ตั้งแต่ user login จนถึงจ่ายเงิน ให้เข้าใจว่าแต่ละขั้นเกี่ยวข้องกับ entity ใดบ้าง จะช่วยให้ผู้เรียนเข้าใจ ER Diagram ในสไลด์ถัดไป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อธิบาย relation: User-Cart 1:1, User-Order 1:N, Category-Product 1:N, Product-CartItem / OrderItem 1:N, Order-Payment 1:1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เริ่มจากการติดตั้ง node + prisma + express ให้ครบ และใช้ prisma init ที่ระบุ provider เป็น sqlserver เพื่อให้ template ถูกต้องตั้งแต่ต้น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ย้ำเรื่อง security: ห้ามเก็บ password จริงใน repo ให้ใช้ .env.example เป็น template และตั้งค่า secret ผ่าน CI/CD หรือ vault ใน production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อธิบายว่า datasource คือ metadata ของ DB ส่วน generator บอก Prisma ให้ build client code ให้ JavaScript ใช้งานได้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เน้นเรื่องการใช้ Decimal กับเงิน และการประกาศ relation ผ่าน @relation(fields, references) เพื่อกำหนด FK ให้ชัด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ย้ำการใช้ @unique ใน FK เพื่อสร้าง 1:1 relation, การใช้ @@index ช่วย query ตาม userId + createdAt ได้รวดเร็ว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db push เหมาะช่วง prototype ส่วน migrate dev คือวิธีมาตรฐานที่ควรใช้ในทุกโปรเจกต์จริง เพราะเก็บ history ของ schema เปลี่ยนแปลงทั้งหมด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อธิบายว่า generate คือ regenerate client, studio คือ GUI, seed คือ script สร้างข้อมูลเริ่มต้น — ต้องใส่ config seed ใน package.json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5996A-5C62-D0B7-896A-81F4F1CFA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D90F3D-F9E0-7642-65D9-76DC8F465D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4F1938-A312-17D5-C1E9-18A75AF309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อธิบายว่า generate คือ regenerate client, studio คือ GUI, seed คือ script สร้างข้อมูลเริ่มต้น — ต้องใส่ config seed ใน package.json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D014A8-06F5-804B-00C6-52DAE38C47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6274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ย้ำว่า PrismaClient ต้องใช้ single instance ทั้งแอป ไม่ใช่สร้างใหม่ทุก request — ทริคใช้ global ใน dev เพื่อกัน hot-reload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แสดงการแยกชั้น service/controller ชัดเจน — service ไม่รู้จัก req/res และ controller ไม่เขียน query 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สาธิตการใช้ include + select ซ้อนกัน รวมถึงจัดลำดับของ items ด้วย orderBy ในระดับ relation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เน้นการใช้ count + findMany คู่กันใน Promise.all เพื่อคืน total สำหรับ pagination, และ soft delete ด้วย deletedAt: null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ย้ำว่า transaction ช่วย rollback อัตโนมัติ หากขั้นตอนใดผิดพลาด เช่น stock ไม่พอ ระบบจะไม่สร้าง order / payment เลย — ป้องกันข้อมูลไม่สอดคล้อง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เน้นให้ผู้เรียนรู้จัก error code ของ Prisma เช่น P2002/P2025 และการสร้าง error middleware เพื่อตอบ HTTP status ที่เหมาะสม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สไลด์สำคัญสำหรับ production — ให้ผู้เรียนจำไว้ว่า PrismaClient ต้อง singleton, ต้อง migrate, ต้อง transaction, ต้อง validate และห้ามใช้ Float เก็บเงิน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สไลด์สุดท้าย: สรุป 4 เรื่องหลักที่ผู้เรียนได้จากคอร์สนี้ พร้อมแนะนำ next step — ทำ workshop, เพิ่ม auth, ทำ test, ตั้งค่า CI/CD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1A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961120" y="-1371600"/>
            <a:ext cx="4572000" cy="4572000"/>
          </a:xfrm>
          <a:prstGeom prst="ellipse">
            <a:avLst/>
          </a:prstGeom>
          <a:solidFill>
            <a:srgbClr val="2E86DE">
              <a:alpha val="30000"/>
            </a:srgbClr>
          </a:solidFill>
          <a:ln w="12700">
            <a:solidFill>
              <a:srgbClr val="2E86DE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332720" y="1371600"/>
            <a:ext cx="2926080" cy="2926080"/>
          </a:xfrm>
          <a:prstGeom prst="ellipse">
            <a:avLst/>
          </a:prstGeom>
          <a:solidFill>
            <a:srgbClr val="22D3EE">
              <a:alpha val="20000"/>
            </a:srgbClr>
          </a:solidFill>
          <a:ln w="12700">
            <a:solidFill>
              <a:srgbClr val="22D3E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BACKEND TRAINING SERIES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+ SQL Server + Node.js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CFE3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การจัดการข้อมูลแบบครบวงจร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CFE3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ด้วยตัวอย่างระบบ E-commerce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731520" y="457200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0F2747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45720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JavaScript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50592" y="4572000"/>
            <a:ext cx="1316736" cy="384048"/>
          </a:xfrm>
          <a:prstGeom prst="roundRect">
            <a:avLst>
              <a:gd name="adj" fmla="val 19048"/>
            </a:avLst>
          </a:prstGeom>
          <a:solidFill>
            <a:srgbClr val="0F2747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450592" y="4572000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CommonJS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931920" y="4572000"/>
            <a:ext cx="1197864" cy="384048"/>
          </a:xfrm>
          <a:prstGeom prst="roundRect">
            <a:avLst>
              <a:gd name="adj" fmla="val 19048"/>
            </a:avLst>
          </a:prstGeom>
          <a:solidFill>
            <a:srgbClr val="0F2747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931920" y="4572000"/>
            <a:ext cx="1197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Express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294376" y="457200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0F2747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294376" y="45720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ORM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013448" y="457200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0F2747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013448" y="45720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SQL Server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B3C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วิทยากร: Backend Team  |  ระดับ: Intermediate  |  22 สไลด์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22960"/>
            <a:ext cx="12161520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OVERVIEW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สารบัญ (Agenda)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82296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08760" y="11887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แนะนำ Prisma + SQL Server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43400" y="118872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343400" y="1188720"/>
            <a:ext cx="82296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343400" y="11887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303520" y="11887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Architecture &amp; Business flow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118872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138160" y="1188720"/>
            <a:ext cx="82296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138160" y="11887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098280" y="11887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ER Diagram ระบบ E-commerce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214884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8640" y="2148840"/>
            <a:ext cx="82296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8640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508760" y="21488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Setup โปรเจกต์ + Connection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343400" y="214884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343400" y="2148840"/>
            <a:ext cx="82296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343400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05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303520" y="21488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schema.prisma &amp; Models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138160" y="214884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138160" y="2148840"/>
            <a:ext cx="82296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138160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06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9098280" y="21488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Relation (1:1, 1:N)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48640" y="310896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48640" y="3108960"/>
            <a:ext cx="82296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48640" y="3108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07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1508760" y="31089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db push vs migrate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343400" y="310896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343400" y="3108960"/>
            <a:ext cx="82296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343400" y="3108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08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5303520" y="31089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Client + Studio + Seed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138160" y="310896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8138160" y="3108960"/>
            <a:ext cx="82296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8138160" y="3108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09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9098280" y="31089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เชื่อมกับ Express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48640" y="406908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548640" y="4069080"/>
            <a:ext cx="82296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548640" y="4069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10</a:t>
            </a:r>
            <a:endParaRPr lang="en-US" sz="2000" dirty="0"/>
          </a:p>
        </p:txBody>
      </p:sp>
      <p:sp>
        <p:nvSpPr>
          <p:cNvPr id="45" name="Text 43"/>
          <p:cNvSpPr/>
          <p:nvPr/>
        </p:nvSpPr>
        <p:spPr>
          <a:xfrm>
            <a:off x="1508760" y="4069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CRUD &amp; Relation query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4343400" y="406908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4343400" y="4069080"/>
            <a:ext cx="82296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4343400" y="4069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11</a:t>
            </a:r>
            <a:endParaRPr lang="en-US" sz="2000" dirty="0"/>
          </a:p>
        </p:txBody>
      </p:sp>
      <p:sp>
        <p:nvSpPr>
          <p:cNvPr id="49" name="Text 47"/>
          <p:cNvSpPr/>
          <p:nvPr/>
        </p:nvSpPr>
        <p:spPr>
          <a:xfrm>
            <a:off x="5303520" y="4069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Filter, Sort, Pagination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8138160" y="406908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8138160" y="4069080"/>
            <a:ext cx="82296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8138160" y="4069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12</a:t>
            </a:r>
            <a:endParaRPr lang="en-US" sz="2000" dirty="0"/>
          </a:p>
        </p:txBody>
      </p:sp>
      <p:sp>
        <p:nvSpPr>
          <p:cNvPr id="53" name="Text 51"/>
          <p:cNvSpPr/>
          <p:nvPr/>
        </p:nvSpPr>
        <p:spPr>
          <a:xfrm>
            <a:off x="9098280" y="4069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Transaction, Validation, Best practice, Workshop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B64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หัวใจของคอร์ส: ออกแบบ → เขียน schema → เชื่อม DB → ใช้งานจริงในระบบ E-commerce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A30"/>
          </a:solidFill>
          <a:ln w="12700">
            <a:solidFill>
              <a:srgbClr val="091A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365760" y="6537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+ SQL Server + Node.js  |  E-commerce Edition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11064240" y="65379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 / 22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22960"/>
            <a:ext cx="12161520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CONCEPT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คืออะไร?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411480" cy="41148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91A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9601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86D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Next-generation ORM สำหรับ Node.js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57607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ORM (Object-Relational Mapping) ที่เขียน query ด้วย JavaScript/TypeScript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ใช้ไฟล์ schema.prisma เป็น single source of truth ของโครงสร้าง DB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สร้าง type-safe Prisma Client ให้โดยอัตโนมัติ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รองรับหลาย DB: SQL Server, PostgreSQL, MySQL, SQLite, MongoDB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มีเครื่องมือครบ: Migrate, Studio, Client, Introspect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ลดการเขียน SQL ซ้ำ ๆ และลด bug จาก column/ชนิดข้อมูลผิด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675120" y="1554480"/>
            <a:ext cx="4937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675120" y="1554480"/>
            <a:ext cx="91440" cy="1463040"/>
          </a:xfrm>
          <a:prstGeom prst="rect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903720" y="16916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schema.prisma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03720" y="205740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ประกาศ datasource, generator และ model ทั้งหมดในไฟล์เดียว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675120" y="3154680"/>
            <a:ext cx="4937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675120" y="3154680"/>
            <a:ext cx="91440" cy="14630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903720" y="32918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Client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903720" y="365760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ไลบรารีที่ generate ขึ้นมา ใช้ query เช่น findMany, create, update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675120" y="4754880"/>
            <a:ext cx="4937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675120" y="4754880"/>
            <a:ext cx="91440" cy="1463040"/>
          </a:xfrm>
          <a:prstGeom prst="rect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903720" y="48920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Migrate / Studio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03720" y="525780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สร้างตารางใน DB จริง และเปิด GUI ดูข้อมูลได้ทันที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A30"/>
          </a:solidFill>
          <a:ln w="12700">
            <a:solidFill>
              <a:srgbClr val="091A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65760" y="6537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+ SQL Server + Node.js  |  E-commerce Edition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064240" y="65379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 / 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22960"/>
            <a:ext cx="12161520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เหมาะกับงานประเภทใด &amp; ทำไมต้อง SQL Server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1143000"/>
            <a:ext cx="5577840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143000"/>
            <a:ext cx="5577840" cy="50292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14300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เหมาะกับ…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1737360"/>
            <a:ext cx="5120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REST / GraphQL API บน Node.js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 E-commerce, CMS, SaaS, ERP ภายในองค์กร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โปรเจกต์ที่ schema เปลี่ยนบ่อย ต้องการ migration ชัดเจน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ทีมที่อยาก type-safe โดยไม่ต้องเขียน SQL เอง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งานที่ต้องการ productivity สูง + อ่านโค้ดง่าย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1143000"/>
            <a:ext cx="5394960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309360" y="1143000"/>
            <a:ext cx="5394960" cy="502920"/>
          </a:xfrm>
          <a:prstGeom prst="rect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92240" y="11430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ทำไมต้อง SQL Server?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37960" y="1737360"/>
            <a:ext cx="49377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เป็น DB หลักในองค์กรไทยหลายแห่ง (SQL Server 2019/2022)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รองรับ transaction, constraint, index ครบถ้วน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ทำงานร่วมกับ Windows Auth / AD ได้ดี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รองรับ Provider: sqlserver อย่างเป็นทางการ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เหมาะกับงานระบบ enterprise ที่ต้องการความมั่นคง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A30"/>
          </a:solidFill>
          <a:ln w="12700">
            <a:solidFill>
              <a:srgbClr val="091A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65760" y="6537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+ SQL Server + Node.js  |  E-commerce Edition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064240" y="65379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 / 22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22960"/>
            <a:ext cx="12161520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ภาพรวม Architecture: Node.js + Prisma + SQL Server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6400800" cy="822960"/>
          </a:xfrm>
          <a:prstGeom prst="rect">
            <a:avLst/>
          </a:prstGeom>
          <a:solidFill>
            <a:srgbClr val="DCE9FA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20" y="13716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Client / Browser / Mobile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16916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ส่ง HTTP request → API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58768" y="2103120"/>
            <a:ext cx="146304" cy="18288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31520" y="2286000"/>
            <a:ext cx="6400800" cy="822960"/>
          </a:xfrm>
          <a:prstGeom prst="rect">
            <a:avLst/>
          </a:prstGeom>
          <a:solidFill>
            <a:srgbClr val="9FC7F0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60120" y="23774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Express.js (Routes + Controllers)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26974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รับ request, validate, เรียก service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858768" y="3108960"/>
            <a:ext cx="146304" cy="18288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31520" y="3291840"/>
            <a:ext cx="6400800" cy="822960"/>
          </a:xfrm>
          <a:prstGeom prst="rect">
            <a:avLst/>
          </a:prstGeom>
          <a:solidFill>
            <a:srgbClr val="2E86DE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60120" y="3383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Service Layer (Business Logic)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60120" y="37033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คำนวณราคา, จัดการ order, transaction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858768" y="4114800"/>
            <a:ext cx="146304" cy="18288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31520" y="4297680"/>
            <a:ext cx="640080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60120" y="43891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Client (ORM)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0120" y="47091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query.findMany(), $transaction(), ฯลฯ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858768" y="5120640"/>
            <a:ext cx="146304" cy="18288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31520" y="5303520"/>
            <a:ext cx="6400800" cy="822960"/>
          </a:xfrm>
          <a:prstGeom prst="rect">
            <a:avLst/>
          </a:prstGeom>
          <a:solidFill>
            <a:srgbClr val="091A30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60120" y="53949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SQL Server Database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60120" y="57150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ตารางจริง + constraint + index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589520" y="1280160"/>
            <a:ext cx="4114800" cy="5074920"/>
          </a:xfrm>
          <a:prstGeom prst="rect">
            <a:avLst/>
          </a:prstGeom>
          <a:solidFill>
            <a:srgbClr val="F4F6FA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772400" y="1371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หลักการหลัก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772400" y="1783080"/>
            <a:ext cx="37947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แยกชั้น routes / controller / service ชัดเจน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Client อยู่ใน service layer เท่านั้น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 query DB ตรงจาก controller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Reusable PrismaClient 1 instance ทั้งแอป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 .env แยก config dev / prod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ทุก request ผ่าน validation ก่อนเข้าสู่ service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A30"/>
          </a:solidFill>
          <a:ln w="12700">
            <a:solidFill>
              <a:srgbClr val="091A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65760" y="6537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+ SQL Server + Node.js  |  E-commerce Edition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064240" y="65379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 / 22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22960"/>
            <a:ext cx="12161520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BUSINESS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ภาพรวม Business Flow ของระบบ E-commerce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18288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188720" y="1188720"/>
            <a:ext cx="548640" cy="548640"/>
          </a:xfrm>
          <a:prstGeom prst="ellipse">
            <a:avLst/>
          </a:prstGeom>
          <a:solidFill>
            <a:srgbClr val="22D3E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18872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91A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Register / Login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5146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86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rot="5400000">
            <a:off x="2386584" y="2194560"/>
            <a:ext cx="109728" cy="182880"/>
          </a:xfrm>
          <a:prstGeom prst="rtTriangle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514600" y="1463040"/>
            <a:ext cx="18288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154680" y="1188720"/>
            <a:ext cx="548640" cy="548640"/>
          </a:xfrm>
          <a:prstGeom prst="ellipse">
            <a:avLst/>
          </a:prstGeom>
          <a:solidFill>
            <a:srgbClr val="22D3E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15468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91A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606040" y="19202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เรียกดู Product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606040" y="25146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86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Category, Product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rot="5400000">
            <a:off x="4352544" y="2194560"/>
            <a:ext cx="109728" cy="182880"/>
          </a:xfrm>
          <a:prstGeom prst="rtTriangle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480560" y="1463040"/>
            <a:ext cx="18288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120640" y="1188720"/>
            <a:ext cx="548640" cy="548640"/>
          </a:xfrm>
          <a:prstGeom prst="ellipse">
            <a:avLst/>
          </a:prstGeom>
          <a:solidFill>
            <a:srgbClr val="22D3E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12064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91A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0" y="19202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เพิ่มสินค้าลง Cart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0" y="25146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86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Cart, CartItem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rot="5400000">
            <a:off x="6318504" y="2194560"/>
            <a:ext cx="109728" cy="182880"/>
          </a:xfrm>
          <a:prstGeom prst="rtTriangle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446520" y="1463040"/>
            <a:ext cx="18288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086600" y="1188720"/>
            <a:ext cx="548640" cy="548640"/>
          </a:xfrm>
          <a:prstGeom prst="ellipse">
            <a:avLst/>
          </a:prstGeom>
          <a:solidFill>
            <a:srgbClr val="22D3E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08660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91A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537960" y="19202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Checkout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537960" y="25146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86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Order, OrderItem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rot="5400000">
            <a:off x="8284464" y="2194560"/>
            <a:ext cx="109728" cy="182880"/>
          </a:xfrm>
          <a:prstGeom prst="rtTriangle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412480" y="1463040"/>
            <a:ext cx="18288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9052560" y="1188720"/>
            <a:ext cx="548640" cy="548640"/>
          </a:xfrm>
          <a:prstGeom prst="ellipse">
            <a:avLst/>
          </a:prstGeom>
          <a:solidFill>
            <a:srgbClr val="22D3E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905256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91A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503920" y="19202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ชำระเงิน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503920" y="25146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86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rot="5400000">
            <a:off x="10250424" y="2194560"/>
            <a:ext cx="109728" cy="182880"/>
          </a:xfrm>
          <a:prstGeom prst="rtTriangle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10378440" y="1463040"/>
            <a:ext cx="18288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11018520" y="1188720"/>
            <a:ext cx="548640" cy="548640"/>
          </a:xfrm>
          <a:prstGeom prst="ellipse">
            <a:avLst/>
          </a:prstGeom>
          <a:solidFill>
            <a:srgbClr val="22D3EE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1101852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91A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0469880" y="19202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อัปเดต Stock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0469880" y="25146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86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Product.stock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3657600"/>
            <a:ext cx="3657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48640" y="3657600"/>
            <a:ext cx="91440" cy="2377440"/>
          </a:xfrm>
          <a:prstGeom prst="rect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777240" y="37947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ข้อมูลหลัก 8 entity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777240" y="4160520"/>
            <a:ext cx="3337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User, Category, Product, Cart, CartItem, Order, OrderItem, Payment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343400" y="3657600"/>
            <a:ext cx="3657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343400" y="3657600"/>
            <a:ext cx="91440" cy="237744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572000" y="37947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จุดสำคัญของระบบ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572000" y="4160520"/>
            <a:ext cx="3337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ต้องจัดการ stock และเงินอย่างถูกต้อง → ใช้ transaction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B64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บันทึก payment หลังสร้าง order สำเร็จเท่านั้น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138160" y="3657600"/>
            <a:ext cx="3657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8138160" y="3657600"/>
            <a:ext cx="91440" cy="2377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8366760" y="37947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สิ่งที่ Prisma ช่วย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8366760" y="4160520"/>
            <a:ext cx="3337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สร้าง relation ครบ / query พร้อม include / $transaction() รวมหลาย operation ไว้ด้วยกัน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A30"/>
          </a:solidFill>
          <a:ln w="12700">
            <a:solidFill>
              <a:srgbClr val="091A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365760" y="6537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+ SQL Server + Node.js  |  E-commerce Edition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1064240" y="65379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 / 22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22960"/>
            <a:ext cx="12161520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DATA MODEL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ER Diagram ระบบ E-commerce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246888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2E8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2468880" cy="411480"/>
          </a:xfrm>
          <a:prstGeom prst="rect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User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1645920"/>
            <a:ext cx="2249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id, email, name, password, createdAt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246888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48640" y="4663440"/>
            <a:ext cx="2468880" cy="41148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46634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Category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" y="5120640"/>
            <a:ext cx="2249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id, name, slug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937760" y="1188720"/>
            <a:ext cx="246888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2E8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937760" y="1188720"/>
            <a:ext cx="2468880" cy="411480"/>
          </a:xfrm>
          <a:prstGeom prst="rect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937760" y="11887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Product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47488" y="1645920"/>
            <a:ext cx="2249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id, name, price, stock, categoryId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326880" y="1188720"/>
            <a:ext cx="246888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9326880" y="1188720"/>
            <a:ext cx="2468880" cy="41148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326880" y="11887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Cart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436608" y="1645920"/>
            <a:ext cx="2249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id, userId, createdAt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326880" y="3017520"/>
            <a:ext cx="246888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326880" y="3017520"/>
            <a:ext cx="2468880" cy="41148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326880" y="30175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CartItem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436608" y="3474720"/>
            <a:ext cx="2249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id, cartId, productId, quantity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937760" y="3017520"/>
            <a:ext cx="246888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937760" y="3017520"/>
            <a:ext cx="2468880" cy="41148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937760" y="30175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Order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047488" y="3474720"/>
            <a:ext cx="2249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id, userId, total, status, createdAt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937760" y="4846320"/>
            <a:ext cx="246888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937760" y="4846320"/>
            <a:ext cx="2468880" cy="41148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937760" y="48463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OrderItem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047488" y="5303520"/>
            <a:ext cx="2249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id, orderId, productId, quantity, price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326880" y="4846320"/>
            <a:ext cx="246888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FFB0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9326880" y="4846320"/>
            <a:ext cx="2468880" cy="411480"/>
          </a:xfrm>
          <a:prstGeom prst="rect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9326880" y="48463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Payment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9436608" y="5303520"/>
            <a:ext cx="22494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id, orderId, method, amount, paidAt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17520" y="1874520"/>
            <a:ext cx="1920240" cy="0"/>
          </a:xfrm>
          <a:prstGeom prst="line">
            <a:avLst/>
          </a:prstGeom>
          <a:noFill/>
          <a:ln w="19050">
            <a:solidFill>
              <a:srgbClr val="5B64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017520" y="5349240"/>
            <a:ext cx="1920240" cy="0"/>
          </a:xfrm>
          <a:prstGeom prst="line">
            <a:avLst/>
          </a:prstGeom>
          <a:noFill/>
          <a:ln w="19050">
            <a:solidFill>
              <a:srgbClr val="5B64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3017520" y="1874520"/>
            <a:ext cx="1920240" cy="1828800"/>
          </a:xfrm>
          <a:prstGeom prst="line">
            <a:avLst/>
          </a:prstGeom>
          <a:noFill/>
          <a:ln w="19050">
            <a:solidFill>
              <a:srgbClr val="5B64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1783080" y="2560320"/>
            <a:ext cx="0" cy="2103120"/>
          </a:xfrm>
          <a:prstGeom prst="line">
            <a:avLst/>
          </a:prstGeom>
          <a:noFill/>
          <a:ln w="19050">
            <a:solidFill>
              <a:srgbClr val="5B64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4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 User → N Orders, 1 User → 1 Cart, 1 Category → N Products, 1 Order → N OrderItems, 1 Order → 1 Payment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A30"/>
          </a:solidFill>
          <a:ln w="12700">
            <a:solidFill>
              <a:srgbClr val="091A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365760" y="6537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+ SQL Server + Node.js  |  E-commerce Edition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1064240" y="65379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7 / 22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22960"/>
            <a:ext cx="12161520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SETUP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ติดตั้งโปรเจกต์ Node.js + Prisma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56692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ต้องมี Node.js 18+ ติดตั้งในเครื่อง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สร้างโฟลเดอร์โปรเจกต์ใหม่ + npm init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ติดตั้ง Prisma CLI แบบ dev dependency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ติดตั้ง @prisma/client สำหรับใช้ใน runtime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รัน npx prisma init --datasource-provider sqlserver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จะได้โฟลเดอร์ prisma/ และไฟล์ .env อัตโนมัติ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Express เป็น framework หลักสำหรับสร้าง REST API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280160"/>
            <a:ext cx="5394960" cy="5029200"/>
          </a:xfrm>
          <a:prstGeom prst="rect">
            <a:avLst/>
          </a:prstGeom>
          <a:solidFill>
            <a:srgbClr val="0B1B33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309360" y="1280160"/>
            <a:ext cx="5394960" cy="256032"/>
          </a:xfrm>
          <a:prstGeom prst="rect">
            <a:avLst/>
          </a:prstGeom>
          <a:solidFill>
            <a:srgbClr val="102A4A"/>
          </a:solidFill>
          <a:ln w="12700">
            <a:solidFill>
              <a:srgbClr val="10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19088" y="1353312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620256" y="1353312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821424" y="1353312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132320" y="128016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 — setup.sh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46520" y="1600200"/>
            <a:ext cx="512064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1) สร้างโปรเจกต์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ecommerce-api &amp;&amp; cd ecommerce-api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init -y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2) ติดตั้ง dependency หลัก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express dotenv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prisma --save-dev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@prisma/client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3) initialize Prisma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 prisma init \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--datasource-provider sqlserver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โครงสร้างที่ได้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ecommerce-api/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prisma/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└─ schema.prisma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.env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server.js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 package.json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A30"/>
          </a:solidFill>
          <a:ln w="12700">
            <a:solidFill>
              <a:srgbClr val="091A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65760" y="6537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+ SQL Server + Node.js  |  E-commerce Edition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064240" y="65379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8 / 22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22960"/>
            <a:ext cx="12161520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CONFIG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ตั้งค่า .env และ SQL Server Connection String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566928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อ่าน DATABASE_URL จากไฟล์ .env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Format ของ SQL Server คือ sqlserver://host:port;database=;user=;password=;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ใส่ encrypt=true กรณีใช้ SSL (แนะนำใน production)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ใส่ trustServerCertificate=true ถ้า self-signed (dev เท่านั้น)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อย่า commit ไฟล์ .env ขึ้น git (เพิ่มใน .gitignore)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แยกไฟล์ .env.development / .env.production ตาม environment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394960" cy="5120640"/>
          </a:xfrm>
          <a:prstGeom prst="rect">
            <a:avLst/>
          </a:prstGeom>
          <a:solidFill>
            <a:srgbClr val="0B1B33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309360" y="1188720"/>
            <a:ext cx="5394960" cy="256032"/>
          </a:xfrm>
          <a:prstGeom prst="rect">
            <a:avLst/>
          </a:prstGeom>
          <a:solidFill>
            <a:srgbClr val="102A4A"/>
          </a:solidFill>
          <a:ln w="12700">
            <a:solidFill>
              <a:srgbClr val="10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19088" y="1261872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620256" y="1261872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821424" y="1261872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132320" y="118872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 / .gitignore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46520" y="1508760"/>
            <a:ext cx="5120640" cy="4709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.env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DATABASE_URL="sqlserver://localhost:1433;\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database=ecommerce;\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user=sa;\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password=YourStrong!Passw0rd;\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encrypt=true;\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trustServerCertificate=true"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PORT=3000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NODE_ENV=development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.gitignore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node_modules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.env.*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!.env.example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A30"/>
          </a:solidFill>
          <a:ln w="12700">
            <a:solidFill>
              <a:srgbClr val="091A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65760" y="6537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+ SQL Server + Node.js  |  E-commerce Edition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064240" y="65379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9 / 22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22960"/>
            <a:ext cx="12161520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SCHEMA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schema.prisma: datasource &amp; generator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56692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datasource กำหนดชนิดและที่อยู่ของฐานข้อมูล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provider = "sqlserver" สำหรับ Microsoft SQL Server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url อ่านค่าจาก env("DATABASE_URL")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generator client บอกว่าจะสร้าง Prisma Client สำหรับ JavaScript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provider = "prisma-client-js" เป็น default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เมื่อแก้ schema → รัน npx prisma generate เพื่ออัปเดต client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280160"/>
            <a:ext cx="5394960" cy="5029200"/>
          </a:xfrm>
          <a:prstGeom prst="rect">
            <a:avLst/>
          </a:prstGeom>
          <a:solidFill>
            <a:srgbClr val="0B1B33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309360" y="1280160"/>
            <a:ext cx="5394960" cy="256032"/>
          </a:xfrm>
          <a:prstGeom prst="rect">
            <a:avLst/>
          </a:prstGeom>
          <a:solidFill>
            <a:srgbClr val="102A4A"/>
          </a:solidFill>
          <a:ln w="12700">
            <a:solidFill>
              <a:srgbClr val="10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19088" y="1353312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620256" y="1353312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821424" y="1353312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132320" y="128016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prisma/schema.prisma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46520" y="1600200"/>
            <a:ext cx="512064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prisma/schema.prisma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datasource db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provider = "sqlserver"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url      = env("DATABASE_URL")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generator client 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provider = "prisma-client-js"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ทุกครั้งที่แก้ model ต้องรัน: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npx prisma generate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เพื่อ regenerate client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A30"/>
          </a:solidFill>
          <a:ln w="12700">
            <a:solidFill>
              <a:srgbClr val="091A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65760" y="6537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+ SQL Server + Node.js  |  E-commerce Edition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064240" y="65379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10 / 22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22960"/>
            <a:ext cx="12161520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MODELS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สร้าง Model และกำหนด Relation ใน schema.prisma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53949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แต่ละ model คือหนึ่งตารางใน DB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ใส่ @id ให้ primary key, @unique ให้ column ที่ห้ามซ้ำ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@default(autoincrement()) ใช้กับ Int id, @default(now()) กับ DateTime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Decimal @db.Decimal(10,2) เก็บราคา (ห้ามใช้ Float เก็บเงิน)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Relation ใช้คู่ field: scalar FK + navigation field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1:N → ฝั่ง many ใส่ foreign key, ฝั่ง one ใส่ array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1:1 → ใช้ @unique ที่ foreign key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35040" y="1188720"/>
            <a:ext cx="5669280" cy="5212080"/>
          </a:xfrm>
          <a:prstGeom prst="rect">
            <a:avLst/>
          </a:prstGeom>
          <a:solidFill>
            <a:srgbClr val="0B1B33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035040" y="1188720"/>
            <a:ext cx="5669280" cy="256032"/>
          </a:xfrm>
          <a:prstGeom prst="rect">
            <a:avLst/>
          </a:prstGeom>
          <a:solidFill>
            <a:srgbClr val="102A4A"/>
          </a:solidFill>
          <a:ln w="12700">
            <a:solidFill>
              <a:srgbClr val="10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144768" y="1261872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345936" y="1261872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547104" y="1261872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858000" y="118872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prisma/schema.prisma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172200" y="1508760"/>
            <a:ext cx="5394960" cy="480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User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        Int      @id @default(autoincrement())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email     String   @unique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 String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password  String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orders    Order[]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cart      Cart?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createdAt DateTime @default(now())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Category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       Int       @id @default(autoincrement())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String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slug     String    @unique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products Product[]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Product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         Int         @id @default(autoincrement())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  String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price      Decimal     @db.Decimal(10,2)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stock      Int         @default(0)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categoryId Int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category   Category    @relation(fields: [categoryId],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   references: [id])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orderItems OrderItem[]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cartItems  CartItem[]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A30"/>
          </a:solidFill>
          <a:ln w="12700">
            <a:solidFill>
              <a:srgbClr val="091A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65760" y="6537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+ SQL Server + Node.js  |  E-commerce Edition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064240" y="65379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11 / 22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22960"/>
            <a:ext cx="12161520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RELATION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Model ต่อ: Cart, Order, OrderItem, Payment (1:1 vs 1:N)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4846320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1280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แนวคิด Relation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1691640"/>
            <a:ext cx="45262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One-to-Many (1:N): User → Orders, Order → OrderItems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One-to-One (1:1): User → Cart, Order → Payment (ใช้ @unique)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FK field (เช่น userId) + navigation field (user)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onDelete: Cascade ให้ลบลูกทั้งหมดเมื่อลบ parent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พิจารณา soft delete: เพิ่ม field deletedAt DateTime?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Index: @@index([field]) ช่วยให้ query เร็วขึ้น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0" y="1188720"/>
            <a:ext cx="6217920" cy="5212080"/>
          </a:xfrm>
          <a:prstGeom prst="rect">
            <a:avLst/>
          </a:prstGeom>
          <a:solidFill>
            <a:srgbClr val="0B1B33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486400" y="1188720"/>
            <a:ext cx="6217920" cy="256032"/>
          </a:xfrm>
          <a:prstGeom prst="rect">
            <a:avLst/>
          </a:prstGeom>
          <a:solidFill>
            <a:srgbClr val="102A4A"/>
          </a:solidFill>
          <a:ln w="12700">
            <a:solidFill>
              <a:srgbClr val="10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596128" y="1261872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797296" y="1261872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998464" y="1261872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09360" y="118872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prisma/schema.prisma (ต่อ)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623560" y="1508760"/>
            <a:ext cx="5943600" cy="480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Cart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        Int        @id @default(autoincrement())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userId    Int        @unique        // 1:1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      User       @relation(fields: [userId],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 references: [id])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items     CartItem[]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Order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        Int         @id @default(autoincrement())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userId    Int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total     Decimal     @db.Decimal(12,2)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status    String      @default("PENDING")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      User        @relation(fields: [userId],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 references: [id])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items     OrderItem[]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payment   Payment?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createdAt DateTime    @default(now())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@@index([userId, createdAt])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Payment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        Int      @id @default(autoincrement())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orderId   Int      @unique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method    String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amount    Decimal  @db.Decimal(12,2)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paidAt    DateTime @default(now())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order     Order    @relation(fields: [orderId],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references: [id])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A30"/>
          </a:solidFill>
          <a:ln w="12700">
            <a:solidFill>
              <a:srgbClr val="091A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65760" y="6537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+ SQL Server + Node.js  |  E-commerce Edition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64240" y="65379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12 / 22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22960"/>
            <a:ext cx="12161520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LIFECYCLE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Database Lifecycle: db push vs migrate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11064240" cy="50292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2801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หัวข้อ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017520" y="128016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db push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223760" y="128016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migrate dev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11064240" cy="594360"/>
          </a:xfrm>
          <a:prstGeom prst="rect">
            <a:avLst/>
          </a:prstGeom>
          <a:solidFill>
            <a:srgbClr val="F4F6FA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17830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เป้าหมาย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17520" y="178308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prototype / dev เร็ว ๆ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223760" y="178308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สร้าง migration history ถาวร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377440"/>
            <a:ext cx="11064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23774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สร้างไฟล์?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017520" y="237744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ไม่สร้าง migration file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223760" y="237744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สร้างโฟลเดอร์ migrations/...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2971800"/>
            <a:ext cx="11064240" cy="594360"/>
          </a:xfrm>
          <a:prstGeom prst="rect">
            <a:avLst/>
          </a:prstGeom>
          <a:solidFill>
            <a:srgbClr val="F4F6FA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29718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เหมาะกับ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017520" y="297180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ช่วง design schema ยังไม่นิ่ง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223760" y="297180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ทุกโปรเจกต์ที่ขึ้น production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566160"/>
            <a:ext cx="11064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" y="356616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ย้อนกลับ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17520" y="356616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ย้อนไม่ได้ (ทำ schema ตรง ๆ)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223760" y="356616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rollback ได้ ผ่าน migrate resolve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160520"/>
            <a:ext cx="11064240" cy="594360"/>
          </a:xfrm>
          <a:prstGeom prst="rect">
            <a:avLst/>
          </a:prstGeom>
          <a:solidFill>
            <a:srgbClr val="F4F6FA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40080" y="4160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CI/CD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017520" y="41605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ไม่เหมาะ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223760" y="416052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เหมาะมาก: ใช้ migrate deploy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" y="4846320"/>
            <a:ext cx="11064240" cy="1508760"/>
          </a:xfrm>
          <a:prstGeom prst="rect">
            <a:avLst/>
          </a:prstGeom>
          <a:solidFill>
            <a:srgbClr val="0B1B33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48640" y="4846320"/>
            <a:ext cx="11064240" cy="256032"/>
          </a:xfrm>
          <a:prstGeom prst="rect">
            <a:avLst/>
          </a:prstGeom>
          <a:solidFill>
            <a:srgbClr val="102A4A"/>
          </a:solidFill>
          <a:ln w="12700">
            <a:solidFill>
              <a:srgbClr val="10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58368" y="4919472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859536" y="4919472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060704" y="4919472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1371600" y="4846320"/>
            <a:ext cx="101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85800" y="516636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ช่วง dev — sync schema ไว ๆ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 prisma db push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ช่วง production-ready — สร้าง migration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 prisma migrate dev --name init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deploy บน prod (ไม่สร้างไฟล์ใหม่)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 prisma migrate deploy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ดึง schema จาก DB เดิม (reverse)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 prisma db pull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A30"/>
          </a:solidFill>
          <a:ln w="12700">
            <a:solidFill>
              <a:srgbClr val="091A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65760" y="6537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+ SQL Server + Node.js  |  E-commerce Edition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064240" y="65379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13 / 22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22960"/>
            <a:ext cx="12161520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TOOLING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Client · Studio · Seed ข้อมูลเริ่มต้น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35966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280160"/>
            <a:ext cx="91440" cy="2194560"/>
          </a:xfrm>
          <a:prstGeom prst="rect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417320"/>
            <a:ext cx="3276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npx prisma generate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1783080"/>
            <a:ext cx="3276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สร้าง @prisma/client ใหม่ตาม schema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B64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ต้องรันทุกครั้งหลังแก้ model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82440" y="1280160"/>
            <a:ext cx="35966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282440" y="1280160"/>
            <a:ext cx="91440" cy="219456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11040" y="1417320"/>
            <a:ext cx="3276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npx prisma studio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11040" y="1783080"/>
            <a:ext cx="3276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เปิด GUI ที่ localhost:5555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B64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ดู/แก้ข้อมูลในทุกตารางได้ทันที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16240" y="1280160"/>
            <a:ext cx="35966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016240" y="1280160"/>
            <a:ext cx="91440" cy="2194560"/>
          </a:xfrm>
          <a:prstGeom prst="rect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44840" y="1417320"/>
            <a:ext cx="3276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npx prisma db seed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44840" y="1783080"/>
            <a:ext cx="3276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รันไฟล์ prisma/seed.js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B64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ใส่ข้อมูลเริ่มต้นให้ระบบ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611880"/>
            <a:ext cx="11064240" cy="2743200"/>
          </a:xfrm>
          <a:prstGeom prst="rect">
            <a:avLst/>
          </a:prstGeom>
          <a:solidFill>
            <a:srgbClr val="0B1B33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n-US" dirty="0" err="1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</a:t>
            </a:r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/seed.js</a:t>
            </a:r>
            <a:endParaRPr lang="en-US" dirty="0"/>
          </a:p>
          <a:p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{ </a:t>
            </a:r>
            <a:r>
              <a:rPr lang="en-US" dirty="0" err="1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PrismaClient</a:t>
            </a:r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} = require('@</a:t>
            </a:r>
            <a:r>
              <a:rPr lang="en-US" dirty="0" err="1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</a:t>
            </a:r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/client')</a:t>
            </a:r>
            <a:endParaRPr lang="en-US" dirty="0"/>
          </a:p>
          <a:p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</a:t>
            </a:r>
            <a:r>
              <a:rPr lang="en-US" dirty="0" err="1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</a:t>
            </a:r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new </a:t>
            </a:r>
            <a:r>
              <a:rPr lang="en-US" dirty="0" err="1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PrismaClient</a:t>
            </a:r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function main () {</a:t>
            </a:r>
            <a:endParaRPr lang="en-US" dirty="0"/>
          </a:p>
          <a:p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</a:t>
            </a:r>
            <a:r>
              <a:rPr lang="en-US" dirty="0" err="1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prisma.category.createMany</a:t>
            </a:r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</a:t>
            </a:r>
            <a:endParaRPr lang="en-US" dirty="0"/>
          </a:p>
          <a:p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data: [</a:t>
            </a:r>
            <a:endParaRPr lang="en-US" dirty="0"/>
          </a:p>
          <a:p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{ name: 'Electronics', slug: 'electronics' },</a:t>
            </a:r>
            <a:endParaRPr lang="en-US" dirty="0"/>
          </a:p>
          <a:p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{ name: 'Books',       slug: 'books' }</a:t>
            </a:r>
            <a:endParaRPr lang="en-US" dirty="0"/>
          </a:p>
          <a:p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],</a:t>
            </a:r>
            <a:endParaRPr lang="en-US" dirty="0"/>
          </a:p>
          <a:p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dirty="0" err="1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skipDuplicates</a:t>
            </a:r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true</a:t>
            </a:r>
            <a:endParaRPr lang="en-US" dirty="0"/>
          </a:p>
          <a:p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})</a:t>
            </a:r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</a:t>
            </a:r>
            <a:r>
              <a:rPr lang="en-US" dirty="0" err="1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prisma.product.create</a:t>
            </a:r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</a:t>
            </a:r>
            <a:endParaRPr lang="en-US" dirty="0"/>
          </a:p>
          <a:p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data: {</a:t>
            </a:r>
            <a:endParaRPr lang="en-US" dirty="0"/>
          </a:p>
          <a:p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name: 'Keyboard',</a:t>
            </a:r>
            <a:endParaRPr lang="en-US" dirty="0"/>
          </a:p>
          <a:p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price: 1290.00,</a:t>
            </a:r>
            <a:endParaRPr lang="en-US" dirty="0"/>
          </a:p>
          <a:p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stock: 50,</a:t>
            </a:r>
            <a:endParaRPr lang="en-US" dirty="0"/>
          </a:p>
          <a:p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category: { connect: { slug: 'electronics' } }</a:t>
            </a:r>
            <a:endParaRPr lang="en-US" dirty="0"/>
          </a:p>
          <a:p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dirty="0"/>
          </a:p>
          <a:p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})</a:t>
            </a:r>
            <a:endParaRPr lang="en-US" dirty="0"/>
          </a:p>
          <a:p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main()</a:t>
            </a:r>
            <a:endParaRPr lang="en-US" dirty="0"/>
          </a:p>
          <a:p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.catch((e) =&gt; { </a:t>
            </a:r>
            <a:r>
              <a:rPr lang="en-US" dirty="0" err="1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console.error</a:t>
            </a:r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(e); </a:t>
            </a:r>
            <a:r>
              <a:rPr lang="en-US" dirty="0" err="1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process.exit</a:t>
            </a:r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(1) })</a:t>
            </a:r>
            <a:endParaRPr lang="en-US" dirty="0"/>
          </a:p>
          <a:p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.finally(async () =&gt; { await </a:t>
            </a:r>
            <a:r>
              <a:rPr lang="en-US" dirty="0" err="1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</a:t>
            </a:r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.$disconnect() })</a:t>
            </a:r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n-US" dirty="0" err="1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package.json</a:t>
            </a:r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dirty="0"/>
          </a:p>
          <a:p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"</a:t>
            </a:r>
            <a:r>
              <a:rPr lang="en-US" dirty="0" err="1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</a:t>
            </a:r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 { "seed": "node </a:t>
            </a:r>
            <a:r>
              <a:rPr lang="en-US" dirty="0" err="1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</a:t>
            </a:r>
            <a:r>
              <a:rPr lang="en-US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/seed.js" }</a:t>
            </a:r>
            <a:endParaRPr lang="en-US" dirty="0"/>
          </a:p>
          <a:p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548640" y="3611880"/>
            <a:ext cx="11064240" cy="256032"/>
          </a:xfrm>
          <a:prstGeom prst="rect">
            <a:avLst/>
          </a:prstGeom>
          <a:solidFill>
            <a:srgbClr val="102A4A"/>
          </a:solidFill>
          <a:ln w="12700">
            <a:solidFill>
              <a:srgbClr val="10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58368" y="3685032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59536" y="3685032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060704" y="3685032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371600" y="3611880"/>
            <a:ext cx="101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prisma/seed.js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85800" y="3931920"/>
            <a:ext cx="107899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A30"/>
          </a:solidFill>
          <a:ln w="12700">
            <a:solidFill>
              <a:srgbClr val="091A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65760" y="6537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+ SQL Server + Node.js  |  E-commerce Edition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064240" y="65379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14 / 22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D8D530-7A70-C7B8-06FF-05C315A18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682FE58-AA0A-EB09-6C25-8091EC8300E2}"/>
              </a:ext>
            </a:extLst>
          </p:cNvPr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BBEE667-A0D3-3BB4-EB48-C5C39ED72B97}"/>
              </a:ext>
            </a:extLst>
          </p:cNvPr>
          <p:cNvSpPr/>
          <p:nvPr/>
        </p:nvSpPr>
        <p:spPr>
          <a:xfrm>
            <a:off x="0" y="822960"/>
            <a:ext cx="12161520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C1C52EA-5213-2D18-64DB-C1F25EB99423}"/>
              </a:ext>
            </a:extLst>
          </p:cNvPr>
          <p:cNvSpPr/>
          <p:nvPr/>
        </p:nvSpPr>
        <p:spPr>
          <a:xfrm>
            <a:off x="4572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TOOLING</a:t>
            </a:r>
            <a:endParaRPr lang="en-US" sz="1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F340296-8680-56B7-E587-09C9F20A0004}"/>
              </a:ext>
            </a:extLst>
          </p:cNvPr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Client · Studio · Seed ข้อมูลเริ่มต้น</a:t>
            </a:r>
            <a:endParaRPr lang="en-US" sz="24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0EB5BA58-8951-F945-9363-EF371F1AB82A}"/>
              </a:ext>
            </a:extLst>
          </p:cNvPr>
          <p:cNvSpPr/>
          <p:nvPr/>
        </p:nvSpPr>
        <p:spPr>
          <a:xfrm>
            <a:off x="548640" y="877824"/>
            <a:ext cx="11064240" cy="5477256"/>
          </a:xfrm>
          <a:prstGeom prst="rect">
            <a:avLst/>
          </a:prstGeom>
          <a:solidFill>
            <a:srgbClr val="0B1B33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 sz="1050" dirty="0">
              <a:solidFill>
                <a:srgbClr val="E6F0FF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endParaRPr lang="en-US" sz="1050" dirty="0">
              <a:solidFill>
                <a:srgbClr val="E6F0FF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n-US" sz="1050" dirty="0" err="1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</a:t>
            </a:r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/seed.js</a:t>
            </a:r>
            <a:endParaRPr lang="en-US" sz="1050" dirty="0"/>
          </a:p>
          <a:p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{ </a:t>
            </a:r>
            <a:r>
              <a:rPr lang="en-US" sz="1050" dirty="0" err="1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PrismaClient</a:t>
            </a:r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} = require('@</a:t>
            </a:r>
            <a:r>
              <a:rPr lang="en-US" sz="1050" dirty="0" err="1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</a:t>
            </a:r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/client')</a:t>
            </a:r>
            <a:endParaRPr lang="en-US" sz="1050" dirty="0"/>
          </a:p>
          <a:p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</a:t>
            </a:r>
            <a:r>
              <a:rPr lang="en-US" sz="1050" dirty="0" err="1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</a:t>
            </a:r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new </a:t>
            </a:r>
            <a:r>
              <a:rPr lang="en-US" sz="1050" dirty="0" err="1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PrismaClient</a:t>
            </a:r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function main () {</a:t>
            </a:r>
            <a:endParaRPr lang="en-US" sz="1050" dirty="0"/>
          </a:p>
          <a:p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</a:t>
            </a:r>
            <a:r>
              <a:rPr lang="en-US" sz="1050" dirty="0" err="1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prisma.category.createMany</a:t>
            </a:r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</a:t>
            </a:r>
            <a:endParaRPr lang="en-US" sz="1050" dirty="0"/>
          </a:p>
          <a:p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data: [</a:t>
            </a:r>
            <a:endParaRPr lang="en-US" sz="1050" dirty="0"/>
          </a:p>
          <a:p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{ name: 'Electronics', slug: 'electronics' },</a:t>
            </a:r>
            <a:endParaRPr lang="en-US" sz="1050" dirty="0"/>
          </a:p>
          <a:p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{ name: 'Books',       slug: 'books' }</a:t>
            </a:r>
            <a:endParaRPr lang="en-US" sz="1050" dirty="0"/>
          </a:p>
          <a:p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],</a:t>
            </a:r>
            <a:endParaRPr lang="en-US" sz="1050" dirty="0"/>
          </a:p>
          <a:p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50" dirty="0" err="1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skipDuplicates</a:t>
            </a:r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true</a:t>
            </a:r>
            <a:endParaRPr lang="en-US" sz="1050" dirty="0"/>
          </a:p>
          <a:p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})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</a:t>
            </a:r>
            <a:r>
              <a:rPr lang="en-US" sz="1050" dirty="0" err="1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prisma.product.create</a:t>
            </a:r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</a:t>
            </a:r>
            <a:endParaRPr lang="en-US" sz="1050" dirty="0"/>
          </a:p>
          <a:p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data: {</a:t>
            </a:r>
            <a:endParaRPr lang="en-US" sz="1050" dirty="0"/>
          </a:p>
          <a:p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name: 'Keyboard',</a:t>
            </a:r>
            <a:endParaRPr lang="en-US" sz="1050" dirty="0"/>
          </a:p>
          <a:p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price: 1290.00,</a:t>
            </a:r>
            <a:endParaRPr lang="en-US" sz="1050" dirty="0"/>
          </a:p>
          <a:p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stock: 50,</a:t>
            </a:r>
            <a:endParaRPr lang="en-US" sz="1050" dirty="0"/>
          </a:p>
          <a:p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category: { connect: { slug: 'electronics' } }</a:t>
            </a:r>
            <a:endParaRPr lang="en-US" sz="1050" dirty="0"/>
          </a:p>
          <a:p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50" dirty="0"/>
          </a:p>
          <a:p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})</a:t>
            </a:r>
            <a:endParaRPr lang="en-US" sz="1050" dirty="0"/>
          </a:p>
          <a:p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main()</a:t>
            </a:r>
            <a:endParaRPr lang="en-US" sz="1050" dirty="0"/>
          </a:p>
          <a:p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.catch((e) =&gt; { </a:t>
            </a:r>
            <a:r>
              <a:rPr lang="en-US" sz="1050" dirty="0" err="1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console.error</a:t>
            </a:r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(e); </a:t>
            </a:r>
            <a:r>
              <a:rPr lang="en-US" sz="1050" dirty="0" err="1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process.exit</a:t>
            </a:r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(1) })</a:t>
            </a:r>
            <a:endParaRPr lang="en-US" sz="1050" dirty="0"/>
          </a:p>
          <a:p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.finally(async () =&gt; { await </a:t>
            </a:r>
            <a:r>
              <a:rPr lang="en-US" sz="1050" dirty="0" err="1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</a:t>
            </a:r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.$disconnect() })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n-US" sz="1050" dirty="0" err="1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package.json</a:t>
            </a:r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050" dirty="0"/>
          </a:p>
          <a:p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"</a:t>
            </a:r>
            <a:r>
              <a:rPr lang="en-US" sz="1050" dirty="0" err="1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</a:t>
            </a:r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 { "seed": "node </a:t>
            </a:r>
            <a:r>
              <a:rPr lang="en-US" sz="1050" dirty="0" err="1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</a:t>
            </a:r>
            <a:r>
              <a:rPr lang="en-US" sz="10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/seed.js" }</a:t>
            </a:r>
            <a:endParaRPr lang="en-US" sz="1050" dirty="0"/>
          </a:p>
          <a:p>
            <a:endParaRPr lang="en-US" sz="105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7D6F812F-6B80-C7C6-0F86-5DFED653366B}"/>
              </a:ext>
            </a:extLst>
          </p:cNvPr>
          <p:cNvSpPr/>
          <p:nvPr/>
        </p:nvSpPr>
        <p:spPr>
          <a:xfrm>
            <a:off x="548640" y="886968"/>
            <a:ext cx="11064240" cy="256032"/>
          </a:xfrm>
          <a:prstGeom prst="rect">
            <a:avLst/>
          </a:prstGeom>
          <a:solidFill>
            <a:srgbClr val="102A4A"/>
          </a:solidFill>
          <a:ln w="12700">
            <a:solidFill>
              <a:srgbClr val="10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487D9D39-B639-079F-9B0F-D389C3DA249B}"/>
              </a:ext>
            </a:extLst>
          </p:cNvPr>
          <p:cNvSpPr/>
          <p:nvPr/>
        </p:nvSpPr>
        <p:spPr>
          <a:xfrm>
            <a:off x="658368" y="960120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FE4FCAE7-2B10-80DC-4206-7BFFA9D9F491}"/>
              </a:ext>
            </a:extLst>
          </p:cNvPr>
          <p:cNvSpPr/>
          <p:nvPr/>
        </p:nvSpPr>
        <p:spPr>
          <a:xfrm>
            <a:off x="859536" y="960120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41F4B976-F5C8-06B1-9D58-A511E0E9D00D}"/>
              </a:ext>
            </a:extLst>
          </p:cNvPr>
          <p:cNvSpPr/>
          <p:nvPr/>
        </p:nvSpPr>
        <p:spPr>
          <a:xfrm>
            <a:off x="1060704" y="960120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5B27918-0552-5138-4CED-33B6EFD6B33E}"/>
              </a:ext>
            </a:extLst>
          </p:cNvPr>
          <p:cNvSpPr/>
          <p:nvPr/>
        </p:nvSpPr>
        <p:spPr>
          <a:xfrm>
            <a:off x="1371600" y="886968"/>
            <a:ext cx="101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prisma/seed.js</a:t>
            </a:r>
            <a:endParaRPr lang="en-US" sz="9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BBA2FBEB-4B7C-9E22-F541-8BCC0F9D00FA}"/>
              </a:ext>
            </a:extLst>
          </p:cNvPr>
          <p:cNvSpPr/>
          <p:nvPr/>
        </p:nvSpPr>
        <p:spPr>
          <a:xfrm>
            <a:off x="685800" y="3931920"/>
            <a:ext cx="107899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BFCF3791-681D-7FD7-5921-D4D11A701508}"/>
              </a:ext>
            </a:extLst>
          </p:cNvPr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A30"/>
          </a:solidFill>
          <a:ln w="12700">
            <a:solidFill>
              <a:srgbClr val="091A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0E48C5C5-1562-362D-6081-3FB2040E8F78}"/>
              </a:ext>
            </a:extLst>
          </p:cNvPr>
          <p:cNvSpPr/>
          <p:nvPr/>
        </p:nvSpPr>
        <p:spPr>
          <a:xfrm>
            <a:off x="365760" y="6537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+ SQL Server + Node.js  |  E-commerce Edition</a:t>
            </a:r>
            <a:endParaRPr lang="en-US" sz="9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E6DFD75B-926A-F46C-FA2A-39321D5FC102}"/>
              </a:ext>
            </a:extLst>
          </p:cNvPr>
          <p:cNvSpPr/>
          <p:nvPr/>
        </p:nvSpPr>
        <p:spPr>
          <a:xfrm>
            <a:off x="11064240" y="65379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14 / 22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6535272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22960"/>
            <a:ext cx="12161520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INTEGRATION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เชื่อม Prisma Client กับ Express App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5394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สร้างไฟล์ prisma.js เพื่อ export PrismaClient 1 instance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ป้องกันการ instance ใหม่ทุกครั้งที่ hot-reload ใน dev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ใน server.js เรียกใช้ express + routes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แยกโฟลเดอร์: routes / controllers / services ชัดเจน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routes รู้จัก HTTP method, controller จัดการ req/res, service คุย DB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5394960" cy="2331720"/>
          </a:xfrm>
          <a:prstGeom prst="rect">
            <a:avLst/>
          </a:prstGeom>
          <a:solidFill>
            <a:srgbClr val="F4F6FA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4114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โครงสร้างโปรเจกต์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4434840"/>
            <a:ext cx="5074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ecommerce-api/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prisma/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 schema.prisma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 seed.js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src/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 prisma.js          ← shared PrismaClient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 routes/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└─ productRoutes.js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 controllers/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└─ productController.js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 services/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└─ productService.js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server.js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 .env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35040" y="1188720"/>
            <a:ext cx="5669280" cy="5212080"/>
          </a:xfrm>
          <a:prstGeom prst="rect">
            <a:avLst/>
          </a:prstGeom>
          <a:solidFill>
            <a:srgbClr val="0B1B33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035040" y="1188720"/>
            <a:ext cx="5669280" cy="256032"/>
          </a:xfrm>
          <a:prstGeom prst="rect">
            <a:avLst/>
          </a:prstGeom>
          <a:solidFill>
            <a:srgbClr val="102A4A"/>
          </a:solidFill>
          <a:ln w="12700">
            <a:solidFill>
              <a:srgbClr val="10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144768" y="1261872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345936" y="1261872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547104" y="1261872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858000" y="118872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src/prisma.js + server.js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172200" y="1508760"/>
            <a:ext cx="5394960" cy="480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src/prisma.js  (reusable client)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{ PrismaClient } = require('@prisma/client')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prisma = global.__prisma || new PrismaClient({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log: ['warn', 'error']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(process.env.NODE_ENV !== 'production')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global.__prisma = prisma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module.exports = prisma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server.js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express = require('express')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productRoutes = require('./src/routes/productRoutes')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app = express()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app.use(express.json())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app.use('/api/products', productRoutes)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PORT = process.env.PORT || 3000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app.listen(PORT, () =&gt;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console.log('API ready on ' + PORT))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A30"/>
          </a:solidFill>
          <a:ln w="12700">
            <a:solidFill>
              <a:srgbClr val="091A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65760" y="6537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+ SQL Server + Node.js  |  E-commerce Edition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64240" y="65379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 / 22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22960"/>
            <a:ext cx="12161520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CRUD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CRUD Product: Service Layer + Controller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Service = คุยกับ Prisma, ไม่รู้เรื่อง req/res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Controller = รับ req, validate, เรียก service, ตอบ res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create / findMany / findUnique / update / delete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 where, select, include ได้ในทุก query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return ข้อมูลเฉพาะที่จำเป็น เพื่อ performance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291840"/>
            <a:ext cx="5669280" cy="3108960"/>
          </a:xfrm>
          <a:prstGeom prst="rect">
            <a:avLst/>
          </a:prstGeom>
          <a:solidFill>
            <a:srgbClr val="0B1B33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5669280" cy="256032"/>
          </a:xfrm>
          <a:prstGeom prst="rect">
            <a:avLst/>
          </a:prstGeom>
          <a:solidFill>
            <a:srgbClr val="102A4A"/>
          </a:solidFill>
          <a:ln w="12700">
            <a:solidFill>
              <a:srgbClr val="10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58368" y="3364992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59536" y="3364992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060704" y="3364992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371600" y="32918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services/productService.js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85800" y="3611880"/>
            <a:ext cx="53949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services/productService.js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prisma = require('../prisma')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exports.list   = () =&gt; prisma.product.findMany({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include: { category: true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exports.getById = (id) =&gt; prisma.product.findUnique({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where: { id: Number(id)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exports.create = (data) =&gt; prisma.product.create({ data })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exports.updateStock = (id, stock) =&gt;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prisma.product.update({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where: { id: Number(id) },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data:  { stock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exports.remove = (id) =&gt;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prisma.product.delete({ where: { id: Number(id) } })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1188720"/>
            <a:ext cx="5394960" cy="5212080"/>
          </a:xfrm>
          <a:prstGeom prst="rect">
            <a:avLst/>
          </a:prstGeom>
          <a:solidFill>
            <a:srgbClr val="0B1B33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309360" y="1188720"/>
            <a:ext cx="5394960" cy="256032"/>
          </a:xfrm>
          <a:prstGeom prst="rect">
            <a:avLst/>
          </a:prstGeom>
          <a:solidFill>
            <a:srgbClr val="102A4A"/>
          </a:solidFill>
          <a:ln w="12700">
            <a:solidFill>
              <a:srgbClr val="10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419088" y="1261872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620256" y="1261872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821424" y="1261872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132320" y="118872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controllers + routes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46520" y="1508760"/>
            <a:ext cx="5120640" cy="480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controllers/productController.js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service = require('../services/productService')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exports.list = async (req, res) =&gt;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items = await service.list()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res.json(items)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exports.create = async (req, res) =&gt;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try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p = await service.create(req.body)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res.status(201).json(p)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 catch (err)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res.status(400).json({ message: err.message })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routes/productRoutes.js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router = require('express').Router()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c = require('../controllers/productController')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router.get('/',    c.list)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router.post('/',   c.create)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router.patch('/:id/stock', c.updateStock)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router.delete('/:id',      c.remove)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module.exports = router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A30"/>
          </a:solidFill>
          <a:ln w="12700">
            <a:solidFill>
              <a:srgbClr val="091A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65760" y="6537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+ SQL Server + Node.js  |  E-commerce Edition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064240" y="65379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16 / 22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22960"/>
            <a:ext cx="12161520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RELATION QUERY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Relation Query: Order พร้อม OrderItems และ User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5394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include ดึง relation มาด้วย (JOIN)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select เลือกเฉพาะ column ที่ต้องการ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nested include ซ้อนได้หลายชั้น เช่น items.product.category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หลีกเลี่ยงการ include ทุกอย่าง → ดึงเฉพาะที่ใช้จริง (ประหยัด bandwidth)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 orderBy ได้ในทั้ง parent และ relation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4526280"/>
            <a:ext cx="5394960" cy="1874520"/>
          </a:xfrm>
          <a:prstGeom prst="rect">
            <a:avLst/>
          </a:prstGeom>
          <a:solidFill>
            <a:srgbClr val="F4F6FA"/>
          </a:solidFill>
          <a:ln w="12700">
            <a:solidFill>
              <a:srgbClr val="D6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4572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JSON response (ย่อ)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4846320"/>
            <a:ext cx="50749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"id": 101, "total": 2580.00, "status": "PAID",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"user":  { "id": 3, "email": "a@x.com" },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"items": [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"quantity": 2, "product": { "name": "Keyboard" } },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"quantity": 1, "product": { "name": "Mouse" }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"payment": { "method": "CREDIT_CARD", "amount": 2580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27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35040" y="1188720"/>
            <a:ext cx="5669280" cy="5212080"/>
          </a:xfrm>
          <a:prstGeom prst="rect">
            <a:avLst/>
          </a:prstGeom>
          <a:solidFill>
            <a:srgbClr val="0B1B33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035040" y="1188720"/>
            <a:ext cx="5669280" cy="256032"/>
          </a:xfrm>
          <a:prstGeom prst="rect">
            <a:avLst/>
          </a:prstGeom>
          <a:solidFill>
            <a:srgbClr val="102A4A"/>
          </a:solidFill>
          <a:ln w="12700">
            <a:solidFill>
              <a:srgbClr val="10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144768" y="1261872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345936" y="1261872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547104" y="1261872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858000" y="118872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services/orderService.js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172200" y="1508760"/>
            <a:ext cx="5394960" cy="480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services/orderService.js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prisma = require('../prisma')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exports.getOrderDetail = (id) =&gt;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prisma.order.findUnique({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where: { id: Number(id) },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include: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user:    { select: { id: true, email: true, name: true } },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items:  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include: { product: { select: { name: true, price: true } } },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orderBy: { id: 'asc'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payment: true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exports.listOrdersByUser = (userId) =&gt;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prisma.order.findMany({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where: { userId: Number(userId) },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orderBy: { createdAt: 'desc' },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include: { items: true, payment: true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A30"/>
          </a:solidFill>
          <a:ln w="12700">
            <a:solidFill>
              <a:srgbClr val="091A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65760" y="6537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+ SQL Server + Node.js  |  E-commerce Edition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64240" y="65379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17 / 22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22960"/>
            <a:ext cx="12161520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QUERY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Filtering, Sorting, Pagination, Search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53949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where: เงื่อนไขกรอง เช่น equals, gt, lt, contains, in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orderBy: จัดเรียงได้หลาย field เช่น [{price:'asc'},{id:'desc'}]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skip + take: pagination มาตรฐาน (offset + limit)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cursor: pagination แบบ cursor-based สำหรับ data จำนวนมาก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contains + mode: 'insensitive' ใช้ค้นหาแบบไม่สนตัวพิมพ์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combine AND / OR ได้ เช่น { AND: [ ... ], OR: [ ... ] 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35040" y="1188720"/>
            <a:ext cx="5669280" cy="5212080"/>
          </a:xfrm>
          <a:prstGeom prst="rect">
            <a:avLst/>
          </a:prstGeom>
          <a:solidFill>
            <a:srgbClr val="0B1B33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035040" y="1188720"/>
            <a:ext cx="5669280" cy="256032"/>
          </a:xfrm>
          <a:prstGeom prst="rect">
            <a:avLst/>
          </a:prstGeom>
          <a:solidFill>
            <a:srgbClr val="102A4A"/>
          </a:solidFill>
          <a:ln w="12700">
            <a:solidFill>
              <a:srgbClr val="10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144768" y="1261872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345936" y="1261872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547104" y="1261872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858000" y="118872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services/productService.js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172200" y="1508760"/>
            <a:ext cx="5394960" cy="480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services/productService.js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exports.search = async ({ q, categoryId, minPrice,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maxPrice, sort='desc', page=1, size=10 }) =&gt;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where =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AND: [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q          ? { name: { contains: q } }       : {},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categoryId ? { categoryId: Number(categoryId) } : {},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minPrice   ? { price: { gte: Number(minPrice) } } : {},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maxPrice   ? { price: { lte: Number(maxPrice) } } : {},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{ deletedAt: null }          // soft-delete filter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[total, items] = await Promise.all([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prisma.product.count({ where }),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prisma.product.findMany({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where,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orderBy: { price: sort },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skip: (page - 1) * size,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take: Number(size),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select: { id: true, name: true, price: true, stock: true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{ total, page, size,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pages: Math.ceil(total / size), items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A30"/>
          </a:solidFill>
          <a:ln w="12700">
            <a:solidFill>
              <a:srgbClr val="091A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65760" y="6537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+ SQL Server + Node.js  |  E-commerce Edition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064240" y="65379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18 / 22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22960"/>
            <a:ext cx="12161520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TRANSACTION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Transaction: ขั้นตอนการสั่งซื้อที่ปลอดภัย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5394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prisma.$transaction([...]) รวมหลาย operation เป็นหน่วยเดียว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หรือใช้แบบ interactive: $transaction(async (tx) =&gt; {...})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ถ้าขั้นตอนใด throw → rollback ทั้งหมดอัตโนมัติ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เหมาะสำหรับ: สร้าง Order + ลด stock + บันทึก Payment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ตรวจ stock ก่อน; ถ้าไม่พอให้ throw → ไม่หัก stock, ไม่สร้าง payment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4983480"/>
            <a:ext cx="5394960" cy="1417320"/>
          </a:xfrm>
          <a:prstGeom prst="rect">
            <a:avLst/>
          </a:prstGeom>
          <a:solidFill>
            <a:srgbClr val="FFF7E6"/>
          </a:solidFill>
          <a:ln w="12700">
            <a:solidFill>
              <a:srgbClr val="FFB0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5029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35C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ข้อควรระวัง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534924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F274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อย่าตรวจ stock นอก transaction แล้วค่อยหักใน transaction — อาจเกิด race condition ควรตรวจ + หัก ภายใน block เดียวกัน และพิจารณา isolation level: Serializable สำหรับระบบที่ต้องแม่นยำสูง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188720"/>
            <a:ext cx="5669280" cy="5212080"/>
          </a:xfrm>
          <a:prstGeom prst="rect">
            <a:avLst/>
          </a:prstGeom>
          <a:solidFill>
            <a:srgbClr val="0B1B33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035040" y="1188720"/>
            <a:ext cx="5669280" cy="256032"/>
          </a:xfrm>
          <a:prstGeom prst="rect">
            <a:avLst/>
          </a:prstGeom>
          <a:solidFill>
            <a:srgbClr val="102A4A"/>
          </a:solidFill>
          <a:ln w="12700">
            <a:solidFill>
              <a:srgbClr val="10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144768" y="1261872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345936" y="1261872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547104" y="1261872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858000" y="118872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services/orderService.js — $transaction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172200" y="1508760"/>
            <a:ext cx="5394960" cy="480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services/orderService.js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exports.createOrder = async (userId, items) =&gt;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prisma.$transaction(async (tx) =&gt;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1) ตรวจ + หัก stock ทีละ item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let total = 0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(const it of items)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const p = await tx.product.findUnique({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where: { id: it.productId 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if (!p || p.stock &lt; it.quantity)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throw new Error('Out of stock: ' + it.productId)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total += Number(p.price) * it.quantity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await tx.product.update({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where: { id: it.productId },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data:  { stock: { decrement: it.quantity } 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2) สร้าง order + items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order = await tx.order.create({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data: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userId, total, status: 'PENDING',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items: { create: items.map(i =&gt; ({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productId: i.productId,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quantity:  i.quantity,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price:     i.price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}))}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include: { items: true 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3) บันทึก payment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await tx.payment.create({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data: { orderId: order.id, method: 'CREDIT_CARD',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amount: total 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order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A30"/>
          </a:solidFill>
          <a:ln w="12700">
            <a:solidFill>
              <a:srgbClr val="091A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65760" y="6537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+ SQL Server + Node.js  |  E-commerce Edition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64240" y="65379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19 / 22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22960"/>
            <a:ext cx="12161520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QUALITY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Validation และ Error Handling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53949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Validate ก่อนเข้าสู่ service เสมอ (Zod / Joi / express-validator)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ตรวจชนิด, required, ความยาว, format (email, uuid)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 try/catch รอบ service call แล้ว map error → HTTP status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throw PrismaClientKnownRequestError พร้อม code (P2002, P2025)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P2002 = unique violation, P2025 = not found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สร้าง central error middleware สำหรับรวม error ทั้งแอป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35040" y="1188720"/>
            <a:ext cx="5669280" cy="5212080"/>
          </a:xfrm>
          <a:prstGeom prst="rect">
            <a:avLst/>
          </a:prstGeom>
          <a:solidFill>
            <a:srgbClr val="0B1B33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035040" y="1188720"/>
            <a:ext cx="5669280" cy="256032"/>
          </a:xfrm>
          <a:prstGeom prst="rect">
            <a:avLst/>
          </a:prstGeom>
          <a:solidFill>
            <a:srgbClr val="102A4A"/>
          </a:solidFill>
          <a:ln w="12700">
            <a:solidFill>
              <a:srgbClr val="10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144768" y="1261872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345936" y="1261872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547104" y="1261872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858000" y="118872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 + validation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172200" y="1508760"/>
            <a:ext cx="5394960" cy="480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middlewares/errorHandler.js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{ Prisma } = require('@prisma/client')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module.exports = (err, req, res, next) =&gt;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console.error(err)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(err instanceof Prisma.PrismaClientKnownRequestError)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(err.code === 'P2002')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res.status(409).json({ message: 'Duplicate field' })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(err.code === 'P2025')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res.status(404).json({ message: 'Not found' })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res.status(500).json({ message: 'Internal server error' })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controllers/productController.js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{ z } = require('zod')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schema = z.object({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 z.string().min(1),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price: z.number().positive(),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stock: z.number().int().min(0),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categoryId: z.number().int()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exports.create = async (req, res, next) =&gt;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try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data = schema.parse(req.body)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p = await service.create(data)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res.status(201).json(p)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 catch (err) { next(err)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6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A30"/>
          </a:solidFill>
          <a:ln w="12700">
            <a:solidFill>
              <a:srgbClr val="091A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65760" y="6537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+ SQL Server + Node.js  |  E-commerce Edition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064240" y="65379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 / 22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0F2747"/>
          </a:solidFill>
          <a:ln w="12700">
            <a:solidFill>
              <a:srgbClr val="0F2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22960"/>
            <a:ext cx="12161520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PRODUCTION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92608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Best Practices &amp; Common Mistakes สำหรับ Production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5577840" cy="5212080"/>
          </a:xfrm>
          <a:prstGeom prst="rect">
            <a:avLst/>
          </a:prstGeom>
          <a:solidFill>
            <a:srgbClr val="FFFFFF"/>
          </a:solidFill>
          <a:ln w="25400">
            <a:solidFill>
              <a:srgbClr val="2E8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5577840" cy="457200"/>
          </a:xfrm>
          <a:prstGeom prst="rect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 Do — Best Practices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1783080"/>
            <a:ext cx="516636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 PrismaClient single instance ทั้งแอป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แยก routes / controllers / services / prisma.js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Migrate ทุกครั้ง (อย่าใช้ db push บน prod)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 Decimal เก็บเงิน อย่าใช้ Float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 transaction กับงานที่ต้องปรับหลายตาราง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Validate input ก่อนเข้าสู่ Prisma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เพิ่ม @@index สำหรับ field ที่ query บ่อย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Soft delete ด้วย deletedAt แทน hard delete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เปิด log: ['warn','error'] + APM monitoring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ตั้ง connection_limit ใน DATABASE_URL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1188720"/>
            <a:ext cx="5394960" cy="5212080"/>
          </a:xfrm>
          <a:prstGeom prst="rect">
            <a:avLst/>
          </a:prstGeom>
          <a:solidFill>
            <a:srgbClr val="FFFFFF"/>
          </a:solidFill>
          <a:ln w="25400">
            <a:solidFill>
              <a:srgbClr val="E052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309360" y="1188720"/>
            <a:ext cx="5394960" cy="457200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309360" y="11887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 Don't — Common Mistakes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1783080"/>
            <a:ext cx="498348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new PrismaClient() ทุก request → connection leak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query DB ตรงจาก controller → ทดสอบยาก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ลืมรัน prisma generate หลังแก้ schema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 include ลึกเกินไป → query ช้า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ไม่ใช้ transaction ตอนหัก stock + สร้าง order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เก็บ password แบบ plain text (ต้อง hash ด้วย bcrypt)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commit ไฟล์ .env ขึ้น git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ไม่จัดการ error → ตอบ 500 ทุกกรณี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 Float เก็บเงิน → ราคาผิดเพราะ rounding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1A2A4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 db push บน production → รัน migration ล้ม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91A30"/>
          </a:solidFill>
          <a:ln w="12700">
            <a:solidFill>
              <a:srgbClr val="091A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65760" y="6537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Prisma + SQL Server + Node.js  |  E-commerce Edition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064240" y="65379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21 / 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91A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1828800" y="3657600"/>
            <a:ext cx="4572000" cy="4572000"/>
          </a:xfrm>
          <a:prstGeom prst="ellipse">
            <a:avLst/>
          </a:prstGeom>
          <a:solidFill>
            <a:srgbClr val="2E86DE">
              <a:alpha val="25000"/>
            </a:srgbClr>
          </a:solidFill>
          <a:ln w="12700">
            <a:solidFill>
              <a:srgbClr val="2E86DE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SUMMARY &amp; NEXT STEPS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สรุปและก้าวต่อไป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5394960" cy="1371600"/>
          </a:xfrm>
          <a:prstGeom prst="rect">
            <a:avLst/>
          </a:prstGeom>
          <a:solidFill>
            <a:srgbClr val="13284C"/>
          </a:solidFill>
          <a:ln w="12700">
            <a:solidFill>
              <a:srgbClr val="2E8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40080" y="2011680"/>
            <a:ext cx="822960" cy="137160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822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91A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00200" y="21488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เข้าใจ Prisma + SQL Server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00200" y="26060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schema.prisma, Provider sqlserver, Prisma Client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2011680"/>
            <a:ext cx="5394960" cy="1371600"/>
          </a:xfrm>
          <a:prstGeom prst="rect">
            <a:avLst/>
          </a:prstGeom>
          <a:solidFill>
            <a:srgbClr val="13284C"/>
          </a:solidFill>
          <a:ln w="12700">
            <a:solidFill>
              <a:srgbClr val="2E8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309360" y="2011680"/>
            <a:ext cx="822960" cy="137160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309360" y="2011680"/>
            <a:ext cx="822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91A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269480" y="21488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ออกแบบ DB ได้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269480" y="26060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Model, Relation 1:1 / 1:N, @@index, Decimal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5394960" cy="1371600"/>
          </a:xfrm>
          <a:prstGeom prst="rect">
            <a:avLst/>
          </a:prstGeom>
          <a:solidFill>
            <a:srgbClr val="13284C"/>
          </a:solidFill>
          <a:ln w="12700">
            <a:solidFill>
              <a:srgbClr val="2E8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822960" cy="137160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" y="3566160"/>
            <a:ext cx="822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91A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600200" y="37033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สร้าง API จริงได้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600200" y="416052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Express + routes/controllers/services + CRUD + pagination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309360" y="3566160"/>
            <a:ext cx="5394960" cy="1371600"/>
          </a:xfrm>
          <a:prstGeom prst="rect">
            <a:avLst/>
          </a:prstGeom>
          <a:solidFill>
            <a:srgbClr val="13284C"/>
          </a:solidFill>
          <a:ln w="12700">
            <a:solidFill>
              <a:srgbClr val="2E86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309360" y="3566160"/>
            <a:ext cx="822960" cy="137160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309360" y="3566160"/>
            <a:ext cx="822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91A3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269480" y="37033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คุม data ถูกต้อง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269480" y="416052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B8C6D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$transaction, validation, error handling, best practices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5303520"/>
            <a:ext cx="11064240" cy="1051560"/>
          </a:xfrm>
          <a:prstGeom prst="rect">
            <a:avLst/>
          </a:prstGeom>
          <a:solidFill>
            <a:srgbClr val="102A4A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2960" y="5349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Next Steps: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22960" y="56692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FE3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① ทำ Workshop — สร้าง E-commerce API ของตัวเอง    ② เพิ่ม auth ด้วย JWT    ③ ทำ Docker + CI/CD    ④ เพิ่ม unit/integration test (Jest + supertest)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6400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22D3E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ขอบคุณที่ติดตามจนจบ — Happy coding! 🎯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59</TotalTime>
  <Words>5374</Words>
  <Application>Microsoft Office PowerPoint</Application>
  <PresentationFormat>Widescreen</PresentationFormat>
  <Paragraphs>780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Consolas</vt:lpstr>
      <vt:lpstr>Tahoma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D1I2 Jirayu S.Kaw</cp:lastModifiedBy>
  <cp:revision>5</cp:revision>
  <dcterms:created xsi:type="dcterms:W3CDTF">2026-04-24T08:45:21Z</dcterms:created>
  <dcterms:modified xsi:type="dcterms:W3CDTF">2026-04-27T06:36:34Z</dcterms:modified>
</cp:coreProperties>
</file>