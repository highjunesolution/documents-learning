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421E04-A782-D386-ED3F-CA0530C56F17}" v="2" dt="2026-04-24T07:54:37.8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1I2 Jirayu S.Kaw" userId="S::300260129@th.maxxis.com::f59d7631-84c6-4c5a-a848-622dc00af3ab" providerId="AD" clId="Web-{6F421E04-A782-D386-ED3F-CA0530C56F17}"/>
    <pc:docChg chg="mod addSld delSld modSld addMainMaster delMainMaster modNotesMaster setSldSz">
      <pc:chgData name="D1I2 Jirayu S.Kaw" userId="S::300260129@th.maxxis.com::f59d7631-84c6-4c5a-a848-622dc00af3ab" providerId="AD" clId="Web-{6F421E04-A782-D386-ED3F-CA0530C56F17}" dt="2026-04-24T07:54:37.882" v="1"/>
      <pc:docMkLst>
        <pc:docMk/>
      </pc:docMkLst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56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57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58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59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60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61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62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63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64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65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66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67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68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69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70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71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72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73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74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75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76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77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78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79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80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81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82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83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84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85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86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87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88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89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90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91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92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93"/>
        </pc:sldMkLst>
      </pc:sldChg>
      <pc:sldChg chg="ad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0" sldId="294"/>
        </pc:sldMkLst>
      </pc:sldChg>
      <pc:sldChg chg="del replId">
        <pc:chgData name="D1I2 Jirayu S.Kaw" userId="S::300260129@th.maxxis.com::f59d7631-84c6-4c5a-a848-622dc00af3ab" providerId="AD" clId="Web-{6F421E04-A782-D386-ED3F-CA0530C56F17}" dt="2026-04-24T07:54:37.882" v="1"/>
        <pc:sldMkLst>
          <pc:docMk/>
          <pc:sldMk cId="109857222" sldId="295"/>
        </pc:sldMkLst>
      </pc:sldChg>
      <pc:sldMasterChg chg="add addSldLayout">
        <pc:chgData name="D1I2 Jirayu S.Kaw" userId="S::300260129@th.maxxis.com::f59d7631-84c6-4c5a-a848-622dc00af3ab" providerId="AD" clId="Web-{6F421E04-A782-D386-ED3F-CA0530C56F17}" dt="2026-04-24T07:54:37.882" v="1"/>
        <pc:sldMasterMkLst>
          <pc:docMk/>
          <pc:sldMasterMk cId="0" sldId="2147483648"/>
        </pc:sldMasterMkLst>
        <pc:sldLayoutChg chg="add">
          <pc:chgData name="D1I2 Jirayu S.Kaw" userId="S::300260129@th.maxxis.com::f59d7631-84c6-4c5a-a848-622dc00af3ab" providerId="AD" clId="Web-{6F421E04-A782-D386-ED3F-CA0530C56F17}" dt="2026-04-24T07:54:37.882" v="1"/>
          <pc:sldLayoutMkLst>
            <pc:docMk/>
            <pc:sldMasterMk cId="0" sldId="2147483648"/>
            <pc:sldLayoutMk cId="0" sldId="2147483649"/>
          </pc:sldLayoutMkLst>
        </pc:sldLayoutChg>
      </pc:sldMasterChg>
      <pc:sldMasterChg chg="del delSldLayout">
        <pc:chgData name="D1I2 Jirayu S.Kaw" userId="S::300260129@th.maxxis.com::f59d7631-84c6-4c5a-a848-622dc00af3ab" providerId="AD" clId="Web-{6F421E04-A782-D386-ED3F-CA0530C56F17}" dt="2026-04-24T07:54:37.882" v="1"/>
        <pc:sldMasterMkLst>
          <pc:docMk/>
          <pc:sldMasterMk cId="2460954070" sldId="2147483660"/>
        </pc:sldMasterMkLst>
        <pc:sldLayoutChg chg="del">
          <pc:chgData name="D1I2 Jirayu S.Kaw" userId="S::300260129@th.maxxis.com::f59d7631-84c6-4c5a-a848-622dc00af3ab" providerId="AD" clId="Web-{6F421E04-A782-D386-ED3F-CA0530C56F17}" dt="2026-04-24T07:54:37.882" v="1"/>
          <pc:sldLayoutMkLst>
            <pc:docMk/>
            <pc:sldMasterMk cId="2460954070" sldId="2147483660"/>
            <pc:sldLayoutMk cId="2385387890" sldId="2147483661"/>
          </pc:sldLayoutMkLst>
        </pc:sldLayoutChg>
        <pc:sldLayoutChg chg="del">
          <pc:chgData name="D1I2 Jirayu S.Kaw" userId="S::300260129@th.maxxis.com::f59d7631-84c6-4c5a-a848-622dc00af3ab" providerId="AD" clId="Web-{6F421E04-A782-D386-ED3F-CA0530C56F17}" dt="2026-04-24T07:54:37.882" v="1"/>
          <pc:sldLayoutMkLst>
            <pc:docMk/>
            <pc:sldMasterMk cId="2460954070" sldId="2147483660"/>
            <pc:sldLayoutMk cId="949138452" sldId="2147483662"/>
          </pc:sldLayoutMkLst>
        </pc:sldLayoutChg>
        <pc:sldLayoutChg chg="del">
          <pc:chgData name="D1I2 Jirayu S.Kaw" userId="S::300260129@th.maxxis.com::f59d7631-84c6-4c5a-a848-622dc00af3ab" providerId="AD" clId="Web-{6F421E04-A782-D386-ED3F-CA0530C56F17}" dt="2026-04-24T07:54:37.882" v="1"/>
          <pc:sldLayoutMkLst>
            <pc:docMk/>
            <pc:sldMasterMk cId="2460954070" sldId="2147483660"/>
            <pc:sldLayoutMk cId="2591524520" sldId="2147483663"/>
          </pc:sldLayoutMkLst>
        </pc:sldLayoutChg>
        <pc:sldLayoutChg chg="del">
          <pc:chgData name="D1I2 Jirayu S.Kaw" userId="S::300260129@th.maxxis.com::f59d7631-84c6-4c5a-a848-622dc00af3ab" providerId="AD" clId="Web-{6F421E04-A782-D386-ED3F-CA0530C56F17}" dt="2026-04-24T07:54:37.882" v="1"/>
          <pc:sldLayoutMkLst>
            <pc:docMk/>
            <pc:sldMasterMk cId="2460954070" sldId="2147483660"/>
            <pc:sldLayoutMk cId="1203092039" sldId="2147483664"/>
          </pc:sldLayoutMkLst>
        </pc:sldLayoutChg>
        <pc:sldLayoutChg chg="del">
          <pc:chgData name="D1I2 Jirayu S.Kaw" userId="S::300260129@th.maxxis.com::f59d7631-84c6-4c5a-a848-622dc00af3ab" providerId="AD" clId="Web-{6F421E04-A782-D386-ED3F-CA0530C56F17}" dt="2026-04-24T07:54:37.882" v="1"/>
          <pc:sldLayoutMkLst>
            <pc:docMk/>
            <pc:sldMasterMk cId="2460954070" sldId="2147483660"/>
            <pc:sldLayoutMk cId="3733172339" sldId="2147483665"/>
          </pc:sldLayoutMkLst>
        </pc:sldLayoutChg>
        <pc:sldLayoutChg chg="del">
          <pc:chgData name="D1I2 Jirayu S.Kaw" userId="S::300260129@th.maxxis.com::f59d7631-84c6-4c5a-a848-622dc00af3ab" providerId="AD" clId="Web-{6F421E04-A782-D386-ED3F-CA0530C56F17}" dt="2026-04-24T07:54:37.882" v="1"/>
          <pc:sldLayoutMkLst>
            <pc:docMk/>
            <pc:sldMasterMk cId="2460954070" sldId="2147483660"/>
            <pc:sldLayoutMk cId="3210312558" sldId="2147483666"/>
          </pc:sldLayoutMkLst>
        </pc:sldLayoutChg>
        <pc:sldLayoutChg chg="del">
          <pc:chgData name="D1I2 Jirayu S.Kaw" userId="S::300260129@th.maxxis.com::f59d7631-84c6-4c5a-a848-622dc00af3ab" providerId="AD" clId="Web-{6F421E04-A782-D386-ED3F-CA0530C56F17}" dt="2026-04-24T07:54:37.882" v="1"/>
          <pc:sldLayoutMkLst>
            <pc:docMk/>
            <pc:sldMasterMk cId="2460954070" sldId="2147483660"/>
            <pc:sldLayoutMk cId="3146388984" sldId="2147483667"/>
          </pc:sldLayoutMkLst>
        </pc:sldLayoutChg>
        <pc:sldLayoutChg chg="del">
          <pc:chgData name="D1I2 Jirayu S.Kaw" userId="S::300260129@th.maxxis.com::f59d7631-84c6-4c5a-a848-622dc00af3ab" providerId="AD" clId="Web-{6F421E04-A782-D386-ED3F-CA0530C56F17}" dt="2026-04-24T07:54:37.882" v="1"/>
          <pc:sldLayoutMkLst>
            <pc:docMk/>
            <pc:sldMasterMk cId="2460954070" sldId="2147483660"/>
            <pc:sldLayoutMk cId="3171841454" sldId="2147483668"/>
          </pc:sldLayoutMkLst>
        </pc:sldLayoutChg>
        <pc:sldLayoutChg chg="del">
          <pc:chgData name="D1I2 Jirayu S.Kaw" userId="S::300260129@th.maxxis.com::f59d7631-84c6-4c5a-a848-622dc00af3ab" providerId="AD" clId="Web-{6F421E04-A782-D386-ED3F-CA0530C56F17}" dt="2026-04-24T07:54:37.882" v="1"/>
          <pc:sldLayoutMkLst>
            <pc:docMk/>
            <pc:sldMasterMk cId="2460954070" sldId="2147483660"/>
            <pc:sldLayoutMk cId="1718958274" sldId="2147483669"/>
          </pc:sldLayoutMkLst>
        </pc:sldLayoutChg>
        <pc:sldLayoutChg chg="del">
          <pc:chgData name="D1I2 Jirayu S.Kaw" userId="S::300260129@th.maxxis.com::f59d7631-84c6-4c5a-a848-622dc00af3ab" providerId="AD" clId="Web-{6F421E04-A782-D386-ED3F-CA0530C56F17}" dt="2026-04-24T07:54:37.882" v="1"/>
          <pc:sldLayoutMkLst>
            <pc:docMk/>
            <pc:sldMasterMk cId="2460954070" sldId="2147483660"/>
            <pc:sldLayoutMk cId="2202905451" sldId="2147483670"/>
          </pc:sldLayoutMkLst>
        </pc:sldLayoutChg>
        <pc:sldLayoutChg chg="del">
          <pc:chgData name="D1I2 Jirayu S.Kaw" userId="S::300260129@th.maxxis.com::f59d7631-84c6-4c5a-a848-622dc00af3ab" providerId="AD" clId="Web-{6F421E04-A782-D386-ED3F-CA0530C56F17}" dt="2026-04-24T07:54:37.882" v="1"/>
          <pc:sldLayoutMkLst>
            <pc:docMk/>
            <pc:sldMasterMk cId="2460954070" sldId="2147483660"/>
            <pc:sldLayoutMk cId="3479445657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C519DE-E2E9-4408-BBC6-B95B99A7E247}" type="datetimeFigureOut">
              <a:t>4/24/2026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A75FD2-D3F6-4D75-8256-4B4B045FEA6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696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640080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39712" y="640080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95744" y="640080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51776" y="640080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07808" y="640080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863840" y="640080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119872" y="640080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75904" y="640080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83680" y="896112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39712" y="896112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95744" y="896112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51776" y="896112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07808" y="896112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863840" y="896112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19872" y="896112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75904" y="896112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83680" y="1152144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39712" y="1152144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95744" y="1152144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51776" y="1152144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07808" y="1152144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863840" y="1152144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119872" y="1152144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75904" y="1152144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83680" y="1408176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839712" y="1408176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095744" y="1408176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351776" y="1408176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07808" y="1408176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863840" y="1408176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119872" y="1408176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75904" y="1408176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83680" y="1664208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839712" y="1664208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95744" y="1664208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351776" y="1664208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07808" y="1664208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863840" y="1664208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19872" y="1664208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375904" y="1664208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583680" y="1920240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839712" y="1920240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095744" y="1920240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351776" y="1920240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607808" y="1920240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863840" y="1920240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19872" y="1920240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75904" y="1920240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583680" y="2176272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39712" y="2176272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095744" y="2176272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351776" y="2176272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607808" y="2176272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863840" y="2176272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119872" y="2176272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375904" y="2176272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583680" y="2432304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839712" y="2432304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95744" y="2432304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51776" y="2432304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607808" y="2432304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2432304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119872" y="2432304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375904" y="2432304"/>
            <a:ext cx="54864" cy="54864"/>
          </a:xfrm>
          <a:prstGeom prst="ellipse">
            <a:avLst/>
          </a:prstGeom>
          <a:solidFill>
            <a:srgbClr val="1F2B44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8640" y="822960"/>
            <a:ext cx="2194560" cy="365760"/>
          </a:xfrm>
          <a:prstGeom prst="rect">
            <a:avLst/>
          </a:prstGeom>
          <a:solidFill>
            <a:srgbClr val="1823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40080" y="85039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prisma --production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กับ Node.js</a:t>
            </a:r>
            <a:endParaRPr lang="en-US" sz="4400" dirty="0"/>
          </a:p>
        </p:txBody>
      </p:sp>
      <p:sp>
        <p:nvSpPr>
          <p:cNvPr id="71" name="Text 69"/>
          <p:cNvSpPr/>
          <p:nvPr/>
        </p:nvSpPr>
        <p:spPr>
          <a:xfrm>
            <a:off x="548640" y="21488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การจัดการ Migration </a:t>
            </a:r>
            <a:r>
              <a:rPr lang="en-US" sz="2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— Production Ready</a:t>
            </a:r>
            <a:endParaRPr lang="en-US" sz="2400" dirty="0"/>
          </a:p>
        </p:txBody>
      </p:sp>
      <p:sp>
        <p:nvSpPr>
          <p:cNvPr id="72" name="Shape 70"/>
          <p:cNvSpPr/>
          <p:nvPr/>
        </p:nvSpPr>
        <p:spPr>
          <a:xfrm>
            <a:off x="548640" y="3063240"/>
            <a:ext cx="2011680" cy="502920"/>
          </a:xfrm>
          <a:prstGeom prst="rect">
            <a:avLst/>
          </a:prstGeom>
          <a:solidFill>
            <a:srgbClr val="1823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48640" y="3063240"/>
            <a:ext cx="73152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31520" y="3063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Type-safe ORM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2834640" y="3063240"/>
            <a:ext cx="2011680" cy="502920"/>
          </a:xfrm>
          <a:prstGeom prst="rect">
            <a:avLst/>
          </a:prstGeom>
          <a:solidFill>
            <a:srgbClr val="1823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2834640" y="3063240"/>
            <a:ext cx="73152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017520" y="3063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Schema-first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5120640" y="3063240"/>
            <a:ext cx="2011680" cy="502920"/>
          </a:xfrm>
          <a:prstGeom prst="rect">
            <a:avLst/>
          </a:prstGeom>
          <a:solidFill>
            <a:srgbClr val="182338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5120640" y="3063240"/>
            <a:ext cx="73152" cy="5029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303520" y="30632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Safe Migration</a:t>
            </a:r>
            <a:endParaRPr lang="en-US" sz="1300" dirty="0"/>
          </a:p>
        </p:txBody>
      </p:sp>
      <p:sp>
        <p:nvSpPr>
          <p:cNvPr id="81" name="Text 79"/>
          <p:cNvSpPr/>
          <p:nvPr/>
        </p:nvSpPr>
        <p:spPr>
          <a:xfrm>
            <a:off x="548640" y="3794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สำหรับ Backend Developer ที่ทำงานกับ SQL Server / MySQL ในองค์กรจริง</a:t>
            </a:r>
            <a:endParaRPr lang="en-US" sz="1400" dirty="0"/>
          </a:p>
        </p:txBody>
      </p:sp>
      <p:sp>
        <p:nvSpPr>
          <p:cNvPr id="82" name="Text 80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Beginner → Intermediate  •  Node.js + Express.js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1 • INTRODUCTION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คืออะไร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04672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คือ ORM (Object Relational Mapper) ยุคใหม่สำหรับ Node.js / TypeScript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ช่วยลดการเขียน SQL ด้วยตัวเอง — ใช้ API ของ Prisma Client แทน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schema.prisma เป็น single source of truth ของโครงสร้างฐานข้อมูล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รองรับ PostgreSQL, MySQL, SQL Server, SQLite, MongoDB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มีเครื่องมือครบชุด: Client, Migrate, Studio, Introspection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943600" y="1371600"/>
            <a:ext cx="2743200" cy="3017520"/>
          </a:xfrm>
          <a:prstGeom prst="rect">
            <a:avLst/>
          </a:prstGeom>
          <a:solidFill>
            <a:srgbClr val="182338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0" y="14630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ORM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2011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schema.prisma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943600" y="2560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CA3AF"/>
                </a:solidFill>
              </a:rPr>
              <a:t>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943600" y="3017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TypeScript API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9CA3AF"/>
                </a:solidFill>
              </a:rPr>
              <a:t>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0" y="3977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 / 39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1 • INTRODUCTION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ทำไมต้องใช้ Prisma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931920" cy="1371600"/>
          </a:xfrm>
          <a:prstGeom prst="rect">
            <a:avLst/>
          </a:prstGeom>
          <a:solidFill>
            <a:srgbClr val="182338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71600"/>
            <a:ext cx="9144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Type-safe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057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auto-complete + compile-time check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3931920" cy="1371600"/>
          </a:xfrm>
          <a:prstGeom prst="rect">
            <a:avLst/>
          </a:prstGeom>
          <a:solidFill>
            <a:srgbClr val="182338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371600"/>
            <a:ext cx="91440" cy="1371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5544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Query ง่าย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37760" y="20574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API เป็น object ไม่ต้องเขียน SQL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3931920" cy="1371600"/>
          </a:xfrm>
          <a:prstGeom prst="rect">
            <a:avLst/>
          </a:prstGeom>
          <a:solidFill>
            <a:srgbClr val="182338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926080"/>
            <a:ext cx="91440" cy="13716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108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ลด Bug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" y="3611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ตรวจชื่อ field / type ได้ทันที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3931920" cy="1371600"/>
          </a:xfrm>
          <a:prstGeom prst="rect">
            <a:avLst/>
          </a:prstGeom>
          <a:solidFill>
            <a:srgbClr val="182338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926080"/>
            <a:ext cx="91440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108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Migration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937760" y="3611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version-control ของ schema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 / 39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1 • INTRODUCTION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ภาพรวมการทำงาน (API Flow)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920240" cy="1280160"/>
          </a:xfrm>
          <a:prstGeom prst="rect">
            <a:avLst/>
          </a:prstGeom>
          <a:solidFill>
            <a:srgbClr val="182338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286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Client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" y="2788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Browser / App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5400000">
            <a:off x="2395728" y="2633472"/>
            <a:ext cx="182880" cy="219456"/>
          </a:xfrm>
          <a:prstGeom prst="rtTriangl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87752" y="2103120"/>
            <a:ext cx="1920240" cy="1280160"/>
          </a:xfrm>
          <a:prstGeom prst="rect">
            <a:avLst/>
          </a:prstGeom>
          <a:solidFill>
            <a:srgbClr val="182338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87752" y="2286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API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87752" y="2788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Express.js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5400000">
            <a:off x="4526280" y="2633472"/>
            <a:ext cx="182880" cy="219456"/>
          </a:xfrm>
          <a:prstGeom prst="rtTriangl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18304" y="2103120"/>
            <a:ext cx="1920240" cy="1280160"/>
          </a:xfrm>
          <a:prstGeom prst="rect">
            <a:avLst/>
          </a:prstGeom>
          <a:solidFill>
            <a:srgbClr val="182338"/>
          </a:solidFill>
          <a:ln w="25400">
            <a:solidFill>
              <a:srgbClr val="F472B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18304" y="2286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72B6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718304" y="2788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ORM Layer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rot="5400000">
            <a:off x="6656832" y="2633472"/>
            <a:ext cx="182880" cy="219456"/>
          </a:xfrm>
          <a:prstGeom prst="rtTriangle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48856" y="2103120"/>
            <a:ext cx="1920240" cy="1280160"/>
          </a:xfrm>
          <a:prstGeom prst="rect">
            <a:avLst/>
          </a:prstGeom>
          <a:solidFill>
            <a:srgbClr val="182338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48856" y="2286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59E0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Database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848856" y="27889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MySQL / SQL Server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Request  →  Response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schema.prisma กำหนดโครงสร้างข้อมูลระหว่าง Prisma Client ↔ Database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4 / 39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2 • SETUP &amp; SCHEMA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การติดตั้ง Prisma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ต้องมี Node.js &gt;= 18 และโปรเจกต์ Node.js แล้ว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ติดตั้ง Prisma CLI ไว้เป็น dev dependency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ติดตั้ง Prisma Client สำหรับใช้งานใน runtime จริง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8046720" cy="2011680"/>
          </a:xfrm>
          <a:prstGeom prst="rect">
            <a:avLst/>
          </a:prstGeom>
          <a:solidFill>
            <a:srgbClr val="05080F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76148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76148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276148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26974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035808"/>
            <a:ext cx="7589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ติดตั้ง Prisma CLI (dev)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prisma --save-dev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ติดตั้ง Prisma Client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@prisma/client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5 / 39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2 • SETUP &amp; SCHEMA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เริ่มต้นใช้งาน (npx prisma init)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8046720" cy="1188720"/>
          </a:xfrm>
          <a:prstGeom prst="rect">
            <a:avLst/>
          </a:prstGeom>
          <a:solidFill>
            <a:srgbClr val="05080F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3560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43560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6696" y="143560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0" y="1371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1709928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สร้างโครงสร้าง Prisma เริ่มต้น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prisma init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โครงสร้างที่ถูกสร้างขึ้น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063240"/>
            <a:ext cx="8046720" cy="1645920"/>
          </a:xfrm>
          <a:prstGeom prst="rect">
            <a:avLst/>
          </a:prstGeom>
          <a:solidFill>
            <a:srgbClr val="05080F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17296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317296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6696" y="317296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3108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3447288"/>
            <a:ext cx="7589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my-app/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prisma/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schema.prisma</a:t>
            </a: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# กำหนด model / datasource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.env</a:t>
            </a: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# เก็บ DATABASE_URL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package.json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6 / 39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2 • SETUP &amp; SCHEMA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ตั้งค่า Database (.env)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ใส่ connection string ไว้ในไฟล์ .env เท่านั้น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ห้าม commit .env ขึ้น git — ใช้ .env.example แทน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รูปแบบ URL ต่างกันตาม database ที่ใช้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8046720" cy="2194560"/>
          </a:xfrm>
          <a:prstGeom prst="rect">
            <a:avLst/>
          </a:prstGeom>
          <a:solidFill>
            <a:srgbClr val="05080F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62432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62432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262432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2560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898648"/>
            <a:ext cx="7589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MySQL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DATABASE_URL="mysql://user:pass@localhost:3306/mydb"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SQL Server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DATABASE_URL="sqlserver://localhost:1433;database=mydb;user=sa;password=..."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PostgreSQL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DATABASE_URL="postgresql://user:pass@localhost:5432/mydb"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7 / 39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2 • SETUP &amp; SCHEMA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Schema (model / field / type)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model = หนึ่งตารางในฐานข้อมูล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แต่ละ field ประกอบด้วย: ชื่อ + type + modifier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attribute เช่น @id, @unique, @default กำหนดคุณสมบัติ field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8046720" cy="2194560"/>
          </a:xfrm>
          <a:prstGeom prst="rect">
            <a:avLst/>
          </a:prstGeom>
          <a:solidFill>
            <a:srgbClr val="05080F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62432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62432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262432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2560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898648"/>
            <a:ext cx="75895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</a:t>
            </a: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</a:t>
            </a: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</a:t>
            </a: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   </a:t>
            </a:r>
            <a:r>
              <a:rPr lang="en-US" sz="1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@id @default</a:t>
            </a: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autoincrement</a:t>
            </a: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รหัสหลัก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</a:t>
            </a: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// ชื่อผู้ใช้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email </a:t>
            </a: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</a:t>
            </a:r>
            <a:r>
              <a:rPr lang="en-US" sz="1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@unique</a:t>
            </a: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// ห้ามซ้ำ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8 / 39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3 • CRUD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Client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Client ถูก generate จาก schema.prisma อัตโนมัติ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ควรสร้าง instance เดียวทั้งแอป (singleton) เพื่อไม่เปลืองการเชื่อมต่อ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await กับทุก query เพราะเป็น Promise-based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8046720" cy="2011680"/>
          </a:xfrm>
          <a:prstGeom prst="rect">
            <a:avLst/>
          </a:prstGeom>
          <a:solidFill>
            <a:srgbClr val="05080F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71576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71576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271576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2651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990088"/>
            <a:ext cx="7589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สร้าง instance ของ Prisma Client หนึ่งครั้งต่อแอป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</a:t>
            </a: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PrismaClient</a:t>
            </a: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 = </a:t>
            </a:r>
            <a:r>
              <a:rPr lang="en-US" sz="14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</a:t>
            </a: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'@prisma/client'</a:t>
            </a: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 = </a:t>
            </a:r>
            <a:r>
              <a:rPr lang="en-US" sz="1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</a:t>
            </a:r>
            <a:r>
              <a:rPr lang="en-US" sz="14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PrismaClient</a:t>
            </a: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module</a:t>
            </a: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.exports = prisma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9 / 39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3 • CRUD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Create — เพิ่มข้อมูลใหม่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prisma.&lt;model&gt;.create() พร้อมส่ง data เป็น object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8046720" cy="2743200"/>
          </a:xfrm>
          <a:prstGeom prst="rect">
            <a:avLst/>
          </a:prstGeom>
          <a:solidFill>
            <a:srgbClr val="05080F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02996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02996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202996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1965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304288"/>
            <a:ext cx="758952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สร้างผู้ใช้ใหม่ 1 record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prisma.user.</a:t>
            </a:r>
            <a:r>
              <a:rPr lang="en-US" sz="15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data: 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 </a:t>
            </a:r>
            <a:r>
              <a:rPr lang="en-US" sz="15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"John"</a:t>
            </a: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email: </a:t>
            </a:r>
            <a:r>
              <a:rPr lang="en-US" sz="15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"john@mail.com"</a:t>
            </a: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10 / 39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3 • CRUD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Read — อ่านข้อมูล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8046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findMany() — ดึงหลายรายการ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findUnique() — ดึงรายการเดียวด้วย field ที่เป็น unique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findFirst() — ดึงรายการแรกที่ตรงเงื่อนไข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8046720" cy="2011680"/>
          </a:xfrm>
          <a:prstGeom prst="rect">
            <a:avLst/>
          </a:prstGeom>
          <a:solidFill>
            <a:srgbClr val="05080F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71576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71576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271576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26517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990088"/>
            <a:ext cx="7589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ดึงผู้ใช้ทั้งหมด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 = </a:t>
            </a: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prisma.user.</a:t>
            </a: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findMany</a:t>
            </a: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ดึงผู้ใช้คนเดียวตาม email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= </a:t>
            </a: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prisma.user.</a:t>
            </a: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findUnique</a:t>
            </a: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where: { email: 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"john@mail.com"</a:t>
            </a: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11 / 39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3 • CRUD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Update — แก้ไขข้อมูล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update() ต้องระบุ where ด้วย field ที่เป็น unique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updateMany() ใช้แก้หลาย record พร้อมกันด้วยเงื่อนไข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331720"/>
            <a:ext cx="8046720" cy="2286000"/>
          </a:xfrm>
          <a:prstGeom prst="rect">
            <a:avLst/>
          </a:prstGeom>
          <a:solidFill>
            <a:srgbClr val="05080F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44144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44144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244144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23774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715768"/>
            <a:ext cx="7589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แก้ชื่อผู้ใช้คนนี้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prisma.user.</a:t>
            </a:r>
            <a:r>
              <a:rPr lang="en-US" sz="15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where: { id: </a:t>
            </a:r>
            <a:r>
              <a:rPr lang="en-US" sz="15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data:  { name: </a:t>
            </a:r>
            <a:r>
              <a:rPr lang="en-US" sz="15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"John Doe"</a:t>
            </a: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12 / 39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3 • CRUD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Delete — ลบข้อมูล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delete() ระบุ where ด้วย unique field เช่น id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deleteMany() ลบหลาย record ตามเงื่อนไข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ระวัง cascade — ตั้งค่าใน schema ถ้ามี relation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14600"/>
            <a:ext cx="8046720" cy="2103120"/>
          </a:xfrm>
          <a:prstGeom prst="rect">
            <a:avLst/>
          </a:prstGeom>
          <a:solidFill>
            <a:srgbClr val="05080F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62432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62432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262432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2560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898648"/>
            <a:ext cx="7589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ลบผู้ใช้หนึ่งคน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prisma.user.</a:t>
            </a:r>
            <a:r>
              <a:rPr lang="en-US" sz="15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</a:t>
            </a: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where: { id: </a:t>
            </a:r>
            <a:r>
              <a:rPr lang="en-US" sz="15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13 / 39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4 • ADVANCED QUERY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Where / Filter — เงื่อนไข Query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operator เช่น equals, contains, gt, lt, in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AND / OR / NOT ต่อเงื่อนไขหลายชั้นได้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8046720" cy="2377440"/>
          </a:xfrm>
          <a:prstGeom prst="rect">
            <a:avLst/>
          </a:prstGeom>
          <a:solidFill>
            <a:srgbClr val="05080F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39572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39572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239572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2331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670048"/>
            <a:ext cx="758952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ค้นผู้ใช้ที่อีเมลมีคำว่า gmail และ id &gt; 10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prisma.user.</a:t>
            </a: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findMany</a:t>
            </a: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where: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email: { contains: 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"gmail"</a:t>
            </a: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id:    { gt: 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14 / 39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4 • ADVANCED QUERY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Select / Include — เลือก Field และดึง Relation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select — เลือกเฉพาะ field ที่ต้องการ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include — ดึงข้อมูลที่เป็น relation มาด้วย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8046720" cy="2286000"/>
          </a:xfrm>
          <a:prstGeom prst="rect">
            <a:avLst/>
          </a:prstGeom>
          <a:solidFill>
            <a:srgbClr val="05080F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39572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39572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239572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2331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670048"/>
            <a:ext cx="7589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เลือกเฉพาะ id กับ email + ดึงโพสต์ทั้งหมดของ user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prisma.user.</a:t>
            </a: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findMany</a:t>
            </a: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select: { id: 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email: 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include:{ posts: 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15 / 39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4 • ADVANCED QUERY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Relation — ความสัมพันธ์ระหว่าง Model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Post มี userId ชี้ไป User — One-to-Many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@relation ระบุ field ที่ใช้ join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8046720" cy="2468880"/>
          </a:xfrm>
          <a:prstGeom prst="rect">
            <a:avLst/>
          </a:prstGeom>
          <a:solidFill>
            <a:srgbClr val="05080F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25856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25856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225856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21945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532888"/>
            <a:ext cx="75895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</a:t>
            </a: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</a:t>
            </a: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 </a:t>
            </a: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  </a:t>
            </a: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   </a:t>
            </a: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  </a:t>
            </a: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@relation</a:t>
            </a: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(fields: [userId], references: [id])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userId </a:t>
            </a:r>
            <a:r>
              <a:rPr lang="en-US" sz="13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16 / 39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4 • ADVANCED QUERY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Query Relation — ดึงข้อมูลพร้อมความสัมพันธ์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include เพื่อ join ข้อมูลของ User เข้ามากับ Post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ผลลัพธ์จะมี field user: {...} อยู่ในแต่ละ post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8046720" cy="2286000"/>
          </a:xfrm>
          <a:prstGeom prst="rect">
            <a:avLst/>
          </a:prstGeom>
          <a:solidFill>
            <a:srgbClr val="05080F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39572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39572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239572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2331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670048"/>
            <a:ext cx="7589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ดึงโพสต์ทั้งหมด พร้อมข้อมูล user ของแต่ละโพสต์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prisma.post.</a:t>
            </a:r>
            <a:r>
              <a:rPr lang="en-US" sz="14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findMany</a:t>
            </a: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include: { user: </a:t>
            </a:r>
            <a:r>
              <a:rPr lang="en-US" sz="14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17 / 39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5 • MIGRATION CORE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Migration คืออะไร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กระบวนการอัปเดตโครงสร้างฐานข้อมูลให้ตรงกับ schema.prisma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เหมือน version-control สำหรับ database (เทียบกับ git สำหรับ code)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เก็บประวัติทุกการเปลี่ยนแปลงไว้ในโฟลเดอร์ prisma/migrations/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ทำงานร่วมกันได้หลายคน โดยไม่ชน schema กันเอง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แยกขั้นตอน dev (สร้าง/ทดสอบ) ออกจาก production (deploy จริง)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18 / 39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5 • MIGRATION CORE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migrate dev — ใช้ตอนพัฒนา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สร้างไฟล์ migration จาก diff ของ schema.prisma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รัน migration นั้นกับ database ทันที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generate Prisma Client ใหม่อัตโนมัติ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8046720" cy="1280160"/>
          </a:xfrm>
          <a:prstGeom prst="rect">
            <a:avLst/>
          </a:prstGeom>
          <a:solidFill>
            <a:srgbClr val="05080F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80720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80720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280720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2743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081528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สร้าง migration ชื่อ init และอัปเดต database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prisma migrate dev --name init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19 / 39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6 • MIGRATION DEEP 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Migration Tools — 4 คำสั่งหลัก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931920" cy="1325880"/>
          </a:xfrm>
          <a:prstGeom prst="rect">
            <a:avLst/>
          </a:prstGeom>
          <a:solidFill>
            <a:srgbClr val="182338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71600"/>
            <a:ext cx="91440" cy="13258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migrate dev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20848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migration (dev)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3931920" cy="1325880"/>
          </a:xfrm>
          <a:prstGeom prst="rect">
            <a:avLst/>
          </a:prstGeom>
          <a:solidFill>
            <a:srgbClr val="182338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371600"/>
            <a:ext cx="91440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554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migrate deploy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937760" y="208483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รัน migration ใน production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3931920" cy="1325880"/>
          </a:xfrm>
          <a:prstGeom prst="rect">
            <a:avLst/>
          </a:prstGeom>
          <a:solidFill>
            <a:srgbClr val="182338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880360"/>
            <a:ext cx="91440" cy="132588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063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pull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" y="359359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ดึง schema จาก DB จริง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3931920" cy="1325880"/>
          </a:xfrm>
          <a:prstGeom prst="rect">
            <a:avLst/>
          </a:prstGeom>
          <a:solidFill>
            <a:srgbClr val="182338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880360"/>
            <a:ext cx="91440" cy="132588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063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db push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937760" y="3593592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sync schema → DB (ไม่มี history)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20 / 39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6 • MIGRATION DEEP 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db pull — ดึง schema จาก DB จริง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80467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ใช้กับระบบเดิมที่มี database อยู่แล้ว (legacy / brownfield)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จะอ่าน table/column จริง แล้วสร้าง schema.prisma ให้เอง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เหมาะกับกรณีพัฒนาใหม่บนฐานข้อมูลที่องค์กรใช้อยู่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788920"/>
            <a:ext cx="8046720" cy="1188720"/>
          </a:xfrm>
          <a:prstGeom prst="rect">
            <a:avLst/>
          </a:prstGeom>
          <a:solidFill>
            <a:srgbClr val="05080F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89864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89864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289864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172968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Introspect database ปัจจุบัน → สร้าง schema.prisma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prisma db pull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21 / 39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6 • MIGRATION DEEP 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หลัง db pull จะเกิดอะไรขึ้น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schema.prisma ถูก generate ใหม่อัตโนมัติ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 table ในฐานข้อมูล → ถูกแปลงเป็น model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 column → ถูกแปลงเป็น field พร้อม type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ความสัมพันธ์ (foreign key) → ถูกแปลงเป็น @relation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สิ่งที่เคยแก้ไว้ใน schema.prisma จะถูก overwrite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22 / 39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6 • MIGRATION DEEP 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❓ ลบ model ที่ไม่ใช้ใน schema ได้ไหม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931920" cy="1828800"/>
          </a:xfrm>
          <a:prstGeom prst="rect">
            <a:avLst/>
          </a:prstGeom>
          <a:solidFill>
            <a:srgbClr val="1823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✅ ลบ model ได้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ลบออกจาก schema.prisma ได้เลย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Client จะไม่รู้จัก model นั้นอีก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3931920" cy="1828800"/>
          </a:xfrm>
          <a:prstGeom prst="rect">
            <a:avLst/>
          </a:prstGeom>
          <a:solidFill>
            <a:srgbClr val="182338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❗ Database ไม่ถูกกระทบ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46320" y="18745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table จริงยังคงอยู่ในฐานข้อมูล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ต้องใช้ migration แยกถ้าต้องการ drop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8046720" cy="1234440"/>
          </a:xfrm>
          <a:prstGeom prst="rect">
            <a:avLst/>
          </a:prstGeom>
          <a:solidFill>
            <a:srgbClr val="111A2E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4747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📌 สรุป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7947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schema = ใช้ใน code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2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database = ยังอยู่เหมือนเดิม (จนกว่าจะ migrate drop)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23 / 39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6 • MIGRATION DEEP 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@@ignore — บอก Prisma ว่าอย่ายุ่งกับ table นี้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ใช้กับ table เก่าที่ไม่ต้องการให้ Prisma Client จัดการ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ยัง pull เข้ามาได้ แต่จะไม่ถูกใช้ในการ query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ช่วยให้ schema สะอาด ไม่ error กับ table ที่ไม่มี @id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8046720" cy="1920240"/>
          </a:xfrm>
          <a:prstGeom prst="rect">
            <a:avLst/>
          </a:prstGeom>
          <a:solidFill>
            <a:srgbClr val="05080F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80720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80720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280720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2743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081528"/>
            <a:ext cx="7589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</a:t>
            </a: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OldTable </a:t>
            </a: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</a:t>
            </a: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@@ignore</a:t>
            </a: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// Prisma Client จะข้าม model นี้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24 / 39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6 • MIGRATION DEEP 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⚠️ ข้อควรระวังเมื่อใช้ db pull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8046720" cy="685800"/>
          </a:xfrm>
          <a:prstGeom prst="rect">
            <a:avLst/>
          </a:prstGeom>
          <a:solidFill>
            <a:srgbClr val="182338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9144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8988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schema ถูก overwrite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169164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สิ่งที่แก้ด้วยมือใน schema.prisma จะหายไป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8046720" cy="685800"/>
          </a:xfrm>
          <a:prstGeom prst="rect">
            <a:avLst/>
          </a:prstGeom>
          <a:solidFill>
            <a:srgbClr val="182338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103120"/>
            <a:ext cx="9144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1671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ต้องใช้ git เสมอ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7240" y="246888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commit ก่อน pull เพื่อ rollback ได้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880360"/>
            <a:ext cx="8046720" cy="685800"/>
          </a:xfrm>
          <a:prstGeom prst="rect">
            <a:avLst/>
          </a:prstGeom>
          <a:solidFill>
            <a:srgbClr val="182338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880360"/>
            <a:ext cx="9144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9443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ชื่อ relation อาจไม่สวย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77240" y="324612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บางครั้งต้องแก้ชื่อ field หลัง pull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657600"/>
            <a:ext cx="8046720" cy="685800"/>
          </a:xfrm>
          <a:prstGeom prst="rect">
            <a:avLst/>
          </a:prstGeom>
          <a:solidFill>
            <a:srgbClr val="182338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657600"/>
            <a:ext cx="91440" cy="685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7216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อย่า pull บน production โดยตรง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4023360"/>
            <a:ext cx="7589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dev DB ที่ clone มาจะปลอดภัยกว่า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25 / 39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6 • MIGRATION DEEP 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เพิ่ม table ใหม่ใน schema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เขียน model ใหม่ใน schema.prisma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ยังไม่กระทบ database จนกว่าจะสั่ง migrate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8046720" cy="2286000"/>
          </a:xfrm>
          <a:prstGeom prst="rect">
            <a:avLst/>
          </a:prstGeom>
          <a:solidFill>
            <a:srgbClr val="05080F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39572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39572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239572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2331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670048"/>
            <a:ext cx="7589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</a:t>
            </a: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Product </a:t>
            </a: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    </a:t>
            </a: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   </a:t>
            </a:r>
            <a:r>
              <a:rPr lang="en-US" sz="1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@id @default</a:t>
            </a: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autoincrement</a:t>
            </a: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</a:t>
            </a: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price </a:t>
            </a: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26 / 39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6 • MIGRATION DEEP 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migrate หลังเพิ่ม table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สั่ง migrate dev จะสร้าง SQL migration script ให้อัตโนมัติ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ตั้งชื่อให้ชัดเจนเสมอ — อ่านประวัติได้ง่าย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8046720" cy="1280160"/>
          </a:xfrm>
          <a:prstGeom prst="rect">
            <a:avLst/>
          </a:prstGeom>
          <a:solidFill>
            <a:srgbClr val="05080F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57860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57860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257860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2514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852928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เพิ่ม Product table เข้าสู่ database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prisma migrate dev --name add_product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27 / 39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6 • MIGRATION DEEP 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❗ จะเกิด Migration Conflict ไหม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931920" cy="1828800"/>
          </a:xfrm>
          <a:prstGeom prst="rect">
            <a:avLst/>
          </a:prstGeom>
          <a:solidFill>
            <a:srgbClr val="1823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✅ ไม่ conflict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3566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schema สอดคล้องกับ DB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ทุกคนใช้ migration files ชุดเดียวกันจาก git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3931920" cy="1828800"/>
          </a:xfrm>
          <a:prstGeom prst="rect">
            <a:avLst/>
          </a:prstGeom>
          <a:solidFill>
            <a:srgbClr val="182338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❌ จะ conflict เมื่อ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846320" y="187452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แก้ database ด้วยมือ (manual SQL)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2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ลบไฟล์ใน prisma/migrations/ โดยไม่ sync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8046720" cy="1234440"/>
          </a:xfrm>
          <a:prstGeom prst="rect">
            <a:avLst/>
          </a:prstGeom>
          <a:solidFill>
            <a:srgbClr val="111A2E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5661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กฎทอง: schema.prisma ↔ prisma/migrations ↔ database ต้องตรงกันเสมอ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ถ้าเคยแก้ DB ด้วยมือ — ต้องใช้ db pull + สร้าง migration ใหม่เพื่อให้ sync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28 / 39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6 • MIGRATION DEEP 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Workflow ที่ถูกต้อง (Migration Flow)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931920" cy="3383280"/>
          </a:xfrm>
          <a:prstGeom prst="rect">
            <a:avLst/>
          </a:prstGeom>
          <a:solidFill>
            <a:srgbClr val="18233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📌 กรณีมี DB อยู่แล้ว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77240" y="1965960"/>
            <a:ext cx="3474720" cy="640080"/>
          </a:xfrm>
          <a:prstGeom prst="rect">
            <a:avLst/>
          </a:prstGeom>
          <a:solidFill>
            <a:srgbClr val="111A2E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19659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db pull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77240" y="2743200"/>
            <a:ext cx="3474720" cy="640080"/>
          </a:xfrm>
          <a:prstGeom prst="rect">
            <a:avLst/>
          </a:prstGeom>
          <a:solidFill>
            <a:srgbClr val="111A2E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7432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แก้ schema ตามต้องการ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3520440"/>
            <a:ext cx="3474720" cy="640080"/>
          </a:xfrm>
          <a:prstGeom prst="rect">
            <a:avLst/>
          </a:prstGeom>
          <a:solidFill>
            <a:srgbClr val="111A2E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5204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migrate dev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1280160"/>
            <a:ext cx="3931920" cy="3383280"/>
          </a:xfrm>
          <a:prstGeom prst="rect">
            <a:avLst/>
          </a:prstGeom>
          <a:solidFill>
            <a:srgbClr val="182338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3716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📌 กรณีเริ่มใหม่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892040" y="1965960"/>
            <a:ext cx="3474720" cy="640080"/>
          </a:xfrm>
          <a:prstGeom prst="rect">
            <a:avLst/>
          </a:prstGeom>
          <a:solidFill>
            <a:srgbClr val="111A2E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9659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ออกแบบ schema.prisma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92040" y="2743200"/>
            <a:ext cx="3474720" cy="640080"/>
          </a:xfrm>
          <a:prstGeom prst="rect">
            <a:avLst/>
          </a:prstGeom>
          <a:solidFill>
            <a:srgbClr val="111A2E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274320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migrate dev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29 / 39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6 • MIGRATION DEEP DIVE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db push vs migrate — ต่างกันอย่างไร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14478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หัวข้อ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db push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migrate dev / deploy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5E7E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เหมาะกับ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5E7E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prototype / dev เร็ว ๆ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5E7E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ทีม / production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5E7E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มี history?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5E7E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❌ ไม่มี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5E7E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✅ เก็บใน prisma/migrations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5E7E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ใช้ใน prod?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5E7E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❌ ไม่แนะนำ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5E7E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✅ ใช้ migrate deploy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5E7E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rollback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5E7E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❌ ยาก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5E7EB"/>
                          </a:solidFill>
                          <a:latin typeface="Tahoma" pitchFamily="34" charset="0"/>
                          <a:ea typeface="Tahoma" pitchFamily="34" charset="-122"/>
                          <a:cs typeface="Tahoma" pitchFamily="34" charset="-120"/>
                        </a:rPr>
                        <a:t>✅ ทำผ่าน git + re-migrate</a:t>
                      </a:r>
                      <a:endParaRPr lang="en-US" sz="1300" dirty="0">
                        <a:latin typeface="Tahoma" charset="0"/>
                        <a:ea typeface="Tahoma" charset="0"/>
                        <a:cs typeface="Tahoma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B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3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30 / 39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7 • PRODUCTION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Deployment — migrate deploy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ใช้เมื่อ deploy ขึ้น staging / production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ไม่สร้าง migration ใหม่ — แค่รันไฟล์ที่มีอยู่ใน prisma/migrations/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ควรรันเป็นขั้นตอนแรกของ CI/CD ก่อนสตาร์ท API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8046720" cy="1188720"/>
          </a:xfrm>
          <a:prstGeom prst="rect">
            <a:avLst/>
          </a:prstGeom>
          <a:solidFill>
            <a:srgbClr val="05080F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80720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80720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280720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2743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081528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รันทุก migration ที่ยังไม่ถูกใช้กับ production DB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prisma migrate deploy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31 / 39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7 • PRODUCTION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Error Handling — try/catch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ครอบ query ด้วย try/catch เสมอในโค้ด production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4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จับ PrismaClientKnownRequestError เพื่อแยก error code เช่น P2002 (unique)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8046720" cy="2103120"/>
          </a:xfrm>
          <a:prstGeom prst="rect">
            <a:avLst/>
          </a:prstGeom>
          <a:solidFill>
            <a:srgbClr val="05080F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57860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57860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257860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25146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852928"/>
            <a:ext cx="7589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</a:t>
            </a: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prisma.user.</a:t>
            </a: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</a:t>
            </a: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 data })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</a:t>
            </a: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 </a:t>
            </a: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(err) {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(err.code === </a:t>
            </a: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"P2002"</a:t>
            </a: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email ซ้ำ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</a:t>
            </a: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3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(err)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32 / 39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7 • PRODUCTION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Performance — ทำให้ Query เร็วขึ้น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0467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select เพื่อดึงเฉพาะ field ที่ใช้ — ลด payload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สร้าง index บน field ที่ query บ่อยด้วย @@index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หลีกเลี่ยง N+1 — ใช้ include แทน loop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pagination (take / skip หรือ cursor) เสมอในรายการใหญ่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6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connection pooling (PgBouncer / Prisma Accelerate)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33 / 39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7 • PRODUCTION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Best Practices — Production Ready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8046720" cy="530352"/>
          </a:xfrm>
          <a:prstGeom prst="rect">
            <a:avLst/>
          </a:prstGeom>
          <a:solidFill>
            <a:srgbClr val="182338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73152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36245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git เสมอ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136245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commit schema.prisma และ prisma/migrations ทุกครั้ง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1947672"/>
            <a:ext cx="8046720" cy="530352"/>
          </a:xfrm>
          <a:prstGeom prst="rect">
            <a:avLst/>
          </a:prstGeom>
          <a:solidFill>
            <a:srgbClr val="182338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947672"/>
            <a:ext cx="73152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9842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ไม่แก้ DB ด้วยมือ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98424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ทุกการเปลี่ยน schema ต้องผ่าน migration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569464"/>
            <a:ext cx="8046720" cy="530352"/>
          </a:xfrm>
          <a:prstGeom prst="rect">
            <a:avLst/>
          </a:prstGeom>
          <a:solidFill>
            <a:srgbClr val="182338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569464"/>
            <a:ext cx="73152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60604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backup ก่อน migrate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2606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โดยเฉพาะ production — สำรอง database ก่อนเสมอ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191256"/>
            <a:ext cx="8046720" cy="530352"/>
          </a:xfrm>
          <a:prstGeom prst="rect">
            <a:avLst/>
          </a:prstGeom>
          <a:solidFill>
            <a:srgbClr val="182338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191256"/>
            <a:ext cx="73152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2278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ตั้งชื่อ migration ชัดเจน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291840" y="322783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เช่น add_order_status, drop_legacy_log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3813048"/>
            <a:ext cx="8046720" cy="530352"/>
          </a:xfrm>
          <a:prstGeom prst="rect">
            <a:avLst/>
          </a:prstGeom>
          <a:solidFill>
            <a:srgbClr val="182338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3813048"/>
            <a:ext cx="73152" cy="5303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84962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แยก dev / prod DB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291840" y="384962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อย่ารัน migrate dev ชน production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34 / 39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8 • INTEGRATION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Integration — ใช้กับ Express.js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import prisma client เข้ามาใช้ใน route handler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 async/await + return JSON กลับไปให้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8046720" cy="2286000"/>
          </a:xfrm>
          <a:prstGeom prst="rect">
            <a:avLst/>
          </a:prstGeom>
          <a:solidFill>
            <a:srgbClr val="05080F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239572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239572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239572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2331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javascript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2670048"/>
            <a:ext cx="7589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 /users — คืนรายชื่อผู้ใช้ทั้งหมด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</a:t>
            </a:r>
            <a:r>
              <a:rPr lang="en-US" sz="14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4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"/users"</a:t>
            </a: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 </a:t>
            </a: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(req, res) =&gt; {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</a:t>
            </a: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 = </a:t>
            </a:r>
            <a:r>
              <a:rPr lang="en-US" sz="14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prisma.user.</a:t>
            </a:r>
            <a:r>
              <a:rPr lang="en-US" sz="14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findMany</a:t>
            </a: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res.</a:t>
            </a:r>
            <a:r>
              <a:rPr lang="en-US" sz="14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</a:t>
            </a: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(users)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35 / 39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8 • INTEGRATION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Studio — GUI จัดการข้อมูล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GUI สำเร็จรูปสำหรับดู / แก้ข้อมูลในฐานข้อมูลผ่านเบราว์เซอร์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เหมาะกับ developer / QA — ใช้แทน client DB เพิ่มเติมไม่ได้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500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ไม่ควรเปิดเชื่อมตรงกับ production DB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063240"/>
            <a:ext cx="8046720" cy="1280160"/>
          </a:xfrm>
          <a:prstGeom prst="rect">
            <a:avLst/>
          </a:prstGeom>
          <a:solidFill>
            <a:srgbClr val="05080F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3172968"/>
            <a:ext cx="109728" cy="10972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" y="3172968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96696" y="3172968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3108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447288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เปิด Prisma Studio ที่ http://localhost:5555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prisma studio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36 / 39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9 • REAL-WORLD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ตัวอย่างใช้งานจริง — User / Order / Approval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2651760" cy="3017520"/>
          </a:xfrm>
          <a:prstGeom prst="rect">
            <a:avLst/>
          </a:prstGeom>
          <a:solidFill>
            <a:srgbClr val="182338"/>
          </a:solidFill>
          <a:ln w="25400">
            <a:solidFill>
              <a:srgbClr val="38BDF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71600"/>
            <a:ext cx="2651760" cy="50292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3990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User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บัญชีผู้ใช้ขององค์กร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83280" y="1371600"/>
            <a:ext cx="2651760" cy="3017520"/>
          </a:xfrm>
          <a:prstGeom prst="rect">
            <a:avLst/>
          </a:prstGeom>
          <a:solidFill>
            <a:srgbClr val="182338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371600"/>
            <a:ext cx="2651760" cy="5029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3990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Order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520440" y="1965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คำสั่งซื้อ / request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246888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userId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2651760" cy="3017520"/>
          </a:xfrm>
          <a:prstGeom prst="rect">
            <a:avLst/>
          </a:prstGeom>
          <a:solidFill>
            <a:srgbClr val="182338"/>
          </a:solidFill>
          <a:ln w="25400">
            <a:solidFill>
              <a:srgbClr val="F472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371600"/>
            <a:ext cx="2651760" cy="50292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39903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1220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Approval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355080" y="19659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การอนุมัติตามลำดับชั้น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468880"/>
            <a:ext cx="23774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orderId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approverId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CA3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Relation: User 1—N Order 1—N Approval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37 / 39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10B981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SECTION 10 • 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สรุป — Prisma + Migration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931920" cy="1371600"/>
          </a:xfrm>
          <a:prstGeom prst="rect">
            <a:avLst/>
          </a:prstGeom>
          <a:solidFill>
            <a:srgbClr val="182338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71600"/>
            <a:ext cx="91440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= ORM Modern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9659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■"/>
            </a:pPr>
            <a:r>
              <a:rPr lang="en-US" sz="12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Type-safe, schema-first</a:t>
            </a:r>
            <a:endParaRPr lang="en-US" sz="1200" dirty="0"/>
          </a:p>
          <a:p>
            <a:pPr marL="342900" indent="-342900">
              <a:buSzPct val="100000"/>
              <a:buChar char="■"/>
            </a:pPr>
            <a:r>
              <a:rPr lang="en-US" sz="12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ลดเวลา dev และลด bug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3931920" cy="1371600"/>
          </a:xfrm>
          <a:prstGeom prst="rect">
            <a:avLst/>
          </a:prstGeom>
          <a:solidFill>
            <a:srgbClr val="182338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371600"/>
            <a:ext cx="91440" cy="13716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Migration = หัวใจของระบบ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9659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■"/>
            </a:pPr>
            <a:r>
              <a:rPr lang="en-US" sz="12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Version-controlled schema</a:t>
            </a:r>
            <a:endParaRPr lang="en-US" sz="1200" dirty="0"/>
          </a:p>
          <a:p>
            <a:pPr marL="342900" indent="-342900">
              <a:buSzPct val="100000"/>
              <a:buChar char="■"/>
            </a:pPr>
            <a:r>
              <a:rPr lang="en-US" sz="12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Safe + repeatable deploy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3931920" cy="1371600"/>
          </a:xfrm>
          <a:prstGeom prst="rect">
            <a:avLst/>
          </a:prstGeom>
          <a:solidFill>
            <a:srgbClr val="182338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926080"/>
            <a:ext cx="91440" cy="137160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063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db pull / push / migrate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35204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■"/>
            </a:pPr>
            <a:r>
              <a:rPr lang="en-US" sz="12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ใช้ให้ถูกสถานการณ์</a:t>
            </a:r>
            <a:endParaRPr lang="en-US" sz="1200" dirty="0"/>
          </a:p>
          <a:p>
            <a:pPr marL="342900" indent="-342900">
              <a:buSzPct val="100000"/>
              <a:buChar char="■"/>
            </a:pPr>
            <a:r>
              <a:rPr lang="en-US" sz="12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ป้องกัน schema conflict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3931920" cy="1371600"/>
          </a:xfrm>
          <a:prstGeom prst="rect">
            <a:avLst/>
          </a:prstGeom>
          <a:solidFill>
            <a:srgbClr val="182338"/>
          </a:solidFill>
          <a:ln w="12700">
            <a:solidFill>
              <a:srgbClr val="1F2B4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2926080"/>
            <a:ext cx="91440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3063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Best Practices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352044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■"/>
            </a:pPr>
            <a:r>
              <a:rPr lang="en-US" sz="12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git + backup + CI migrate deploy</a:t>
            </a:r>
            <a:endParaRPr lang="en-US" sz="1200" dirty="0"/>
          </a:p>
          <a:p>
            <a:pPr marL="342900" indent="-342900">
              <a:buSzPct val="100000"/>
              <a:buChar char="■"/>
            </a:pPr>
            <a:r>
              <a:rPr lang="en-US" sz="12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ไม่แก้ DB ด้วยมือ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046720" y="486460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38 / 39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78908"/>
            <a:ext cx="9144000" cy="164592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_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400" b="1" dirty="0">
                <a:solidFill>
                  <a:srgbClr val="E5E7EB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Q &amp; A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ขอบคุณที่ตั้งใจฟังครับ — เปิดถามคำถามได้เลย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A3AF"/>
                </a:solidFill>
                <a:latin typeface="Tahoma" pitchFamily="34" charset="0"/>
                <a:ea typeface="Tahoma" pitchFamily="34" charset="-122"/>
                <a:cs typeface="Tahoma" pitchFamily="34" charset="-120"/>
              </a:rPr>
              <a:t>Prisma ORM + Node.js • Production Ready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</cp:revision>
  <dcterms:created xsi:type="dcterms:W3CDTF">2026-04-24T07:45:44Z</dcterms:created>
  <dcterms:modified xsi:type="dcterms:W3CDTF">2026-04-24T07:54:42Z</dcterms:modified>
</cp:coreProperties>
</file>