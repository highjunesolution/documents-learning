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CE3E58-33F3-F614-EA5B-7A4A506E7D81}" v="2" dt="2026-04-24T05:01:55.7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1I2 Jirayu S.Kaw" userId="S::300260129@th.maxxis.com::f59d7631-84c6-4c5a-a848-622dc00af3ab" providerId="AD" clId="Web-{17CE3E58-33F3-F614-EA5B-7A4A506E7D81}"/>
    <pc:docChg chg="mod addSld delSld modSld addMainMaster delMainMaster modNotesMaster setSldSz">
      <pc:chgData name="D1I2 Jirayu S.Kaw" userId="S::300260129@th.maxxis.com::f59d7631-84c6-4c5a-a848-622dc00af3ab" providerId="AD" clId="Web-{17CE3E58-33F3-F614-EA5B-7A4A506E7D81}" dt="2026-04-24T05:01:55.774" v="1"/>
      <pc:docMkLst>
        <pc:docMk/>
      </pc:docMkLst>
      <pc:sldChg chg="ad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0" sldId="256"/>
        </pc:sldMkLst>
      </pc:sldChg>
      <pc:sldChg chg="ad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0" sldId="257"/>
        </pc:sldMkLst>
      </pc:sldChg>
      <pc:sldChg chg="ad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0" sldId="258"/>
        </pc:sldMkLst>
      </pc:sldChg>
      <pc:sldChg chg="ad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0" sldId="259"/>
        </pc:sldMkLst>
      </pc:sldChg>
      <pc:sldChg chg="ad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0" sldId="260"/>
        </pc:sldMkLst>
      </pc:sldChg>
      <pc:sldChg chg="ad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0" sldId="261"/>
        </pc:sldMkLst>
      </pc:sldChg>
      <pc:sldChg chg="ad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0" sldId="262"/>
        </pc:sldMkLst>
      </pc:sldChg>
      <pc:sldChg chg="ad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0" sldId="263"/>
        </pc:sldMkLst>
      </pc:sldChg>
      <pc:sldChg chg="ad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0" sldId="264"/>
        </pc:sldMkLst>
      </pc:sldChg>
      <pc:sldChg chg="ad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0" sldId="265"/>
        </pc:sldMkLst>
      </pc:sldChg>
      <pc:sldChg chg="ad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0" sldId="266"/>
        </pc:sldMkLst>
      </pc:sldChg>
      <pc:sldChg chg="ad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0" sldId="267"/>
        </pc:sldMkLst>
      </pc:sldChg>
      <pc:sldChg chg="ad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0" sldId="268"/>
        </pc:sldMkLst>
      </pc:sldChg>
      <pc:sldChg chg="ad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0" sldId="269"/>
        </pc:sldMkLst>
      </pc:sldChg>
      <pc:sldChg chg="ad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0" sldId="270"/>
        </pc:sldMkLst>
      </pc:sldChg>
      <pc:sldChg chg="ad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0" sldId="271"/>
        </pc:sldMkLst>
      </pc:sldChg>
      <pc:sldChg chg="ad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0" sldId="272"/>
        </pc:sldMkLst>
      </pc:sldChg>
      <pc:sldChg chg="ad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0" sldId="273"/>
        </pc:sldMkLst>
      </pc:sldChg>
      <pc:sldChg chg="ad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0" sldId="274"/>
        </pc:sldMkLst>
      </pc:sldChg>
      <pc:sldChg chg="ad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0" sldId="275"/>
        </pc:sldMkLst>
      </pc:sldChg>
      <pc:sldChg chg="ad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0" sldId="276"/>
        </pc:sldMkLst>
      </pc:sldChg>
      <pc:sldChg chg="ad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0" sldId="277"/>
        </pc:sldMkLst>
      </pc:sldChg>
      <pc:sldChg chg="ad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0" sldId="278"/>
        </pc:sldMkLst>
      </pc:sldChg>
      <pc:sldChg chg="ad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0" sldId="279"/>
        </pc:sldMkLst>
      </pc:sldChg>
      <pc:sldChg chg="ad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0" sldId="280"/>
        </pc:sldMkLst>
      </pc:sldChg>
      <pc:sldChg chg="ad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0" sldId="281"/>
        </pc:sldMkLst>
      </pc:sldChg>
      <pc:sldChg chg="ad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0" sldId="282"/>
        </pc:sldMkLst>
      </pc:sldChg>
      <pc:sldChg chg="ad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0" sldId="283"/>
        </pc:sldMkLst>
      </pc:sldChg>
      <pc:sldChg chg="del replId">
        <pc:chgData name="D1I2 Jirayu S.Kaw" userId="S::300260129@th.maxxis.com::f59d7631-84c6-4c5a-a848-622dc00af3ab" providerId="AD" clId="Web-{17CE3E58-33F3-F614-EA5B-7A4A506E7D81}" dt="2026-04-24T05:01:55.774" v="1"/>
        <pc:sldMkLst>
          <pc:docMk/>
          <pc:sldMk cId="109857222" sldId="284"/>
        </pc:sldMkLst>
      </pc:sldChg>
      <pc:sldMasterChg chg="add addSldLayout">
        <pc:chgData name="D1I2 Jirayu S.Kaw" userId="S::300260129@th.maxxis.com::f59d7631-84c6-4c5a-a848-622dc00af3ab" providerId="AD" clId="Web-{17CE3E58-33F3-F614-EA5B-7A4A506E7D81}" dt="2026-04-24T05:01:55.774" v="1"/>
        <pc:sldMasterMkLst>
          <pc:docMk/>
          <pc:sldMasterMk cId="0" sldId="2147483648"/>
        </pc:sldMasterMkLst>
        <pc:sldLayoutChg chg="add">
          <pc:chgData name="D1I2 Jirayu S.Kaw" userId="S::300260129@th.maxxis.com::f59d7631-84c6-4c5a-a848-622dc00af3ab" providerId="AD" clId="Web-{17CE3E58-33F3-F614-EA5B-7A4A506E7D81}" dt="2026-04-24T05:01:55.774" v="1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del delSldLayout">
        <pc:chgData name="D1I2 Jirayu S.Kaw" userId="S::300260129@th.maxxis.com::f59d7631-84c6-4c5a-a848-622dc00af3ab" providerId="AD" clId="Web-{17CE3E58-33F3-F614-EA5B-7A4A506E7D81}" dt="2026-04-24T05:01:55.774" v="1"/>
        <pc:sldMasterMkLst>
          <pc:docMk/>
          <pc:sldMasterMk cId="2460954070" sldId="2147483660"/>
        </pc:sldMasterMkLst>
        <pc:sldLayoutChg chg="del">
          <pc:chgData name="D1I2 Jirayu S.Kaw" userId="S::300260129@th.maxxis.com::f59d7631-84c6-4c5a-a848-622dc00af3ab" providerId="AD" clId="Web-{17CE3E58-33F3-F614-EA5B-7A4A506E7D81}" dt="2026-04-24T05:01:55.774" v="1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D1I2 Jirayu S.Kaw" userId="S::300260129@th.maxxis.com::f59d7631-84c6-4c5a-a848-622dc00af3ab" providerId="AD" clId="Web-{17CE3E58-33F3-F614-EA5B-7A4A506E7D81}" dt="2026-04-24T05:01:55.774" v="1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D1I2 Jirayu S.Kaw" userId="S::300260129@th.maxxis.com::f59d7631-84c6-4c5a-a848-622dc00af3ab" providerId="AD" clId="Web-{17CE3E58-33F3-F614-EA5B-7A4A506E7D81}" dt="2026-04-24T05:01:55.774" v="1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D1I2 Jirayu S.Kaw" userId="S::300260129@th.maxxis.com::f59d7631-84c6-4c5a-a848-622dc00af3ab" providerId="AD" clId="Web-{17CE3E58-33F3-F614-EA5B-7A4A506E7D81}" dt="2026-04-24T05:01:55.774" v="1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D1I2 Jirayu S.Kaw" userId="S::300260129@th.maxxis.com::f59d7631-84c6-4c5a-a848-622dc00af3ab" providerId="AD" clId="Web-{17CE3E58-33F3-F614-EA5B-7A4A506E7D81}" dt="2026-04-24T05:01:55.774" v="1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D1I2 Jirayu S.Kaw" userId="S::300260129@th.maxxis.com::f59d7631-84c6-4c5a-a848-622dc00af3ab" providerId="AD" clId="Web-{17CE3E58-33F3-F614-EA5B-7A4A506E7D81}" dt="2026-04-24T05:01:55.774" v="1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D1I2 Jirayu S.Kaw" userId="S::300260129@th.maxxis.com::f59d7631-84c6-4c5a-a848-622dc00af3ab" providerId="AD" clId="Web-{17CE3E58-33F3-F614-EA5B-7A4A506E7D81}" dt="2026-04-24T05:01:55.774" v="1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D1I2 Jirayu S.Kaw" userId="S::300260129@th.maxxis.com::f59d7631-84c6-4c5a-a848-622dc00af3ab" providerId="AD" clId="Web-{17CE3E58-33F3-F614-EA5B-7A4A506E7D81}" dt="2026-04-24T05:01:55.774" v="1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D1I2 Jirayu S.Kaw" userId="S::300260129@th.maxxis.com::f59d7631-84c6-4c5a-a848-622dc00af3ab" providerId="AD" clId="Web-{17CE3E58-33F3-F614-EA5B-7A4A506E7D81}" dt="2026-04-24T05:01:55.774" v="1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D1I2 Jirayu S.Kaw" userId="S::300260129@th.maxxis.com::f59d7631-84c6-4c5a-a848-622dc00af3ab" providerId="AD" clId="Web-{17CE3E58-33F3-F614-EA5B-7A4A506E7D81}" dt="2026-04-24T05:01:55.774" v="1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D1I2 Jirayu S.Kaw" userId="S::300260129@th.maxxis.com::f59d7631-84c6-4c5a-a848-622dc00af3ab" providerId="AD" clId="Web-{17CE3E58-33F3-F614-EA5B-7A4A506E7D81}" dt="2026-04-24T05:01:55.774" v="1"/>
          <pc:sldLayoutMkLst>
            <pc:docMk/>
            <pc:sldMasterMk cId="2460954070" sldId="2147483660"/>
            <pc:sldLayoutMk cId="3479445657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523DC4-0620-419C-8BD4-1B8C5235B721}" type="datetimeFigureOut"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538371-9139-4CF3-86B0-193D4372B50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572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cover_modern-server-room-with-blue-led-lights-clean-data_2026-04-24T04-52-40_image_DAS_0.jp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การจัดการและใช้งาน IIS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Information Services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37160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+ Windows Server | Production Ready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00400" y="3840480"/>
            <a:ext cx="27432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สำหรับ System Admin | Backend Developer | ผู้ดูแล Web Server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IIS คืออะไร?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0292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2980B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087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371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Internet Information Services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2103120"/>
            <a:ext cx="4480560" cy="237744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ที่พัฒนาโดย Microsoft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 HTTP, HTTPS, FTP, SMTP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host Website, Web API, Web Application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มาพร้อมกับ Windows OS ทุกรุ่น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 .NET Framework และ .NET Core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760720" y="1097280"/>
            <a:ext cx="29260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1234440"/>
            <a:ext cx="411480" cy="411480"/>
          </a:xfrm>
          <a:prstGeom prst="ellipse">
            <a:avLst/>
          </a:prstGeom>
          <a:solidFill>
            <a:srgbClr val="F4F6F9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470" y="1337310"/>
            <a:ext cx="205740" cy="2057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92240" y="1234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 Website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&amp; Dynamic Content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760720" y="2377440"/>
            <a:ext cx="29260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943600" y="2514600"/>
            <a:ext cx="411480" cy="411480"/>
          </a:xfrm>
          <a:prstGeom prst="ellipse">
            <a:avLst/>
          </a:prstGeom>
          <a:solidFill>
            <a:srgbClr val="F4F6F9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470" y="2617470"/>
            <a:ext cx="205740" cy="2057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2514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 API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&amp; Web Services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760720" y="3657600"/>
            <a:ext cx="29260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943600" y="3794760"/>
            <a:ext cx="411480" cy="411480"/>
          </a:xfrm>
          <a:prstGeom prst="ellipse">
            <a:avLst/>
          </a:prstGeom>
          <a:solidFill>
            <a:srgbClr val="F4F6F9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6470" y="3897630"/>
            <a:ext cx="205740" cy="2057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92240" y="37947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Ready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Performance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IIS ทำงานอย่างไร? — Request/Response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194560"/>
            <a:ext cx="457200" cy="457200"/>
          </a:xfrm>
          <a:prstGeom prst="ellipse">
            <a:avLst/>
          </a:prstGeom>
          <a:solidFill>
            <a:srgbClr val="F4F6F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" y="230886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(Browser)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28600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→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377440" y="2743200"/>
            <a:ext cx="1188720" cy="0"/>
          </a:xfrm>
          <a:prstGeom prst="line">
            <a:avLst/>
          </a:prstGeom>
          <a:noFill/>
          <a:ln w="25400">
            <a:solidFill>
              <a:srgbClr val="2980B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86000" y="2834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Response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566160" y="2011680"/>
            <a:ext cx="2011680" cy="1463040"/>
          </a:xfrm>
          <a:prstGeom prst="rect">
            <a:avLst/>
          </a:prstGeom>
          <a:solidFill>
            <a:srgbClr val="1A5276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21488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IIS Server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57600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Authentication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Static Files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57784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→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669280" y="2743200"/>
            <a:ext cx="1188720" cy="0"/>
          </a:xfrm>
          <a:prstGeom prst="line">
            <a:avLst/>
          </a:prstGeom>
          <a:noFill/>
          <a:ln w="25400">
            <a:solidFill>
              <a:srgbClr val="2980B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577840" y="2834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Result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858000" y="201168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452360" y="2194560"/>
            <a:ext cx="457200" cy="457200"/>
          </a:xfrm>
          <a:prstGeom prst="ellipse">
            <a:avLst/>
          </a:prstGeom>
          <a:solidFill>
            <a:srgbClr val="F4F6F9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6660" y="2308860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58000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(.NET / Node.js)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731520" y="4023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Key: </a:t>
            </a: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 รับ request จาก client → ตรวจสอบ routing และ authentication → ส่งต่อไปยัง application → ส่ง response กลับ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ความแตกต่าง: Local vs Windows Server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5486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43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  Local (Windows 10/11)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566160" cy="27432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สำหรับ Development &amp; Testing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เปิดผ่าน Windows Features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จำกัด 10 connections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Remote Desktop built-in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เหมาะสำหรับทดสอบก่อน deploy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3931920" cy="5486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143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🖧  Windows Server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566160" cy="27432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สำหรับ Production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ติดตั้งผ่าน Server Manager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ไม่จำกัด connections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 Advanced Features ครบ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 Load Balancing &amp; Clustering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การติดตั้ง IIS บน Local (Windows 10/11)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34440"/>
            <a:ext cx="502920" cy="50292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เปิด Control Panel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1508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→ Turn Windows features on or off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เลือก Internet Information Services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423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ติ๊กเครื่องหมายถูกที่ IIS และ sub-features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รอติดตั้ง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3337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จะดาวน์โหลดและติดตั้ง components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ทดสอบ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4251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 browser → http://localhost → เห็น IIS Welcome Page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สามารถใช้ PowerShell ได้เช่นกัน — Enable-WindowsOptionalFeature -Online -FeatureName IIS-WebServer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การติดตั้ง IIS บน Windows Server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34440"/>
            <a:ext cx="502920" cy="50292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เปิด Server Manager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1508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→ Add Roles and 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เลือก Role-based installation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423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Type → Role-based or feature-based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เลือก Web Server (IIS)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3337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Roles → เลือก Web Server (IIS) พร้อม sub-features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เลือก Features เพิ่มเติม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4251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.NET, ASP.NET, URL Rewrite, Management Tools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PowerShell: Install-WindowsFeature -name Web-Server -IncludeManagementTools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IIS Manager — ภาพรวม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2860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286000" cy="4114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15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SERVER-NAME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▸ Application Pools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▸ Sites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▸ Default Web Site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▸ MyApp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▸ Web Platform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0" y="1097280"/>
            <a:ext cx="38404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26080" y="1097280"/>
            <a:ext cx="3840480" cy="41148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 View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08960" y="1691640"/>
            <a:ext cx="109728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E1E8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1965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343400" y="1691640"/>
            <a:ext cx="109728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E1E8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1965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Document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577840" y="1691640"/>
            <a:ext cx="109728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E1E8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1965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Browsing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108960" y="2606040"/>
            <a:ext cx="109728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E1E8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2880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Pages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343400" y="2606040"/>
            <a:ext cx="109728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E1E8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43400" y="2880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Mappings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577840" y="2606040"/>
            <a:ext cx="109728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E1E8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2880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Response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108960" y="3520440"/>
            <a:ext cx="109728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E1E8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0" y="3794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343400" y="3520440"/>
            <a:ext cx="109728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E1E8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3400" y="3794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MIME Types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577840" y="3520440"/>
            <a:ext cx="109728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E1E8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3794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949440" y="1097280"/>
            <a:ext cx="17373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949440" y="1097280"/>
            <a:ext cx="1737360" cy="4114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7" name="Text 35"/>
          <p:cNvSpPr/>
          <p:nvPr/>
        </p:nvSpPr>
        <p:spPr>
          <a:xfrm>
            <a:off x="7040880" y="11155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40880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Website...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4088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Defaults...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4088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Application...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04088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04088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Permissions...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040880" y="3474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Website คืออะไรใน IIS?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Website ใน IIS คือหน่วยหลักในการ host เนื้อหา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 Physical Path ชี้ไปยัง folder ที่เก็บไฟล์ (เช่น C:\inetpub\wwwroot)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 Binding กำหนด Protocol, IP, Port, Hostname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สามารถมีหลาย Application ภายใน Website เดียว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017520"/>
            <a:ext cx="2286000" cy="1645920"/>
          </a:xfrm>
          <a:prstGeom prst="rect">
            <a:avLst/>
          </a:prstGeom>
          <a:solidFill>
            <a:srgbClr val="1A5276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2004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Website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Web Site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3474720"/>
            <a:ext cx="1097280" cy="0"/>
          </a:xfrm>
          <a:prstGeom prst="line">
            <a:avLst/>
          </a:prstGeom>
          <a:noFill/>
          <a:ln w="19050">
            <a:solidFill>
              <a:srgbClr val="2980B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3108960"/>
            <a:ext cx="22860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0" y="3154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Path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C:\inetpub\wwwroot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4206240"/>
            <a:ext cx="1097280" cy="0"/>
          </a:xfrm>
          <a:prstGeom prst="line">
            <a:avLst/>
          </a:prstGeom>
          <a:noFill/>
          <a:ln w="19050">
            <a:solidFill>
              <a:srgbClr val="2980B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3886200"/>
            <a:ext cx="22860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89120" y="3931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Binding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http://*:80 (hostname)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3474720"/>
            <a:ext cx="548640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3108960"/>
            <a:ext cx="1554480" cy="731520"/>
          </a:xfrm>
          <a:prstGeom prst="rect">
            <a:avLst/>
          </a:prstGeom>
          <a:solidFill>
            <a:srgbClr val="27AE6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32320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Pool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การสร้าง Website ใน IIS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029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Website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name: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691640"/>
            <a:ext cx="2743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8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691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MyWebsite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0756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pool: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2075688"/>
            <a:ext cx="2743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075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MyWebsite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4597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path: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2459736"/>
            <a:ext cx="2743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8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24597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C:\inetpub\MyWebsite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8437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Type: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68880" y="2843784"/>
            <a:ext cx="2743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8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28437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227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68880" y="3227832"/>
            <a:ext cx="2743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8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32278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Unassigned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68880" y="3611880"/>
            <a:ext cx="2743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8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3611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3995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name: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468880" y="3995928"/>
            <a:ext cx="2743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8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39959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mysite.local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60720" y="1097280"/>
            <a:ext cx="29260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4360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สิ่งที่ต้องกำหนด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43600" y="1691640"/>
            <a:ext cx="2560320" cy="29260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ชื่อ Site ไม่ซ้ำกัน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path ต้องมีอยู่จริง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ต้องไม่ซ้ำ (ยกเว้นใช้ hostname ต่างกัน)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 App Pool ให้เหมาะสม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ตั้ง hostname สำหรับ production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Binding — การกำหนด Protocol, Port, Hostname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5087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Protocol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IP Address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Port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Host Name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ใช้งาน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website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443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app.example.com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HTTPS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8080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staging.local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 environment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292608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สิ่งที่ควรรู้เกี่ยวกับ Binding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474720"/>
            <a:ext cx="7680960" cy="13716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1 ตัว = Protocol + IP + Port + Hostname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หนึ่งสามารถมีหลาย bindings ได้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 port ซ้ำกัน ต้องใช้ hostname ต่างกัน (Host Header)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ต้องมี SSL Certificate กำกับ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hostname ช่วยให้ host หลาย site บน port เดียวกันได้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Pool — แยก Process เพิ่มความปลอดภัย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2286000" cy="1554480"/>
          </a:xfrm>
          <a:prstGeom prst="rect">
            <a:avLst/>
          </a:prstGeom>
          <a:solidFill>
            <a:srgbClr val="EBF5FB"/>
          </a:solidFill>
          <a:ln w="19050">
            <a:solidFill>
              <a:srgbClr val="2980B9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980B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Pool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920240" cy="41148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828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331720"/>
            <a:ext cx="1920240" cy="4114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331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1371600"/>
            <a:ext cx="2286000" cy="1554480"/>
          </a:xfrm>
          <a:prstGeom prst="rect">
            <a:avLst/>
          </a:prstGeom>
          <a:solidFill>
            <a:srgbClr val="E8F8F5"/>
          </a:solidFill>
          <a:ln w="19050">
            <a:solidFill>
              <a:srgbClr val="27AE6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47472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Pool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1828800"/>
            <a:ext cx="1920240" cy="8686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18288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2286000" cy="1554480"/>
          </a:xfrm>
          <a:prstGeom prst="rect">
            <a:avLst/>
          </a:prstGeom>
          <a:solidFill>
            <a:srgbClr val="FDEBD0"/>
          </a:solidFill>
          <a:ln w="19050">
            <a:solidFill>
              <a:srgbClr val="F39C12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21792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9C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Pool 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828800"/>
            <a:ext cx="1920240" cy="8686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8288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566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ทำไมต้องแยก App Pool?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3566160" cy="9144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 process → crash ไม่กระทบกัน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 identity/permission แยกกัน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จัดการ resource แยก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347472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3566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แนวทางที่ดี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3931920"/>
            <a:ext cx="3566160" cy="9144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Website = 1 App Pool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 production กับ staging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แยก pool จาก Website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การตั้งค่า Application Pool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280160"/>
            <a:ext cx="457200" cy="457200"/>
          </a:xfrm>
          <a:prstGeom prst="ellipse">
            <a:avLst/>
          </a:prstGeom>
          <a:solidFill>
            <a:srgbClr val="F4F6F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620" y="139446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.NET CLR Version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2286000"/>
            <a:ext cx="2377440" cy="210312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v4.0 — สำหรับ .NET Framework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— สำหรับ legacy apps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Managed Code — สำหรับ static/Node.js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1960" y="1280160"/>
            <a:ext cx="457200" cy="457200"/>
          </a:xfrm>
          <a:prstGeom prst="ellipse">
            <a:avLst/>
          </a:prstGeom>
          <a:solidFill>
            <a:srgbClr val="F4F6F9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260" y="139446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Mode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29000" y="2286000"/>
            <a:ext cx="2377440" cy="210312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— แนะนำ (รวม ASP.NET กับ IIS)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— สำหรับ legacy ASP.NET เท่านั้น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86600" y="1280160"/>
            <a:ext cx="457200" cy="457200"/>
          </a:xfrm>
          <a:prstGeom prst="ellipse">
            <a:avLst/>
          </a:prstGeom>
          <a:solidFill>
            <a:srgbClr val="F4F6F9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0" y="139446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63640" y="2286000"/>
            <a:ext cx="2377440" cy="210312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ApplicationPoolIdentity — default ปลอดภัย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NetworkService — เข้าถึง network ได้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Account — กำหนดเอง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Static Website (HTML/CSS/JS)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14300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124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สร้าง folder สำหรับ website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39903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C:\inetpub\MyStaticSite\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01368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89280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คัดลอกไฟล์ HTML/CSS/JS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1488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index.html, style.css, app.js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51176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642616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2624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สร้าง Website ใน IIS Manager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28986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Website → ชี้ Physical Path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00984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392424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33741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กำหนด Binding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364845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/ port 80 / hostname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050792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142232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41239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ทดสอบผ่าน Browser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80160" y="43982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 หรือ http://hostname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Static site ไม่ต้อง runtime เพิ่มเติม — IIS จัดการ file serving โดยตรง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Node.js บน IIS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5029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วิธีที่ 1: iisnode Module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ติดตั้ง iisnode module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 จัดการ Node.js process โดยตรง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web.config กำหนด handler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 process recycling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ไม่ค่อย maintained แล้ว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3931920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วิธีที่ 2: Reverse Proxy 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ทำงานเป็น service แยก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 ทำ reverse proxy ไป localhost:3000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URL Rewrite module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ยืดหยุ่นกว่า, แนะนำ ✓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จัดการ SSL/Domain ที่ IIS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Reverse Proxy — Architecture Diagram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6459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F4F6F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71450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148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920240" y="2057400"/>
            <a:ext cx="731520" cy="0"/>
          </a:xfrm>
          <a:prstGeom prst="line">
            <a:avLst/>
          </a:prstGeom>
          <a:noFill/>
          <a:ln w="25400">
            <a:solidFill>
              <a:srgbClr val="2980B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20240" y="1645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:443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651760" y="1280160"/>
            <a:ext cx="2926080" cy="2560320"/>
          </a:xfrm>
          <a:prstGeom prst="rect">
            <a:avLst/>
          </a:prstGeom>
          <a:solidFill>
            <a:srgbClr val="1A5276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651760" y="1371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IIS Server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834640" y="1828800"/>
            <a:ext cx="2560320" cy="502920"/>
          </a:xfrm>
          <a:prstGeom prst="rect">
            <a:avLst/>
          </a:prstGeom>
          <a:solidFill>
            <a:srgbClr val="2471A3"/>
          </a:solidFill>
          <a:ln/>
        </p:spPr>
      </p:sp>
      <p:sp>
        <p:nvSpPr>
          <p:cNvPr id="14" name="Text 11"/>
          <p:cNvSpPr/>
          <p:nvPr/>
        </p:nvSpPr>
        <p:spPr>
          <a:xfrm>
            <a:off x="2834640" y="1828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Termination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834640" y="2423160"/>
            <a:ext cx="2560320" cy="502920"/>
          </a:xfrm>
          <a:prstGeom prst="rect">
            <a:avLst/>
          </a:prstGeom>
          <a:solidFill>
            <a:srgbClr val="2471A3"/>
          </a:solidFill>
          <a:ln/>
        </p:spPr>
      </p:sp>
      <p:sp>
        <p:nvSpPr>
          <p:cNvPr id="16" name="Text 13"/>
          <p:cNvSpPr/>
          <p:nvPr/>
        </p:nvSpPr>
        <p:spPr>
          <a:xfrm>
            <a:off x="2834640" y="2423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Rewrite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834640" y="3017520"/>
            <a:ext cx="2560320" cy="502920"/>
          </a:xfrm>
          <a:prstGeom prst="rect">
            <a:avLst/>
          </a:prstGeom>
          <a:solidFill>
            <a:srgbClr val="2471A3"/>
          </a:solidFill>
          <a:ln/>
        </p:spPr>
      </p:sp>
      <p:sp>
        <p:nvSpPr>
          <p:cNvPr id="18" name="Text 15"/>
          <p:cNvSpPr/>
          <p:nvPr/>
        </p:nvSpPr>
        <p:spPr>
          <a:xfrm>
            <a:off x="2834640" y="3017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→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577840" y="2057400"/>
            <a:ext cx="731520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77840" y="1645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:3000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309360" y="1463040"/>
            <a:ext cx="2377440" cy="1280160"/>
          </a:xfrm>
          <a:prstGeom prst="rect">
            <a:avLst/>
          </a:prstGeom>
          <a:solidFill>
            <a:srgbClr val="27AE60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30936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App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5F5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localhost:3000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74320" y="3931920"/>
            <a:ext cx="8595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Flow: </a:t>
            </a: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IIS (SSL + URL Rewrite) → http://localhost:3000 → Node.js App → Response กลับผ่าน IIS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ข้อดี: จัดการ SSL, Domain, Load Balancing ที่ IIS ได้ง่าย — Node.js โฟกัสแค่ logic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ตัวอย่าง web.config สำหรับ Reverse Proxy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2D3748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234440"/>
            <a:ext cx="7680960" cy="2926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&lt;?xml version="1.0" encoding="UTF-8"?&gt;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&lt;configuration&gt;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&lt;system.webServer&gt;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&lt;rewrite&gt;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&lt;rules&gt;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E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&lt;rule name="ReverseProxy"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stopProcessing="true"&gt;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&lt;match url="(.*)" /&gt;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&lt;action type="Rewrite"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DA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url="http://localhost:3000/{R:1}" /&gt;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&lt;/rule&gt;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&lt;/rules&gt;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&lt;/rewrite&gt;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&lt;/system.webServer&gt;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&lt;/configuration&gt;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📌 </a:t>
            </a:r>
            <a:r>
              <a:rPr lang="en-US" sz="1100" b="1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url="http://localhost:3000/{R:1}"</a:t>
            </a: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ส่งทุก request ไปยัง Node.js ที่ port 3000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การตั้งค่า URL Rewrite Module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14300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124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ติดตั้ง URL Rewrite Module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39903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ดาวน์โหลดจาก microsoft.com/web → URL Rewrite 2.1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01368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892808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ติดตั้ง ARR (Application Request Routing)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1488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จำเป็นสำหรับ reverse proxy functionality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51176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642616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2624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เปิด ARR Proxy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28986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 Manager → Server → ARR → Enable proxy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300984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392424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33741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เพิ่ม Rewrite Rule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364845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→ URL Rewrite → Add Rule → Reverse Proxy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50792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142232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41239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กำหนด Inbound Rule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80160" y="43982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ระบุ backend server address (เช่น localhost:3000)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ต้องติดตั้งทั้ง URL Rewrite และ ARR ก่อนจึงจะใช้ reverse proxy ได้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การตั้งค่า SSL / HTTPS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rgbClr val="F4F6F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39446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ขั้นตอนการตั้งค่า SSL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1828800"/>
            <a:ext cx="3566160" cy="27432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 SSL Certificate (CA หรือ Let's Encrypt)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certificate เข้า IIS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HTTPS Binding (port 443)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 certificate ที่ import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ตั้งค่า Require SSL ถ้าต้องการบังคับ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HTTP → HTTPS (แนะนำ)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ประเภท Certificate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37760" y="1600200"/>
            <a:ext cx="3566160" cy="118872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Self-signed — ใช้ทดสอบเท่านั้น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Validated (DV) — basic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Validated (OV) — องค์กร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— *.domain.com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310896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37760" y="3200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Encrypt (ฟรี)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37760" y="3611880"/>
            <a:ext cx="3566160" cy="10972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win-acme (WACS) client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Auto-renew ทุก 90 วัน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 IIS โดยตรง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การตั้งค่า Domain Name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DNS → IIS Binding Flow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737360" cy="5029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app.example.com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169164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0" y="1691640"/>
            <a:ext cx="1737360" cy="5029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Server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0" y="169164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54880" y="1691640"/>
            <a:ext cx="1737360" cy="5029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169164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66560" y="1691640"/>
            <a:ext cx="1737360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 Binding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2834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DNS Settings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246120"/>
            <a:ext cx="3566160" cy="1554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Record: domain → IP address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CNAME: subdomain → another domain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ตั้งค่าที่ DNS Provider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 propagation (1-48 ชม.)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74320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2834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IIS Host Name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246120"/>
            <a:ext cx="3566160" cy="1554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Binding → ใส่ Host name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app.example.com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host header ให้ต่าง site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ทดสอบด้วย hosts file ก่อน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Logging และ Monitoring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029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IIS Logs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4572000" cy="29260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ตำแหน่ง: C:\inetpub\logs\LogFiles\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W3C Extended Log (default)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ข้อมูล: date, time, IP, method, URI, status code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ตั้งค่าได้ที่ IIS Manager → Logging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 Rollover: รายวัน, รายชั่วโมง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จำกัดขนาดไฟล์ได้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1097280"/>
            <a:ext cx="29260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ที่แนะนำ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1600200"/>
            <a:ext cx="2560320" cy="118872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Parser Studio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Request Tracing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Viewer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Monitor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3108960"/>
            <a:ext cx="29260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สิ่งที่ต้อง Monitor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3611880"/>
            <a:ext cx="2560320" cy="10972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500 errors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ช้า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Pool crashes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space (logs)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ที่พบบ่อย และวิธีแก้ไข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731520" cy="7772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097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Server Error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134416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สาเหตุ: Application error, permission, web.config ผิด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1554480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แก้ไข: ดู Event Viewer, เปิด detailed errors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920240"/>
            <a:ext cx="731520" cy="7772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92024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1965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Found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221284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สาเหตุ: ไม่มีไฟล์, path ผิด, handler mapping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2423160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แก้ไข: ตรวจ physical path, default document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788920"/>
            <a:ext cx="731520" cy="7772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78892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2834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Forbidden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308152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สาเหตุ: Permission denied, directory browsing ปิด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71600" y="3291840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แก้ไข: ตรวจ folder permission, IIS_IUSRS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657600"/>
            <a:ext cx="731520" cy="7772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65760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600" y="3703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 Gateway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395020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สาเหตุ: Backend ไม่ตอบ (reverse proxy)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71600" y="4160520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แก้ไข: ตรวจ Node.js running, port ถูกต้อง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FDEBD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เปิด Detailed Errors: Error Pages → Edit Feature Settings → Detailed errors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Permission — สิทธิ์การเข้าถึงไฟล์และโฟลเดอร์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Folder Permission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566160" cy="29260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IIS_IUSRS — group สำหรับ anonymous access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IUSR — built-in anonymous user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Pool Identity — virtual account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ต้องให้ Read permission เป็นอย่างน้อย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permission สำหรับ upload/log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icacls command หรือ GUI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คำสั่ง icacls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37760" y="1645920"/>
            <a:ext cx="3566160" cy="13716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691640"/>
            <a:ext cx="32004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"C:\inetpub\MySite"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DA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/grant IIS_IUSRS:(OI)(CI)R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R=Read, W=Write, M=Modify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8328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3474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ข้อควรระวัง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886200"/>
            <a:ext cx="3566160" cy="82296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อย่าให้ Full Control แก่ IIS_IUSRS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principle of least privilege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 permission ทุกครั้งที่ deploy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— การรักษาความปลอดภัย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61872"/>
            <a:ext cx="457200" cy="457200"/>
          </a:xfrm>
          <a:prstGeom prst="ellipse">
            <a:avLst/>
          </a:prstGeom>
          <a:solidFill>
            <a:srgbClr val="F4F6F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376172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1704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Filtering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80160" y="15087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กรอง request ที่อันตราย, จำกัด URL length, block file extensions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0574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221992"/>
            <a:ext cx="457200" cy="457200"/>
          </a:xfrm>
          <a:prstGeom prst="ellipse">
            <a:avLst/>
          </a:prstGeom>
          <a:solidFill>
            <a:srgbClr val="F4F6F9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2336292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1305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Disable Directory Browsing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280160" y="24688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ปิดไม่ให้ list ไฟล์ใน folder — เปิดเฉพาะเวลา debug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30175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3182112"/>
            <a:ext cx="457200" cy="457200"/>
          </a:xfrm>
          <a:prstGeom prst="ellipse">
            <a:avLst/>
          </a:prstGeom>
          <a:solidFill>
            <a:srgbClr val="F4F6F9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3296412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0906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Error Pages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280160" y="34290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ซ่อน error details จาก production — ใช้ custom error pages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080" y="4142232"/>
            <a:ext cx="457200" cy="457200"/>
          </a:xfrm>
          <a:prstGeom prst="ellipse">
            <a:avLst/>
          </a:prstGeom>
          <a:solidFill>
            <a:srgbClr val="F4F6F9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4256532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40507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 Restriction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280160" y="43891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อนุญาตเฉพาะ IP ที่กำหนด — เหมาะสำหรับ admin panel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— การเพิ่มประสิทธิภาพ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Pool Recycling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ตั้ง schedule recycle เพื่อป้องกัน memory leak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ทุก 1740 นาที (29 ชม.)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393192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Caching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6459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response ของไฟล์ที่ไม่เปลี่ยนบ่อย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 load บน server อย่างมาก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17520"/>
            <a:ext cx="3931920" cy="4572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Compression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5661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 Static + Dynamic Compression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ลดขนาด response ได้ 60-80%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017520"/>
            <a:ext cx="3931920" cy="4572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Connection Limits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35661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 max connections ต่อ site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ป้องกัน overload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 &amp; Restore — สำรองและกู้คืนการตั้งค่า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3566160" cy="10972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91640"/>
            <a:ext cx="33832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Backup IIS config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%windir%\system32\inetsrv\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DA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appcmd add backup MyBackup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566160" cy="18288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สำรอง applicationHost.config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สำรอง web.config ของแต่ละ site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App Pool settings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SSL certificates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Restore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37760" y="1645920"/>
            <a:ext cx="3566160" cy="10972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691640"/>
            <a:ext cx="33832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Restore IIS config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%windir%\system32\inetsrv\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DA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appcmd restore backup MyBackup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880360"/>
            <a:ext cx="3566160" cy="18288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กู้คืนจาก backup ที่สร้างไว้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Shared Configuration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Import/Export ข้าม server ได้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 restore เป็นประจำ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Practices สำหรับ Production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234440"/>
            <a:ext cx="457200" cy="457200"/>
          </a:xfrm>
          <a:prstGeom prst="ellipse">
            <a:avLst/>
          </a:prstGeom>
          <a:solidFill>
            <a:srgbClr val="F4F6F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620" y="134874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783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แยก Environment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→ Staging → Production แยกชัดเจน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109728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1960" y="1234440"/>
            <a:ext cx="457200" cy="457200"/>
          </a:xfrm>
          <a:prstGeom prst="ellipse">
            <a:avLst/>
          </a:prstGeom>
          <a:solidFill>
            <a:srgbClr val="F4F6F9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260" y="134874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1783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เปลี่ยน Port Default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83280" y="2148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ไม่ใช้ port 80/443 โดยตรง — ใช้ reverse proxy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26480" y="109728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86600" y="1234440"/>
            <a:ext cx="457200" cy="457200"/>
          </a:xfrm>
          <a:prstGeom prst="ellipse">
            <a:avLst/>
          </a:prstGeom>
          <a:solidFill>
            <a:srgbClr val="F4F6F9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0" y="134874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1783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ทุกระบบ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17920" y="2148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 Log + Application Log + Event Viewer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301752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417320" y="3154680"/>
            <a:ext cx="457200" cy="457200"/>
          </a:xfrm>
          <a:prstGeom prst="ellipse">
            <a:avLst/>
          </a:prstGeom>
          <a:solidFill>
            <a:srgbClr val="F4F6F9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1620" y="3268980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Hardening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4069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ปิด features ที่ไม่ใช้, update patches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91840" y="301752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251960" y="3154680"/>
            <a:ext cx="457200" cy="457200"/>
          </a:xfrm>
          <a:prstGeom prst="ellipse">
            <a:avLst/>
          </a:prstGeom>
          <a:solidFill>
            <a:srgbClr val="F4F6F9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6260" y="3268980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38328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383280" y="4069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ตั้ง alerts สำหรับ 500 errors และ high CPU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126480" y="301752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086600" y="3154680"/>
            <a:ext cx="457200" cy="457200"/>
          </a:xfrm>
          <a:prstGeom prst="ellipse">
            <a:avLst/>
          </a:prstGeom>
          <a:solidFill>
            <a:srgbClr val="F4F6F9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0900" y="3268980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21792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 Automation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217920" y="4069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สำรอง config อัตโนมัติด้วย scheduled task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section_abstract-technology-network-diagram-blue-and-white_2026-04-24T04-53-33_image_DAS_0.jpg"/>
          <p:cNvPicPr>
            <a:picLocks noChangeAspect="1"/>
          </p:cNvPicPr>
          <p:nvPr/>
        </p:nvPicPr>
        <p:blipFill>
          <a:blip r:embed="rId3">
            <a:alphaModFix amt="25000"/>
          </a:blip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32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สรุป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1097280" y="1280160"/>
            <a:ext cx="6949440" cy="301752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1371600"/>
            <a:ext cx="6400800" cy="2834640"/>
          </a:xfrm>
          <a:prstGeom prst="rect">
            <a:avLst/>
          </a:prstGeom>
          <a:noFill/>
          <a:ln/>
        </p:spPr>
        <p:txBody>
          <a:bodyPr wrap="square" lIns="101600" tIns="152400" rIns="152400" bIns="1016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 เป็น Web Server ที่ทรงพลัง เหมาะสำหรับองค์กรที่ใช้ Windows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รองรับทั้ง Static Website, .NET Application, และ Node.js (Reverse Proxy)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Pool ช่วยแยก process และเพิ่มความปลอดภัย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SSL/HTTPS เป็นสิ่งจำเป็นสำหรับ Production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และ Monitoring ช่วยแก้ปัญหาได้เร็ว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config เป็นประจำเพื่อความปลอดภัย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200400" y="4572000"/>
            <a:ext cx="2743200" cy="36576"/>
          </a:xfrm>
          <a:prstGeom prst="rect">
            <a:avLst/>
          </a:prstGeom>
          <a:solidFill>
            <a:srgbClr val="3498DB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 &amp; A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3657600" y="2468880"/>
            <a:ext cx="18288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ถาม-ตอบ &amp; แลกเปลี่ยนประสบการณ์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ขอบคุณที่เข้าร่วม!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2026-04-24T04:49:15Z</dcterms:created>
  <dcterms:modified xsi:type="dcterms:W3CDTF">2026-04-24T05:02:04Z</dcterms:modified>
</cp:coreProperties>
</file>