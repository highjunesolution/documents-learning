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DD4DC0-350E-7C64-9C1B-4EF62C56366A}" v="2" dt="2026-05-07T06:20:05.8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1I2 Jirayu S.Kaw" userId="S::300260129@th.maxxis.com::f59d7631-84c6-4c5a-a848-622dc00af3ab" providerId="AD" clId="Web-{ECDD4DC0-350E-7C64-9C1B-4EF62C56366A}"/>
    <pc:docChg chg="mod addSld delSld modSld addMainMaster delMainMaster modNotesMaster setSldSz">
      <pc:chgData name="D1I2 Jirayu S.Kaw" userId="S::300260129@th.maxxis.com::f59d7631-84c6-4c5a-a848-622dc00af3ab" providerId="AD" clId="Web-{ECDD4DC0-350E-7C64-9C1B-4EF62C56366A}" dt="2026-05-07T06:20:05.802" v="1"/>
      <pc:docMkLst>
        <pc:docMk/>
      </pc:docMkLst>
      <pc:sldChg chg="add">
        <pc:chgData name="D1I2 Jirayu S.Kaw" userId="S::300260129@th.maxxis.com::f59d7631-84c6-4c5a-a848-622dc00af3ab" providerId="AD" clId="Web-{ECDD4DC0-350E-7C64-9C1B-4EF62C56366A}" dt="2026-05-07T06:20:05.802" v="1"/>
        <pc:sldMkLst>
          <pc:docMk/>
          <pc:sldMk cId="0" sldId="256"/>
        </pc:sldMkLst>
      </pc:sldChg>
      <pc:sldChg chg="add">
        <pc:chgData name="D1I2 Jirayu S.Kaw" userId="S::300260129@th.maxxis.com::f59d7631-84c6-4c5a-a848-622dc00af3ab" providerId="AD" clId="Web-{ECDD4DC0-350E-7C64-9C1B-4EF62C56366A}" dt="2026-05-07T06:20:05.802" v="1"/>
        <pc:sldMkLst>
          <pc:docMk/>
          <pc:sldMk cId="0" sldId="257"/>
        </pc:sldMkLst>
      </pc:sldChg>
      <pc:sldChg chg="add">
        <pc:chgData name="D1I2 Jirayu S.Kaw" userId="S::300260129@th.maxxis.com::f59d7631-84c6-4c5a-a848-622dc00af3ab" providerId="AD" clId="Web-{ECDD4DC0-350E-7C64-9C1B-4EF62C56366A}" dt="2026-05-07T06:20:05.802" v="1"/>
        <pc:sldMkLst>
          <pc:docMk/>
          <pc:sldMk cId="0" sldId="258"/>
        </pc:sldMkLst>
      </pc:sldChg>
      <pc:sldChg chg="add">
        <pc:chgData name="D1I2 Jirayu S.Kaw" userId="S::300260129@th.maxxis.com::f59d7631-84c6-4c5a-a848-622dc00af3ab" providerId="AD" clId="Web-{ECDD4DC0-350E-7C64-9C1B-4EF62C56366A}" dt="2026-05-07T06:20:05.802" v="1"/>
        <pc:sldMkLst>
          <pc:docMk/>
          <pc:sldMk cId="0" sldId="259"/>
        </pc:sldMkLst>
      </pc:sldChg>
      <pc:sldChg chg="add">
        <pc:chgData name="D1I2 Jirayu S.Kaw" userId="S::300260129@th.maxxis.com::f59d7631-84c6-4c5a-a848-622dc00af3ab" providerId="AD" clId="Web-{ECDD4DC0-350E-7C64-9C1B-4EF62C56366A}" dt="2026-05-07T06:20:05.802" v="1"/>
        <pc:sldMkLst>
          <pc:docMk/>
          <pc:sldMk cId="0" sldId="260"/>
        </pc:sldMkLst>
      </pc:sldChg>
      <pc:sldChg chg="add">
        <pc:chgData name="D1I2 Jirayu S.Kaw" userId="S::300260129@th.maxxis.com::f59d7631-84c6-4c5a-a848-622dc00af3ab" providerId="AD" clId="Web-{ECDD4DC0-350E-7C64-9C1B-4EF62C56366A}" dt="2026-05-07T06:20:05.802" v="1"/>
        <pc:sldMkLst>
          <pc:docMk/>
          <pc:sldMk cId="0" sldId="261"/>
        </pc:sldMkLst>
      </pc:sldChg>
      <pc:sldChg chg="add">
        <pc:chgData name="D1I2 Jirayu S.Kaw" userId="S::300260129@th.maxxis.com::f59d7631-84c6-4c5a-a848-622dc00af3ab" providerId="AD" clId="Web-{ECDD4DC0-350E-7C64-9C1B-4EF62C56366A}" dt="2026-05-07T06:20:05.802" v="1"/>
        <pc:sldMkLst>
          <pc:docMk/>
          <pc:sldMk cId="0" sldId="262"/>
        </pc:sldMkLst>
      </pc:sldChg>
      <pc:sldChg chg="add">
        <pc:chgData name="D1I2 Jirayu S.Kaw" userId="S::300260129@th.maxxis.com::f59d7631-84c6-4c5a-a848-622dc00af3ab" providerId="AD" clId="Web-{ECDD4DC0-350E-7C64-9C1B-4EF62C56366A}" dt="2026-05-07T06:20:05.802" v="1"/>
        <pc:sldMkLst>
          <pc:docMk/>
          <pc:sldMk cId="0" sldId="263"/>
        </pc:sldMkLst>
      </pc:sldChg>
      <pc:sldChg chg="add">
        <pc:chgData name="D1I2 Jirayu S.Kaw" userId="S::300260129@th.maxxis.com::f59d7631-84c6-4c5a-a848-622dc00af3ab" providerId="AD" clId="Web-{ECDD4DC0-350E-7C64-9C1B-4EF62C56366A}" dt="2026-05-07T06:20:05.802" v="1"/>
        <pc:sldMkLst>
          <pc:docMk/>
          <pc:sldMk cId="0" sldId="264"/>
        </pc:sldMkLst>
      </pc:sldChg>
      <pc:sldChg chg="add">
        <pc:chgData name="D1I2 Jirayu S.Kaw" userId="S::300260129@th.maxxis.com::f59d7631-84c6-4c5a-a848-622dc00af3ab" providerId="AD" clId="Web-{ECDD4DC0-350E-7C64-9C1B-4EF62C56366A}" dt="2026-05-07T06:20:05.802" v="1"/>
        <pc:sldMkLst>
          <pc:docMk/>
          <pc:sldMk cId="0" sldId="265"/>
        </pc:sldMkLst>
      </pc:sldChg>
      <pc:sldChg chg="add">
        <pc:chgData name="D1I2 Jirayu S.Kaw" userId="S::300260129@th.maxxis.com::f59d7631-84c6-4c5a-a848-622dc00af3ab" providerId="AD" clId="Web-{ECDD4DC0-350E-7C64-9C1B-4EF62C56366A}" dt="2026-05-07T06:20:05.802" v="1"/>
        <pc:sldMkLst>
          <pc:docMk/>
          <pc:sldMk cId="0" sldId="266"/>
        </pc:sldMkLst>
      </pc:sldChg>
      <pc:sldChg chg="add">
        <pc:chgData name="D1I2 Jirayu S.Kaw" userId="S::300260129@th.maxxis.com::f59d7631-84c6-4c5a-a848-622dc00af3ab" providerId="AD" clId="Web-{ECDD4DC0-350E-7C64-9C1B-4EF62C56366A}" dt="2026-05-07T06:20:05.802" v="1"/>
        <pc:sldMkLst>
          <pc:docMk/>
          <pc:sldMk cId="0" sldId="267"/>
        </pc:sldMkLst>
      </pc:sldChg>
      <pc:sldChg chg="add">
        <pc:chgData name="D1I2 Jirayu S.Kaw" userId="S::300260129@th.maxxis.com::f59d7631-84c6-4c5a-a848-622dc00af3ab" providerId="AD" clId="Web-{ECDD4DC0-350E-7C64-9C1B-4EF62C56366A}" dt="2026-05-07T06:20:05.802" v="1"/>
        <pc:sldMkLst>
          <pc:docMk/>
          <pc:sldMk cId="0" sldId="268"/>
        </pc:sldMkLst>
      </pc:sldChg>
      <pc:sldChg chg="add">
        <pc:chgData name="D1I2 Jirayu S.Kaw" userId="S::300260129@th.maxxis.com::f59d7631-84c6-4c5a-a848-622dc00af3ab" providerId="AD" clId="Web-{ECDD4DC0-350E-7C64-9C1B-4EF62C56366A}" dt="2026-05-07T06:20:05.802" v="1"/>
        <pc:sldMkLst>
          <pc:docMk/>
          <pc:sldMk cId="0" sldId="269"/>
        </pc:sldMkLst>
      </pc:sldChg>
      <pc:sldChg chg="add">
        <pc:chgData name="D1I2 Jirayu S.Kaw" userId="S::300260129@th.maxxis.com::f59d7631-84c6-4c5a-a848-622dc00af3ab" providerId="AD" clId="Web-{ECDD4DC0-350E-7C64-9C1B-4EF62C56366A}" dt="2026-05-07T06:20:05.802" v="1"/>
        <pc:sldMkLst>
          <pc:docMk/>
          <pc:sldMk cId="0" sldId="270"/>
        </pc:sldMkLst>
      </pc:sldChg>
      <pc:sldChg chg="add">
        <pc:chgData name="D1I2 Jirayu S.Kaw" userId="S::300260129@th.maxxis.com::f59d7631-84c6-4c5a-a848-622dc00af3ab" providerId="AD" clId="Web-{ECDD4DC0-350E-7C64-9C1B-4EF62C56366A}" dt="2026-05-07T06:20:05.802" v="1"/>
        <pc:sldMkLst>
          <pc:docMk/>
          <pc:sldMk cId="0" sldId="271"/>
        </pc:sldMkLst>
      </pc:sldChg>
      <pc:sldChg chg="add">
        <pc:chgData name="D1I2 Jirayu S.Kaw" userId="S::300260129@th.maxxis.com::f59d7631-84c6-4c5a-a848-622dc00af3ab" providerId="AD" clId="Web-{ECDD4DC0-350E-7C64-9C1B-4EF62C56366A}" dt="2026-05-07T06:20:05.802" v="1"/>
        <pc:sldMkLst>
          <pc:docMk/>
          <pc:sldMk cId="0" sldId="272"/>
        </pc:sldMkLst>
      </pc:sldChg>
      <pc:sldChg chg="add">
        <pc:chgData name="D1I2 Jirayu S.Kaw" userId="S::300260129@th.maxxis.com::f59d7631-84c6-4c5a-a848-622dc00af3ab" providerId="AD" clId="Web-{ECDD4DC0-350E-7C64-9C1B-4EF62C56366A}" dt="2026-05-07T06:20:05.802" v="1"/>
        <pc:sldMkLst>
          <pc:docMk/>
          <pc:sldMk cId="0" sldId="273"/>
        </pc:sldMkLst>
      </pc:sldChg>
      <pc:sldChg chg="add">
        <pc:chgData name="D1I2 Jirayu S.Kaw" userId="S::300260129@th.maxxis.com::f59d7631-84c6-4c5a-a848-622dc00af3ab" providerId="AD" clId="Web-{ECDD4DC0-350E-7C64-9C1B-4EF62C56366A}" dt="2026-05-07T06:20:05.802" v="1"/>
        <pc:sldMkLst>
          <pc:docMk/>
          <pc:sldMk cId="0" sldId="274"/>
        </pc:sldMkLst>
      </pc:sldChg>
      <pc:sldChg chg="add">
        <pc:chgData name="D1I2 Jirayu S.Kaw" userId="S::300260129@th.maxxis.com::f59d7631-84c6-4c5a-a848-622dc00af3ab" providerId="AD" clId="Web-{ECDD4DC0-350E-7C64-9C1B-4EF62C56366A}" dt="2026-05-07T06:20:05.802" v="1"/>
        <pc:sldMkLst>
          <pc:docMk/>
          <pc:sldMk cId="0" sldId="275"/>
        </pc:sldMkLst>
      </pc:sldChg>
      <pc:sldChg chg="add">
        <pc:chgData name="D1I2 Jirayu S.Kaw" userId="S::300260129@th.maxxis.com::f59d7631-84c6-4c5a-a848-622dc00af3ab" providerId="AD" clId="Web-{ECDD4DC0-350E-7C64-9C1B-4EF62C56366A}" dt="2026-05-07T06:20:05.802" v="1"/>
        <pc:sldMkLst>
          <pc:docMk/>
          <pc:sldMk cId="0" sldId="276"/>
        </pc:sldMkLst>
      </pc:sldChg>
      <pc:sldChg chg="add">
        <pc:chgData name="D1I2 Jirayu S.Kaw" userId="S::300260129@th.maxxis.com::f59d7631-84c6-4c5a-a848-622dc00af3ab" providerId="AD" clId="Web-{ECDD4DC0-350E-7C64-9C1B-4EF62C56366A}" dt="2026-05-07T06:20:05.802" v="1"/>
        <pc:sldMkLst>
          <pc:docMk/>
          <pc:sldMk cId="0" sldId="277"/>
        </pc:sldMkLst>
      </pc:sldChg>
      <pc:sldChg chg="add">
        <pc:chgData name="D1I2 Jirayu S.Kaw" userId="S::300260129@th.maxxis.com::f59d7631-84c6-4c5a-a848-622dc00af3ab" providerId="AD" clId="Web-{ECDD4DC0-350E-7C64-9C1B-4EF62C56366A}" dt="2026-05-07T06:20:05.802" v="1"/>
        <pc:sldMkLst>
          <pc:docMk/>
          <pc:sldMk cId="0" sldId="278"/>
        </pc:sldMkLst>
      </pc:sldChg>
      <pc:sldChg chg="add">
        <pc:chgData name="D1I2 Jirayu S.Kaw" userId="S::300260129@th.maxxis.com::f59d7631-84c6-4c5a-a848-622dc00af3ab" providerId="AD" clId="Web-{ECDD4DC0-350E-7C64-9C1B-4EF62C56366A}" dt="2026-05-07T06:20:05.802" v="1"/>
        <pc:sldMkLst>
          <pc:docMk/>
          <pc:sldMk cId="0" sldId="279"/>
        </pc:sldMkLst>
      </pc:sldChg>
      <pc:sldChg chg="add">
        <pc:chgData name="D1I2 Jirayu S.Kaw" userId="S::300260129@th.maxxis.com::f59d7631-84c6-4c5a-a848-622dc00af3ab" providerId="AD" clId="Web-{ECDD4DC0-350E-7C64-9C1B-4EF62C56366A}" dt="2026-05-07T06:20:05.802" v="1"/>
        <pc:sldMkLst>
          <pc:docMk/>
          <pc:sldMk cId="0" sldId="280"/>
        </pc:sldMkLst>
      </pc:sldChg>
      <pc:sldChg chg="add">
        <pc:chgData name="D1I2 Jirayu S.Kaw" userId="S::300260129@th.maxxis.com::f59d7631-84c6-4c5a-a848-622dc00af3ab" providerId="AD" clId="Web-{ECDD4DC0-350E-7C64-9C1B-4EF62C56366A}" dt="2026-05-07T06:20:05.802" v="1"/>
        <pc:sldMkLst>
          <pc:docMk/>
          <pc:sldMk cId="0" sldId="281"/>
        </pc:sldMkLst>
      </pc:sldChg>
      <pc:sldChg chg="add">
        <pc:chgData name="D1I2 Jirayu S.Kaw" userId="S::300260129@th.maxxis.com::f59d7631-84c6-4c5a-a848-622dc00af3ab" providerId="AD" clId="Web-{ECDD4DC0-350E-7C64-9C1B-4EF62C56366A}" dt="2026-05-07T06:20:05.802" v="1"/>
        <pc:sldMkLst>
          <pc:docMk/>
          <pc:sldMk cId="0" sldId="282"/>
        </pc:sldMkLst>
      </pc:sldChg>
      <pc:sldChg chg="add">
        <pc:chgData name="D1I2 Jirayu S.Kaw" userId="S::300260129@th.maxxis.com::f59d7631-84c6-4c5a-a848-622dc00af3ab" providerId="AD" clId="Web-{ECDD4DC0-350E-7C64-9C1B-4EF62C56366A}" dt="2026-05-07T06:20:05.802" v="1"/>
        <pc:sldMkLst>
          <pc:docMk/>
          <pc:sldMk cId="0" sldId="283"/>
        </pc:sldMkLst>
      </pc:sldChg>
      <pc:sldChg chg="add">
        <pc:chgData name="D1I2 Jirayu S.Kaw" userId="S::300260129@th.maxxis.com::f59d7631-84c6-4c5a-a848-622dc00af3ab" providerId="AD" clId="Web-{ECDD4DC0-350E-7C64-9C1B-4EF62C56366A}" dt="2026-05-07T06:20:05.802" v="1"/>
        <pc:sldMkLst>
          <pc:docMk/>
          <pc:sldMk cId="0" sldId="284"/>
        </pc:sldMkLst>
      </pc:sldChg>
      <pc:sldChg chg="add">
        <pc:chgData name="D1I2 Jirayu S.Kaw" userId="S::300260129@th.maxxis.com::f59d7631-84c6-4c5a-a848-622dc00af3ab" providerId="AD" clId="Web-{ECDD4DC0-350E-7C64-9C1B-4EF62C56366A}" dt="2026-05-07T06:20:05.802" v="1"/>
        <pc:sldMkLst>
          <pc:docMk/>
          <pc:sldMk cId="0" sldId="285"/>
        </pc:sldMkLst>
      </pc:sldChg>
      <pc:sldChg chg="add">
        <pc:chgData name="D1I2 Jirayu S.Kaw" userId="S::300260129@th.maxxis.com::f59d7631-84c6-4c5a-a848-622dc00af3ab" providerId="AD" clId="Web-{ECDD4DC0-350E-7C64-9C1B-4EF62C56366A}" dt="2026-05-07T06:20:05.802" v="1"/>
        <pc:sldMkLst>
          <pc:docMk/>
          <pc:sldMk cId="0" sldId="286"/>
        </pc:sldMkLst>
      </pc:sldChg>
      <pc:sldChg chg="add">
        <pc:chgData name="D1I2 Jirayu S.Kaw" userId="S::300260129@th.maxxis.com::f59d7631-84c6-4c5a-a848-622dc00af3ab" providerId="AD" clId="Web-{ECDD4DC0-350E-7C64-9C1B-4EF62C56366A}" dt="2026-05-07T06:20:05.802" v="1"/>
        <pc:sldMkLst>
          <pc:docMk/>
          <pc:sldMk cId="0" sldId="287"/>
        </pc:sldMkLst>
      </pc:sldChg>
      <pc:sldChg chg="add">
        <pc:chgData name="D1I2 Jirayu S.Kaw" userId="S::300260129@th.maxxis.com::f59d7631-84c6-4c5a-a848-622dc00af3ab" providerId="AD" clId="Web-{ECDD4DC0-350E-7C64-9C1B-4EF62C56366A}" dt="2026-05-07T06:20:05.802" v="1"/>
        <pc:sldMkLst>
          <pc:docMk/>
          <pc:sldMk cId="0" sldId="288"/>
        </pc:sldMkLst>
      </pc:sldChg>
      <pc:sldChg chg="add">
        <pc:chgData name="D1I2 Jirayu S.Kaw" userId="S::300260129@th.maxxis.com::f59d7631-84c6-4c5a-a848-622dc00af3ab" providerId="AD" clId="Web-{ECDD4DC0-350E-7C64-9C1B-4EF62C56366A}" dt="2026-05-07T06:20:05.802" v="1"/>
        <pc:sldMkLst>
          <pc:docMk/>
          <pc:sldMk cId="0" sldId="289"/>
        </pc:sldMkLst>
      </pc:sldChg>
      <pc:sldChg chg="add">
        <pc:chgData name="D1I2 Jirayu S.Kaw" userId="S::300260129@th.maxxis.com::f59d7631-84c6-4c5a-a848-622dc00af3ab" providerId="AD" clId="Web-{ECDD4DC0-350E-7C64-9C1B-4EF62C56366A}" dt="2026-05-07T06:20:05.802" v="1"/>
        <pc:sldMkLst>
          <pc:docMk/>
          <pc:sldMk cId="0" sldId="290"/>
        </pc:sldMkLst>
      </pc:sldChg>
      <pc:sldChg chg="del replId">
        <pc:chgData name="D1I2 Jirayu S.Kaw" userId="S::300260129@th.maxxis.com::f59d7631-84c6-4c5a-a848-622dc00af3ab" providerId="AD" clId="Web-{ECDD4DC0-350E-7C64-9C1B-4EF62C56366A}" dt="2026-05-07T06:20:05.802" v="1"/>
        <pc:sldMkLst>
          <pc:docMk/>
          <pc:sldMk cId="109857222" sldId="291"/>
        </pc:sldMkLst>
      </pc:sldChg>
      <pc:sldMasterChg chg="add addSldLayout">
        <pc:chgData name="D1I2 Jirayu S.Kaw" userId="S::300260129@th.maxxis.com::f59d7631-84c6-4c5a-a848-622dc00af3ab" providerId="AD" clId="Web-{ECDD4DC0-350E-7C64-9C1B-4EF62C56366A}" dt="2026-05-07T06:20:05.802" v="1"/>
        <pc:sldMasterMkLst>
          <pc:docMk/>
          <pc:sldMasterMk cId="0" sldId="2147483648"/>
        </pc:sldMasterMkLst>
        <pc:sldLayoutChg chg="add">
          <pc:chgData name="D1I2 Jirayu S.Kaw" userId="S::300260129@th.maxxis.com::f59d7631-84c6-4c5a-a848-622dc00af3ab" providerId="AD" clId="Web-{ECDD4DC0-350E-7C64-9C1B-4EF62C56366A}" dt="2026-05-07T06:20:05.802" v="1"/>
          <pc:sldLayoutMkLst>
            <pc:docMk/>
            <pc:sldMasterMk cId="0" sldId="2147483648"/>
            <pc:sldLayoutMk cId="0" sldId="2147483649"/>
          </pc:sldLayoutMkLst>
        </pc:sldLayoutChg>
      </pc:sldMasterChg>
      <pc:sldMasterChg chg="del delSldLayout">
        <pc:chgData name="D1I2 Jirayu S.Kaw" userId="S::300260129@th.maxxis.com::f59d7631-84c6-4c5a-a848-622dc00af3ab" providerId="AD" clId="Web-{ECDD4DC0-350E-7C64-9C1B-4EF62C56366A}" dt="2026-05-07T06:20:05.802" v="1"/>
        <pc:sldMasterMkLst>
          <pc:docMk/>
          <pc:sldMasterMk cId="2460954070" sldId="2147483660"/>
        </pc:sldMasterMkLst>
        <pc:sldLayoutChg chg="del">
          <pc:chgData name="D1I2 Jirayu S.Kaw" userId="S::300260129@th.maxxis.com::f59d7631-84c6-4c5a-a848-622dc00af3ab" providerId="AD" clId="Web-{ECDD4DC0-350E-7C64-9C1B-4EF62C56366A}" dt="2026-05-07T06:20:05.802" v="1"/>
          <pc:sldLayoutMkLst>
            <pc:docMk/>
            <pc:sldMasterMk cId="2460954070" sldId="2147483660"/>
            <pc:sldLayoutMk cId="2385387890" sldId="2147483661"/>
          </pc:sldLayoutMkLst>
        </pc:sldLayoutChg>
        <pc:sldLayoutChg chg="del">
          <pc:chgData name="D1I2 Jirayu S.Kaw" userId="S::300260129@th.maxxis.com::f59d7631-84c6-4c5a-a848-622dc00af3ab" providerId="AD" clId="Web-{ECDD4DC0-350E-7C64-9C1B-4EF62C56366A}" dt="2026-05-07T06:20:05.802" v="1"/>
          <pc:sldLayoutMkLst>
            <pc:docMk/>
            <pc:sldMasterMk cId="2460954070" sldId="2147483660"/>
            <pc:sldLayoutMk cId="949138452" sldId="2147483662"/>
          </pc:sldLayoutMkLst>
        </pc:sldLayoutChg>
        <pc:sldLayoutChg chg="del">
          <pc:chgData name="D1I2 Jirayu S.Kaw" userId="S::300260129@th.maxxis.com::f59d7631-84c6-4c5a-a848-622dc00af3ab" providerId="AD" clId="Web-{ECDD4DC0-350E-7C64-9C1B-4EF62C56366A}" dt="2026-05-07T06:20:05.802" v="1"/>
          <pc:sldLayoutMkLst>
            <pc:docMk/>
            <pc:sldMasterMk cId="2460954070" sldId="2147483660"/>
            <pc:sldLayoutMk cId="2591524520" sldId="2147483663"/>
          </pc:sldLayoutMkLst>
        </pc:sldLayoutChg>
        <pc:sldLayoutChg chg="del">
          <pc:chgData name="D1I2 Jirayu S.Kaw" userId="S::300260129@th.maxxis.com::f59d7631-84c6-4c5a-a848-622dc00af3ab" providerId="AD" clId="Web-{ECDD4DC0-350E-7C64-9C1B-4EF62C56366A}" dt="2026-05-07T06:20:05.802" v="1"/>
          <pc:sldLayoutMkLst>
            <pc:docMk/>
            <pc:sldMasterMk cId="2460954070" sldId="2147483660"/>
            <pc:sldLayoutMk cId="1203092039" sldId="2147483664"/>
          </pc:sldLayoutMkLst>
        </pc:sldLayoutChg>
        <pc:sldLayoutChg chg="del">
          <pc:chgData name="D1I2 Jirayu S.Kaw" userId="S::300260129@th.maxxis.com::f59d7631-84c6-4c5a-a848-622dc00af3ab" providerId="AD" clId="Web-{ECDD4DC0-350E-7C64-9C1B-4EF62C56366A}" dt="2026-05-07T06:20:05.802" v="1"/>
          <pc:sldLayoutMkLst>
            <pc:docMk/>
            <pc:sldMasterMk cId="2460954070" sldId="2147483660"/>
            <pc:sldLayoutMk cId="3733172339" sldId="2147483665"/>
          </pc:sldLayoutMkLst>
        </pc:sldLayoutChg>
        <pc:sldLayoutChg chg="del">
          <pc:chgData name="D1I2 Jirayu S.Kaw" userId="S::300260129@th.maxxis.com::f59d7631-84c6-4c5a-a848-622dc00af3ab" providerId="AD" clId="Web-{ECDD4DC0-350E-7C64-9C1B-4EF62C56366A}" dt="2026-05-07T06:20:05.802" v="1"/>
          <pc:sldLayoutMkLst>
            <pc:docMk/>
            <pc:sldMasterMk cId="2460954070" sldId="2147483660"/>
            <pc:sldLayoutMk cId="3210312558" sldId="2147483666"/>
          </pc:sldLayoutMkLst>
        </pc:sldLayoutChg>
        <pc:sldLayoutChg chg="del">
          <pc:chgData name="D1I2 Jirayu S.Kaw" userId="S::300260129@th.maxxis.com::f59d7631-84c6-4c5a-a848-622dc00af3ab" providerId="AD" clId="Web-{ECDD4DC0-350E-7C64-9C1B-4EF62C56366A}" dt="2026-05-07T06:20:05.802" v="1"/>
          <pc:sldLayoutMkLst>
            <pc:docMk/>
            <pc:sldMasterMk cId="2460954070" sldId="2147483660"/>
            <pc:sldLayoutMk cId="3146388984" sldId="2147483667"/>
          </pc:sldLayoutMkLst>
        </pc:sldLayoutChg>
        <pc:sldLayoutChg chg="del">
          <pc:chgData name="D1I2 Jirayu S.Kaw" userId="S::300260129@th.maxxis.com::f59d7631-84c6-4c5a-a848-622dc00af3ab" providerId="AD" clId="Web-{ECDD4DC0-350E-7C64-9C1B-4EF62C56366A}" dt="2026-05-07T06:20:05.802" v="1"/>
          <pc:sldLayoutMkLst>
            <pc:docMk/>
            <pc:sldMasterMk cId="2460954070" sldId="2147483660"/>
            <pc:sldLayoutMk cId="3171841454" sldId="2147483668"/>
          </pc:sldLayoutMkLst>
        </pc:sldLayoutChg>
        <pc:sldLayoutChg chg="del">
          <pc:chgData name="D1I2 Jirayu S.Kaw" userId="S::300260129@th.maxxis.com::f59d7631-84c6-4c5a-a848-622dc00af3ab" providerId="AD" clId="Web-{ECDD4DC0-350E-7C64-9C1B-4EF62C56366A}" dt="2026-05-07T06:20:05.802" v="1"/>
          <pc:sldLayoutMkLst>
            <pc:docMk/>
            <pc:sldMasterMk cId="2460954070" sldId="2147483660"/>
            <pc:sldLayoutMk cId="1718958274" sldId="2147483669"/>
          </pc:sldLayoutMkLst>
        </pc:sldLayoutChg>
        <pc:sldLayoutChg chg="del">
          <pc:chgData name="D1I2 Jirayu S.Kaw" userId="S::300260129@th.maxxis.com::f59d7631-84c6-4c5a-a848-622dc00af3ab" providerId="AD" clId="Web-{ECDD4DC0-350E-7C64-9C1B-4EF62C56366A}" dt="2026-05-07T06:20:05.802" v="1"/>
          <pc:sldLayoutMkLst>
            <pc:docMk/>
            <pc:sldMasterMk cId="2460954070" sldId="2147483660"/>
            <pc:sldLayoutMk cId="2202905451" sldId="2147483670"/>
          </pc:sldLayoutMkLst>
        </pc:sldLayoutChg>
        <pc:sldLayoutChg chg="del">
          <pc:chgData name="D1I2 Jirayu S.Kaw" userId="S::300260129@th.maxxis.com::f59d7631-84c6-4c5a-a848-622dc00af3ab" providerId="AD" clId="Web-{ECDD4DC0-350E-7C64-9C1B-4EF62C56366A}" dt="2026-05-07T06:20:05.802" v="1"/>
          <pc:sldLayoutMkLst>
            <pc:docMk/>
            <pc:sldMasterMk cId="2460954070" sldId="2147483660"/>
            <pc:sldLayoutMk cId="3479445657" sldId="214748367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9D8B6E96-3D02-49BD-9EA1-959ECC8C8F3D}" type="datetimeFigureOut">
              <a:t>5/6/2026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75E19BD4-3C36-4DA0-9F9B-B360F0633012}" type="slidenum">
              <a:t>‹#›</a:t>
            </a:fld>
            <a:endParaRPr lang="en-US"/>
          </a:p>
        </p:txBody>
      </p:sp>
    </p:spTree>
    <p:extLst>
      <p:ext uri="{BB962C8B-B14F-4D97-AF65-F5344CB8AC3E}">
        <p14:creationId xmlns:p14="http://schemas.microsoft.com/office/powerpoint/2010/main" val="3777874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สวัสดีครับทุกคน วันนี้เราจะมาเรียน Zustand แบบจัดเต็มตั้งแต่ 0 จนใช้งานระดับ Production ได้
ใช้เวลาประมาณ 120 นาที แบ่งเป็น lecture สั้น ๆ สลับกับ workshop
กลุ่มเป้าหมายคือ React dev ระดับ junior ถึง mid ที่เคยใช้ useState และ useContext มาบ้างแล้ว
เป้าหมายของคอร์สคือทำให้ทุกคนกล้าเอา Zustand ไปใช้แทน Context/Redux ในงานจริงได้อย่างปลอดภัย
และเข้าใจเรื่อง performance, persist, SSR, testing ให้ครบ
ก่อนเริ่ม อยากให้แต่ละคนเปิดเครื่องและพร้อม clone repo workshop ไว้ครับ</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ของเราแบ่งเป็น 9 ก้อนใหญ่ครับ
เริ่มจาก intro สั้น ๆ ทำไมต้องเลือก Zustand ในยุคที่มี Redux Toolkit, Jotai, Recoil
จากนั้นไป core concept และ pattern การใช้ใน React
ครึ่งหลังจะเป็นเรื่อง production จริง: vanilla store, middleware, SSR, testing
ปิดท้ายด้วย workshop เขียน Mini App และ checklist ก่อนขึ้น production
ระหว่างทางผมจะสอดแทรก pitfalls ที่เจอบ่อยในงานจริงไว้ทุกบทสำคัญครับ</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คอร์สนี้ออกแบบมาสำหรับ React dev ที่เริ่มเจอความเจ็บปวดของ Context หรือ prop drilling แล้ว
ผมจะไม่อธิบาย React hooks พื้นฐาน แต่จะเน้นวิธีคิดเรื่อง state management
ขอให้ทุกคนเปิดเครื่องและมี Node.js 18+ พร้อม editor ที่ใช้ประจำ
เป้าหมายของผมคือเมื่อจบไป ทุกคนต้องกล้าเอา Zustand ไปใช้กับงานจริงได้ทันที
ไม่ใช่แค่ 'ลองเล่น' แต่ใช้แบบ production grade — ปลอดภัย ทดสอบได้ ดูแลต่อได้ครับ</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ก้อนแรกเรามาคุยกันก่อนว่า Zustand คืออะไร
ทำไมในยุคที่มี Redux Toolkit, Jotai, Recoil, Valtio เราถึงควรรู้จัก Zustand
ผมจะเทียบให้เห็นจุดเด่นและ trade-off สั้น ๆ
ใช้เวลาประมาณ 10 นาทีครับ</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Zustand เป็นภาษาเยอรมันแปลว่า 'state' ครับ
จุดขายหลักคือเล็ก เร็ว และ API กระชับ — เห็นทั้ง store ในไม่กี่บรรทัด
สิ่งที่ทำให้แตกต่างจาก Context API คือไม่ต้อง wrap Provider ทั้ง app
และไม่ต้องกังวลเรื่อง re-render ทั้งต้นไม้เมื่อ state เปลี่ยน เพราะใช้ selector
ส่วนต่างจาก Redux คือไม่ต้อง action/reducer/dispatch เขียน mutation ตรง ๆ ได้เลย
แต่ก็ยังมี structure พอที่จะ scale ขึ้นได้ ไม่ใช่ของเล่น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สามตัวเลือกหลักที่ React dev จะเจอ: Context, Redux Toolkit, Zustand
Context เหมาะกับ state ที่ไม่เปลี่ยนบ่อย เช่น theme, locale
Redux Toolkit แข็งแรงมาก มี ecosystem เยอะ แต่ก็มี boilerplate
Zustand อยู่ตรงกลาง — เขียนน้อย เรียนรู้เร็ว แต่ scale ได้
เกณฑ์ในการเลือก: ทีมคุ้นเคยอะไร? ต้องการ time-travel debug ระดับไหน? state มีโครงสร้างซับซ้อนแค่ไหน?
ในคอร์สนี้เราจะโฟกัส Zustand แต่อยากให้รู้ว่าไม่มีคำตอบเดียวที่ถูก</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การติดตั้งง่ายมาก — เลือก package manager ที่ทีมใช้
Zustand รองรับทั้ง CJS และ ESM ทำให้ใช้กับ Vite, Webpack, Next.js, Remix ได้หมด
สิ่งที่ต้องระวังคือ entry point: 'zustand' สำหรับ React, 'zustand/vanilla' สำหรับใช้นอก React
และ middleware แยกอยู่ที่ 'zustand/middleware'
ใน TypeScript ต้องใช้ pattern create&lt;State&gt;()(...) สังเกต () สองวง — เป็น TS quirk
ลองติดตั้งใน project ของตัวเองก่อนไปต่อสไลด์ถัดไปครับ</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เข้าสู่หัวใจของ Zustand
เราจะเข้าใจสิ่งเดียวให้แน่น: store คือ hook
ถ้าเข้าใจประโยคนี้ ที่เหลือทั้งหมดในคอร์สจะต่อยอดได้ง่าย
ใช้เวลาประมาณ 15 นาทีในส่วนนี้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โค้ดนี้คือ baseline ของทั้งคอร์ส — จดจำให้ได้
create เป็น factory function รับ initializer
initializer ได้ set กับ get มาให้ใช้
return object ที่ผสม state กับ action เข้าด้วยกันในก้อนเดียว — แตกต่างจาก Redux ที่แยก reducer/action
set รับได้สองรูปแบบ: object ตรง ๆ หรือ updater function
แนะนำให้ใช้ updater function ทุกครั้งที่อัปเดตจาก state เดิม เพื่อความปลอดภัย
ใน component เรียก hook พร้อม selector เลือกค่าที่อยากใช้</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สไลด์นี้เน้นความต่างระหว่าง set กับ get
set ใช้เขียน get ใช้อ่าน — จำคู่กันไว้
ใน action ที่เป็น async หรือมี logic ซับซ้อน get() จำเป็นมาก เพราะ closure ของเราอาจเก่า
ตัวอย่าง checkout: ถ้าใช้ items จาก destructure ตอน define อาจเป็น stale value
ต้อง get().items ทุกครั้งที่ต้องการค่าล่าสุด
และอย่าลืมว่า Zustand ใช้ shallow equality เพื่อตัดสินใจ re-render
ถ้า mutate array เดิมแล้วส่งกลับ reference เดิม จะไม่ trigger re-render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Selector คือหัวใจของ performance ใน Zustand
ถ้าเรียก useStore() เปล่า ๆ component จะ subscribe state ทั้งก้อน — re-render ทุกครั้งที่อะไรก็ตามใน store เปลี่ยน
ถ้าเลือก primitive: number, string, boolean — Zustand เปรียบเทียบด้วย Object.is ปลอดภัย
ถ้าเลือก object หรือ array ที่ประกอบขึ้นใหม่ — reference จะใหม่ทุกครั้ง ทำให้ re-render ตลอด
แก้ด้วย useShallow (Zustand v4.4+) หรือ shallow จาก zustand/shallow ใน v4
นี่คือ 80% ของปัญหา performance ที่คนใช้ Zustand เจอครับ</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คำถามที่ถูกถามบ่อย: ดึงหลายค่าควรเขียนยังไง?
ผมแนะนำให้เริ่มด้วย per-value เสมอ — เห็นชัดเจนว่า component พึ่งค่าไหน, performance ดีโดยปริยาย
ใช้ useShallow ก็ต่อเมื่อมีค่าเยอะมากและซ้ำหลาย component
อย่าใช้ destructure แบบไม่มี shallow — เป็น bug ที่ debug ยากที่สุดอันหนึ่งใน Zustand
ลองนึกภาพว่า component re-render ทุก keystroke ในฟอร์มอื่น เพราะดึง object ทั้งก้อน</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เรื่องโครงสร้างโฟลเดอร์ไม่มีคำตอบเดียว แต่ก็มี pattern ที่ใช้ได้กับโปรเจกต์ส่วนใหญ่
หลักคิดสำคัญ: 1 store ต่อ 1 domain
อย่าทำ god store ก้อนเดียวที่มีทุกอย่าง — debug ยาก, test ยาก, scale ไม่ได้
และอย่าเอา state ที่เป็น local จริง ๆ เข้า store — เช่น isModalOpen ของ modal อันเดียว ใช้ useState พอ
หลักง่าย ๆ: state ถูกแชร์ข้าม component หรือไม่? ถ้าไม่ — ไม่ต้องเข้า store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รวบรวม pitfalls ที่ผมเจอจริงในงาน review code
80% ของปัญหา Zustand มาจาก 6 ข้อนี้
ข้อ 1-2 เป็นเรื่อง re-render ที่มากเกินจำเป็น
ข้อ 3 เป็นเรื่อง derived state — กฎคือ 'ถ้า derive ได้ อย่าเก็บ'
ข้อ 4 เป็นเรื่องการ design store ให้แยก domain
ข้อ 5-6 เป็น pitfalls ทาง JavaScript เรื่อง immutability และ closure
ขอให้ทุกคนถ่ายรูปสไลด์นี้ไว้ — เป็น checklist ตอน review code ของตัวเองครับ</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ใน Zustand action เป็น function ปกติ — ทำให้ async action ง่ายกว่า Redux มาก
ไม่ต้อง thunk, ไม่ต้อง saga
แต่กฎทอง: track loading และ error เป็น state เสมอ — ไม่ใช่ใน component
guard ด้วย if (get().loading) return เพื่อกัน double-fetch
ตัวอย่างนี้ยังไม่ปลอดภัย race condition 100% — ถ้า user เรียกหลาย id ติดกันต้องใช้ AbortController
จะคุยรายละเอียดในสไลด์ถัดไป</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 layer ทำให้ store testable ขึ้นเยอะ
ใน unit test เรา mock getUser ได้ง่าย ๆ — ไม่ต้อง mock fetch global
AbortController แก้ปัญหา race ได้ตรง ๆ — เก็บ controller ไว้ใน state แล้ว abort ตัวเก่าก่อน fetch ใหม่
อย่าลืม ignore AbortError เพราะมัน expected ไม่ใช่ error จริง
และอย่าใส่ Response object หรือ Error stack trace เต็ม ๆ ลง store — มันใหญ่และทำให้ devtools ช้า</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createStore เป็น API ที่ทำให้ Zustand ทำงานนอก React ได้
สิ่งที่ได้คือ store object 4 method หลัก: getState, setState, subscribe, getInitialState
หลายคนไม่รู้ว่า create() ใน 'zustand' จริง ๆ คือ wrapper รอบ createStore + hook
การแยก vanilla ออกมามีข้อดี: integrate กับ websocket, IndexedDB sync, หรือ run ใน Node สำหรับ test
ใน React เราใช้ useStore(store, selector) เพื่อ subscribe ผ่าน hook
ต่อไปจะดู use case จริงครับ</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สามตัวอย่างที่ผมใช้ vanilla store จริงในงาน
1. WebSocket: เปิด socket ครั้งเดียวที่ระดับ module, message มาก็ setState — ทุก component sync อัตโนมัติ
2. Background sync: เก็บ draft ลง IndexedDB ทุก ๆ N วินาที โดยไม่ต้องผูกกับ component
3. Integration test: ทดสอบ action โดยไม่ต้อง render — เร็วและเสถียรกว่า
จุดสำคัญ: subscribe คืนฟังก์ชัน unsubscribe เสมอ — อย่าลืมเรียกตอน cleanup ไม่งั้นลีก</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ส่วนที่ทุกคนรอ — middleware ที่ใช้บ่อยใน Zustand
Middleware ใน Zustand คือ higher-order function ที่ห่อ initializer
ลำดับสำคัญ: devtools(persist(immer(initializer))) — devtools นอกสุด
จะดู persist, devtools, immer, subscribeWithSelector — 4 ตัวที่ใช้บ่อยที่สุด</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 เป็น middleware ที่ใช้บ่อยที่สุด — เก็บ state ข้าม reload
ห่อ initializer แล้วให้ option object
name คือ key ใน storage — ต้อง unique ต่อ store
storage ใช้ createJSONStorage รับ getter ของ storage จริง — ทำให้ test ง่าย
partialize เลือกเฉพาะ field ที่อยาก persist — สำคัญมาก ไม่งั้นจะเก็บ action function ลงไปด้วย (ซึ่งเก็บไม่ได้)
version ใช้คู่กับ migrate ตอน schema เปลี่ยน — ดูสไลด์ถัดไป</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สไลด์นี้คือ reference card ของ persist options
ที่ใช้บ่อยสุดคือ name + storage + partialize
version + migrate สำคัญตอน production: ถ้า schema เปลี่ยน ต้องเพิ่ม version และเขียน migrate
merge ใช้เมื่อโครงสร้างซ้อนหลายชั้นและ default merge ไม่พอ
skipHydration จำเป็นใน Next.js — ป้องกัน hydration mismatch
onRehydrateStorage เหมาะสำหรับ log/อัปเดต flag เมื่อ load เสร็จ
Pitfall ที่ใหญ่ที่สุด: persist token/password — อันตราย XSS ขโมยได้ทันที</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devtools ทำให้ debug Zustand เหมือน Redux ได้เลย
ติด extension แล้วห่อ initializer ใน devtools(...)
ตั้งชื่อ action ในตัวที่สามของ set: set(updater, replace, actionName)
จะเห็นใน DevTools ว่าแต่ละ action ทำให้ state เปลี่ยนยังไง — กด time travel ย้อนได้
สำคัญ: ปิด devtools ใน production ทั้งด้วยเหตุผล security และ performance
ใช้ flag environment variable เปิดเฉพาะ dev</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immer แก้ pain point ของ nested state — เขียน s.todos[0].done = true ได้เลย
ภายใน immer สร้าง draft แล้ว produce immutable update ให้
trade-off: bundle เพิ่ม ~3 KB และมี overhead เล็กน้อย — ใช้เมื่อจำเป็นเท่านั้น
subscribeWithSelector ใช้เมื่อต้อง subscribe นอก React + อยาก filter slice เหมือน selector
เหมาะกับ side effect: log analytics, sync ไป IndexedDB เมื่อ field เฉพาะเปลี่ยน</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Hydration mismatch เป็นปัญหาคลาสสิกของ persist + SSR
สาเหตุ: server render ไม่มี localStorage จึงใช้ค่า default
ตอน client mount Zustand เห็น storage แล้วอัปเดต state → React บ่นว่า markup ต่างกัน
แก้ด้วย skipHydration: true แล้วเรียก useStore.persist.rehydrate() ใน useEffect ฝั่ง client
หรือใช้ flag _hasHydrated แสดง skeleton จนกว่าจะ hydrate เสร็จ
ที่อันตรายกว่า: บน server อย่าใช้ module-level store — เพราะ Node share module ข้าม request → ข้อมูล user A leak ไปหา user B ได้
ใน Next.js App Router pattern ที่ปลอดภัยคือสร้าง store ต่อ request ผ่าน Context provider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ใน Zustand ทำได้ตรงไปตรงมามาก
key คือ store เป็น singleton ต่อ module — ต้อง reset ทุก test
เก็บ initial state ไว้ตอน import แล้วใช้ใน beforeEach
ใช้ act() จาก testing-library ห่อ action ที่ trigger React update
สำหรับ async action mock service layer (ที่เราแยกไว้) ด้วย jest.spyOn
ถ้าต้อง test persist ใช้ jest.fn() จำลอง localStorage หรือใช้ jsdom ก็ได้
สั้น เร็ว ไม่ต้อง render component ในกรณีส่วนใหญ่</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ถึงเวลาลงมือทำ! เราจะสร้าง Mini App ใช้ความรู้ทั้งหมดที่เรียนมา
มี 8 ขั้นตอน + 1 challenge
แต่ละขั้นตอนมี code snippet พร้อม copy ไปใช้
แนะนำให้ทุกคน clone repo template ที่ผมเตรียมไว้ก่อน
ใช้เวลา 20-25 นาทีในส่วนนี้</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เป็น setup ตรงไปตรงมา
ใช้ Vite เพราะเร็วและ config น้อย
สร้างโครงสร้างโฟลเดอร์ตามที่คุยไว้ก่อนหน้า — แยก stores/ และ services/
รัน dev server ให้ขึ้นก่อนไป step ถัดไป
ถ้าใครติดให้ยกมือนะครับ</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สร้าง todos store ตามหลักที่เรียนมา
ทุก action return array ใหม่ — ไม่ mutate
ใช้ filter, map, spread เป็นหลัก
clearDone เป็นตัวอย่าง action ที่ทำหลายอย่างใน set เดียว
ใน component ดึงด้วย selector ทีละค่า
ลอง wire UI input + ปุ่ม Add ดูก่อน</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สำคัญในการสาธิตเรื่อง derived state
เก็บ filter เป็น state ดิบ ส่วน list ที่กรองคำนวณตอนใช้
ถ้าไม่ใช้ useShallow → component re-render ทุก render เพราะ array reference ใหม่ตลอด
นี่คือ pattern ที่ดีที่สุด: เก็บน้อย derive เยอะ
ลองทำปุ่ม All / Active / Done ดูครับ</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สอน persist จริง ๆ
ห่อ initializer ด้วย persist
ใส่ partialize เพราะถ้าไม่ใส่จะพยายามเก็บ function ลง storage (ซึ่งไม่สมเหตุสมผล)
version + migrate เป็น future proof — ถ้าวันหนึ่งเปลี่ยน theme เป็น 'system' | 'light' | 'dark' จะ migrate ได้
ทดสอบโดย toggle theme แล้ว refresh — ค่าต้องคงอยู่</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รวม pattern async + service layer
service mock ใช้ setTimeout จำลอง latency 600ms
store เรียก service เท่านั้น — ไม่ fetch เอง
loading guard ป้องกันคลิกซ้ำ
error เก็บเป็น string สั้น ๆ — UI เอาไปแสดงได้เลย</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ใส่ devtools เพื่อ debug
ตั้งชื่อ action ทุกครั้ง — ดูใน DevTools เห็นชัดเจนมาก
ทดสอบ login ผิด/ถูก ดู state diff ใน DevTools
ใน production: enabled: false หรืออ่านจาก env flag
ส่วน selector ใช้ per-value เพราะเรียนมาแล้วว่าปลอดภัยที่สุด</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 ออกแบบมาให้รวม pattern หลายอย่าง: persist, multi-user, migrate
ให้เวลาประมาณ 5-7 นาทีลองเอง — แล้วค่อยดูเฉลยขวามือ
แนวเฉลยใช้ byUser map เก็บ todos ตาม userId
partialize เก็บเฉพาะ byUser
ถ้ามีเวลาเหลือ challenge เพิ่ม: เปลี่ยน storage เป็น IndexedDB ผ่าน adapter เช่น idb-keyval — quota ใหญ่กว่า
สำหรับการบ้าน: ลอง integrate กับ Next.js แล้วจัดการ hydration ตามที่เรียน</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Checklist สรุปทุกบทเรียนในคอร์สนี้ — เก็บเป็น code review template ได้เลย
4 หมวด: Design, Performance, Persistence, Debug+SSR+Test
ก่อน merge PR ที่แตะ store ลองเช็คทุกข้อ
ที่สำคัญที่สุดคือ persist เรื่อง token — ขอย้ำอีกครั้ง อย่าเก็บ access token แบบ plain
และ SSR เรื่อง share store ข้าม request — leak ข้อมูล user ได้</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สไลด์สุดท้ายแล้วครับ
ขอบคุณทุกคนที่ตั้งใจฟังตลอด 120 นาที
ถ้ามีคำถามสามารถถามได้เลย
หรือถ้าอยากศึกษาเพิ่ม link สำคัญทั้งสามอันอยู่ด้านบน
docs ของ Zustand เขียนดีมาก แนะนำให้อ่าน guides/ ทั้งหมด
หวังว่าทุกคนจะเอา Zustand ไปใช้ในโปรเจกต์จริงได้ครับ</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548640"/>
            <a:ext cx="1463040" cy="292608"/>
          </a:xfrm>
          <a:prstGeom prst="rect">
            <a:avLst/>
          </a:prstGeom>
          <a:solidFill>
            <a:srgbClr val="1B2C47"/>
          </a:solidFill>
          <a:ln w="12700">
            <a:solidFill>
              <a:srgbClr val="22D3EE"/>
            </a:solidFill>
            <a:prstDash val="solid"/>
          </a:ln>
        </p:spPr>
      </p:sp>
      <p:sp>
        <p:nvSpPr>
          <p:cNvPr id="3" name="Text 1"/>
          <p:cNvSpPr/>
          <p:nvPr/>
        </p:nvSpPr>
        <p:spPr>
          <a:xfrm>
            <a:off x="457200" y="548640"/>
            <a:ext cx="1463040" cy="292608"/>
          </a:xfrm>
          <a:prstGeom prst="rect">
            <a:avLst/>
          </a:prstGeom>
          <a:noFill/>
          <a:ln/>
        </p:spPr>
        <p:txBody>
          <a:bodyPr wrap="square" lIns="0" tIns="0" rIns="0" bIns="0" rtlCol="0" anchor="ctr"/>
          <a:lstStyle/>
          <a:p>
            <a:pPr marL="0" indent="0" algn="ctr">
              <a:buNone/>
            </a:pPr>
            <a:r>
              <a:rPr lang="en-US" sz="1100" dirty="0">
                <a:solidFill>
                  <a:srgbClr val="22D3EE"/>
                </a:solidFill>
                <a:latin typeface="Consolas" pitchFamily="34" charset="0"/>
                <a:ea typeface="Consolas" pitchFamily="34" charset="-122"/>
                <a:cs typeface="Consolas" pitchFamily="34" charset="-120"/>
              </a:rPr>
              <a:t>// training</a:t>
            </a:r>
            <a:endParaRPr lang="en-US" sz="1100" dirty="0"/>
          </a:p>
        </p:txBody>
      </p:sp>
      <p:sp>
        <p:nvSpPr>
          <p:cNvPr id="4" name="Text 2"/>
          <p:cNvSpPr/>
          <p:nvPr/>
        </p:nvSpPr>
        <p:spPr>
          <a:xfrm>
            <a:off x="457200" y="1005840"/>
            <a:ext cx="8229600" cy="1280160"/>
          </a:xfrm>
          <a:prstGeom prst="rect">
            <a:avLst/>
          </a:prstGeom>
          <a:noFill/>
          <a:ln/>
        </p:spPr>
        <p:txBody>
          <a:bodyPr wrap="square" lIns="0" tIns="0" rIns="0" bIns="0" rtlCol="0" anchor="ctr"/>
          <a:lstStyle/>
          <a:p>
            <a:pPr marL="0" indent="0">
              <a:buNone/>
            </a:pPr>
            <a:r>
              <a:rPr lang="en-US" sz="8400" b="1" dirty="0">
                <a:solidFill>
                  <a:srgbClr val="E2E8F0"/>
                </a:solidFill>
                <a:latin typeface="Calibri" pitchFamily="34" charset="0"/>
                <a:ea typeface="Calibri" pitchFamily="34" charset="-122"/>
                <a:cs typeface="Calibri" pitchFamily="34" charset="-120"/>
              </a:rPr>
              <a:t>Zustand</a:t>
            </a:r>
            <a:endParaRPr lang="en-US" sz="8400" dirty="0"/>
          </a:p>
        </p:txBody>
      </p:sp>
      <p:sp>
        <p:nvSpPr>
          <p:cNvPr id="5" name="Text 3"/>
          <p:cNvSpPr/>
          <p:nvPr/>
        </p:nvSpPr>
        <p:spPr>
          <a:xfrm>
            <a:off x="457200" y="2331720"/>
            <a:ext cx="8229600" cy="640080"/>
          </a:xfrm>
          <a:prstGeom prst="rect">
            <a:avLst/>
          </a:prstGeom>
          <a:noFill/>
          <a:ln/>
        </p:spPr>
        <p:txBody>
          <a:bodyPr wrap="square" lIns="0" tIns="0" rIns="0" bIns="0" rtlCol="0" anchor="ctr"/>
          <a:lstStyle/>
          <a:p>
            <a:pPr marL="0" indent="0">
              <a:buNone/>
            </a:pPr>
            <a:r>
              <a:rPr lang="en-US" sz="3200" dirty="0">
                <a:solidFill>
                  <a:srgbClr val="22D3EE"/>
                </a:solidFill>
                <a:latin typeface="Consolas" pitchFamily="34" charset="0"/>
                <a:ea typeface="Consolas" pitchFamily="34" charset="-122"/>
                <a:cs typeface="Consolas" pitchFamily="34" charset="-120"/>
              </a:rPr>
              <a:t>0 → 1 → Production</a:t>
            </a:r>
            <a:endParaRPr lang="en-US" sz="3200" dirty="0"/>
          </a:p>
        </p:txBody>
      </p:sp>
      <p:sp>
        <p:nvSpPr>
          <p:cNvPr id="6" name="Text 4"/>
          <p:cNvSpPr/>
          <p:nvPr/>
        </p:nvSpPr>
        <p:spPr>
          <a:xfrm>
            <a:off x="457200" y="3017520"/>
            <a:ext cx="8229600" cy="45720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State Management สำหรับ React/JavaScript ที่เบา เร็ว และ scale ได้จริง</a:t>
            </a:r>
            <a:endParaRPr lang="en-US" sz="1600" dirty="0"/>
          </a:p>
        </p:txBody>
      </p:sp>
      <p:sp>
        <p:nvSpPr>
          <p:cNvPr id="7" name="Text 5"/>
          <p:cNvSpPr/>
          <p:nvPr/>
        </p:nvSpPr>
        <p:spPr>
          <a:xfrm>
            <a:off x="457200" y="3931920"/>
            <a:ext cx="2560320" cy="228600"/>
          </a:xfrm>
          <a:prstGeom prst="rect">
            <a:avLst/>
          </a:prstGeom>
          <a:noFill/>
          <a:ln/>
        </p:spPr>
        <p:txBody>
          <a:bodyPr wrap="square" lIns="0" tIns="0" rIns="0" bIns="0" rtlCol="0" anchor="ctr"/>
          <a:lstStyle/>
          <a:p>
            <a:pPr marL="0" indent="0">
              <a:buNone/>
            </a:pPr>
            <a:r>
              <a:rPr lang="en-US" sz="900" dirty="0">
                <a:solidFill>
                  <a:srgbClr val="A3E635"/>
                </a:solidFill>
                <a:latin typeface="Consolas" pitchFamily="34" charset="0"/>
                <a:ea typeface="Consolas" pitchFamily="34" charset="-122"/>
                <a:cs typeface="Consolas" pitchFamily="34" charset="-120"/>
              </a:rPr>
              <a:t>DURATION</a:t>
            </a:r>
            <a:endParaRPr lang="en-US" sz="900" dirty="0"/>
          </a:p>
        </p:txBody>
      </p:sp>
      <p:sp>
        <p:nvSpPr>
          <p:cNvPr id="8" name="Text 6"/>
          <p:cNvSpPr/>
          <p:nvPr/>
        </p:nvSpPr>
        <p:spPr>
          <a:xfrm>
            <a:off x="457200" y="4160520"/>
            <a:ext cx="2560320" cy="365760"/>
          </a:xfrm>
          <a:prstGeom prst="rect">
            <a:avLst/>
          </a:prstGeom>
          <a:noFill/>
          <a:ln/>
        </p:spPr>
        <p:txBody>
          <a:bodyPr wrap="square" lIns="0" tIns="0" rIns="0" bIns="0" rtlCol="0" anchor="ctr"/>
          <a:lstStyle/>
          <a:p>
            <a:pPr marL="0" indent="0">
              <a:buNone/>
            </a:pPr>
            <a:r>
              <a:rPr lang="en-US" sz="1600" b="1" dirty="0">
                <a:solidFill>
                  <a:srgbClr val="E2E8F0"/>
                </a:solidFill>
                <a:latin typeface="Calibri" pitchFamily="34" charset="0"/>
                <a:ea typeface="Calibri" pitchFamily="34" charset="-122"/>
                <a:cs typeface="Calibri" pitchFamily="34" charset="-120"/>
              </a:rPr>
              <a:t>120 min</a:t>
            </a:r>
            <a:endParaRPr lang="en-US" sz="1600" dirty="0"/>
          </a:p>
        </p:txBody>
      </p:sp>
      <p:sp>
        <p:nvSpPr>
          <p:cNvPr id="9" name="Text 7"/>
          <p:cNvSpPr/>
          <p:nvPr/>
        </p:nvSpPr>
        <p:spPr>
          <a:xfrm>
            <a:off x="3200400" y="3931920"/>
            <a:ext cx="2560320" cy="228600"/>
          </a:xfrm>
          <a:prstGeom prst="rect">
            <a:avLst/>
          </a:prstGeom>
          <a:noFill/>
          <a:ln/>
        </p:spPr>
        <p:txBody>
          <a:bodyPr wrap="square" lIns="0" tIns="0" rIns="0" bIns="0" rtlCol="0" anchor="ctr"/>
          <a:lstStyle/>
          <a:p>
            <a:pPr marL="0" indent="0">
              <a:buNone/>
            </a:pPr>
            <a:r>
              <a:rPr lang="en-US" sz="900" dirty="0">
                <a:solidFill>
                  <a:srgbClr val="A3E635"/>
                </a:solidFill>
                <a:latin typeface="Consolas" pitchFamily="34" charset="0"/>
                <a:ea typeface="Consolas" pitchFamily="34" charset="-122"/>
                <a:cs typeface="Consolas" pitchFamily="34" charset="-120"/>
              </a:rPr>
              <a:t>AUDIENCE</a:t>
            </a:r>
            <a:endParaRPr lang="en-US" sz="900" dirty="0"/>
          </a:p>
        </p:txBody>
      </p:sp>
      <p:sp>
        <p:nvSpPr>
          <p:cNvPr id="10" name="Text 8"/>
          <p:cNvSpPr/>
          <p:nvPr/>
        </p:nvSpPr>
        <p:spPr>
          <a:xfrm>
            <a:off x="3200400" y="4160520"/>
            <a:ext cx="2560320" cy="365760"/>
          </a:xfrm>
          <a:prstGeom prst="rect">
            <a:avLst/>
          </a:prstGeom>
          <a:noFill/>
          <a:ln/>
        </p:spPr>
        <p:txBody>
          <a:bodyPr wrap="square" lIns="0" tIns="0" rIns="0" bIns="0" rtlCol="0" anchor="ctr"/>
          <a:lstStyle/>
          <a:p>
            <a:pPr marL="0" indent="0">
              <a:buNone/>
            </a:pPr>
            <a:r>
              <a:rPr lang="en-US" sz="1600" b="1" dirty="0">
                <a:solidFill>
                  <a:srgbClr val="E2E8F0"/>
                </a:solidFill>
                <a:latin typeface="Calibri" pitchFamily="34" charset="0"/>
                <a:ea typeface="Calibri" pitchFamily="34" charset="-122"/>
                <a:cs typeface="Calibri" pitchFamily="34" charset="-120"/>
              </a:rPr>
              <a:t>React Jr–Mid</a:t>
            </a:r>
            <a:endParaRPr lang="en-US" sz="1600" dirty="0"/>
          </a:p>
        </p:txBody>
      </p:sp>
      <p:sp>
        <p:nvSpPr>
          <p:cNvPr id="11" name="Text 9"/>
          <p:cNvSpPr/>
          <p:nvPr/>
        </p:nvSpPr>
        <p:spPr>
          <a:xfrm>
            <a:off x="5943600" y="3931920"/>
            <a:ext cx="2560320" cy="228600"/>
          </a:xfrm>
          <a:prstGeom prst="rect">
            <a:avLst/>
          </a:prstGeom>
          <a:noFill/>
          <a:ln/>
        </p:spPr>
        <p:txBody>
          <a:bodyPr wrap="square" lIns="0" tIns="0" rIns="0" bIns="0" rtlCol="0" anchor="ctr"/>
          <a:lstStyle/>
          <a:p>
            <a:pPr marL="0" indent="0">
              <a:buNone/>
            </a:pPr>
            <a:r>
              <a:rPr lang="en-US" sz="900" dirty="0">
                <a:solidFill>
                  <a:srgbClr val="A3E635"/>
                </a:solidFill>
                <a:latin typeface="Consolas" pitchFamily="34" charset="0"/>
                <a:ea typeface="Consolas" pitchFamily="34" charset="-122"/>
                <a:cs typeface="Consolas" pitchFamily="34" charset="-120"/>
              </a:rPr>
              <a:t>FORMAT</a:t>
            </a:r>
            <a:endParaRPr lang="en-US" sz="900" dirty="0"/>
          </a:p>
        </p:txBody>
      </p:sp>
      <p:sp>
        <p:nvSpPr>
          <p:cNvPr id="12" name="Text 10"/>
          <p:cNvSpPr/>
          <p:nvPr/>
        </p:nvSpPr>
        <p:spPr>
          <a:xfrm>
            <a:off x="5943600" y="4160520"/>
            <a:ext cx="2560320" cy="365760"/>
          </a:xfrm>
          <a:prstGeom prst="rect">
            <a:avLst/>
          </a:prstGeom>
          <a:noFill/>
          <a:ln/>
        </p:spPr>
        <p:txBody>
          <a:bodyPr wrap="square" lIns="0" tIns="0" rIns="0" bIns="0" rtlCol="0" anchor="ctr"/>
          <a:lstStyle/>
          <a:p>
            <a:pPr marL="0" indent="0">
              <a:buNone/>
            </a:pPr>
            <a:r>
              <a:rPr lang="en-US" sz="1600" b="1" dirty="0">
                <a:solidFill>
                  <a:srgbClr val="E2E8F0"/>
                </a:solidFill>
                <a:latin typeface="Calibri" pitchFamily="34" charset="0"/>
                <a:ea typeface="Calibri" pitchFamily="34" charset="-122"/>
                <a:cs typeface="Calibri" pitchFamily="34" charset="-120"/>
              </a:rPr>
              <a:t>Lecture + Workshop</a:t>
            </a:r>
            <a:endParaRPr lang="en-US" sz="1600" dirty="0"/>
          </a:p>
        </p:txBody>
      </p:sp>
      <p:sp>
        <p:nvSpPr>
          <p:cNvPr id="13" name="Text 11"/>
          <p:cNvSpPr/>
          <p:nvPr/>
        </p:nvSpPr>
        <p:spPr>
          <a:xfrm>
            <a:off x="457200" y="4846320"/>
            <a:ext cx="8229600" cy="228600"/>
          </a:xfrm>
          <a:prstGeom prst="rect">
            <a:avLst/>
          </a:prstGeom>
          <a:noFill/>
          <a:ln/>
        </p:spPr>
        <p:txBody>
          <a:bodyPr wrap="square" lIns="0" tIns="0" rIns="0" bIns="0" rtlCol="0" anchor="ctr"/>
          <a:lstStyle/>
          <a:p>
            <a:pPr marL="0" indent="0" algn="r">
              <a:buNone/>
            </a:pPr>
            <a:r>
              <a:rPr lang="en-US" sz="900" dirty="0">
                <a:solidFill>
                  <a:srgbClr val="94A3B8"/>
                </a:solidFill>
                <a:latin typeface="Consolas" pitchFamily="34" charset="0"/>
                <a:ea typeface="Consolas" pitchFamily="34" charset="-122"/>
                <a:cs typeface="Consolas" pitchFamily="34" charset="-120"/>
              </a:rPr>
              <a:t>v1.0 ·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02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Agenda — 120 นาที</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เส้นทางจาก 0 → 1 → Production</a:t>
            </a:r>
            <a:endParaRPr lang="en-US" sz="1300" dirty="0"/>
          </a:p>
        </p:txBody>
      </p:sp>
      <p:sp>
        <p:nvSpPr>
          <p:cNvPr id="6" name="Shape 4"/>
          <p:cNvSpPr/>
          <p:nvPr/>
        </p:nvSpPr>
        <p:spPr>
          <a:xfrm>
            <a:off x="457200" y="1325880"/>
            <a:ext cx="4023360" cy="548640"/>
          </a:xfrm>
          <a:prstGeom prst="rect">
            <a:avLst/>
          </a:prstGeom>
          <a:solidFill>
            <a:srgbClr val="132238"/>
          </a:solidFill>
          <a:ln w="12700">
            <a:solidFill>
              <a:srgbClr val="1B2C47"/>
            </a:solidFill>
            <a:prstDash val="solid"/>
          </a:ln>
        </p:spPr>
      </p:sp>
      <p:sp>
        <p:nvSpPr>
          <p:cNvPr id="7" name="Text 5"/>
          <p:cNvSpPr/>
          <p:nvPr/>
        </p:nvSpPr>
        <p:spPr>
          <a:xfrm>
            <a:off x="548640" y="1325880"/>
            <a:ext cx="548640" cy="548640"/>
          </a:xfrm>
          <a:prstGeom prst="rect">
            <a:avLst/>
          </a:prstGeom>
          <a:noFill/>
          <a:ln/>
        </p:spPr>
        <p:txBody>
          <a:bodyPr wrap="square" lIns="0" tIns="0" rIns="0" bIns="0" rtlCol="0" anchor="ctr"/>
          <a:lstStyle/>
          <a:p>
            <a:pPr marL="0" indent="0">
              <a:buNone/>
            </a:pPr>
            <a:r>
              <a:rPr lang="en-US" sz="1800" b="1" dirty="0">
                <a:solidFill>
                  <a:srgbClr val="22D3EE"/>
                </a:solidFill>
                <a:latin typeface="Consolas" pitchFamily="34" charset="0"/>
                <a:ea typeface="Consolas" pitchFamily="34" charset="-122"/>
                <a:cs typeface="Consolas" pitchFamily="34" charset="-120"/>
              </a:rPr>
              <a:t>01</a:t>
            </a:r>
            <a:endParaRPr lang="en-US" sz="1800" dirty="0"/>
          </a:p>
        </p:txBody>
      </p:sp>
      <p:sp>
        <p:nvSpPr>
          <p:cNvPr id="8" name="Text 6"/>
          <p:cNvSpPr/>
          <p:nvPr/>
        </p:nvSpPr>
        <p:spPr>
          <a:xfrm>
            <a:off x="1143000" y="1325880"/>
            <a:ext cx="2468880" cy="54864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Intro &amp; Why Zustand</a:t>
            </a:r>
            <a:endParaRPr lang="en-US" sz="1200" dirty="0"/>
          </a:p>
        </p:txBody>
      </p:sp>
      <p:sp>
        <p:nvSpPr>
          <p:cNvPr id="9" name="Text 7"/>
          <p:cNvSpPr/>
          <p:nvPr/>
        </p:nvSpPr>
        <p:spPr>
          <a:xfrm>
            <a:off x="3566160" y="1325880"/>
            <a:ext cx="868680" cy="548640"/>
          </a:xfrm>
          <a:prstGeom prst="rect">
            <a:avLst/>
          </a:prstGeom>
          <a:noFill/>
          <a:ln/>
        </p:spPr>
        <p:txBody>
          <a:bodyPr wrap="square" lIns="0" tIns="0" rIns="0" bIns="0" rtlCol="0" anchor="ctr"/>
          <a:lstStyle/>
          <a:p>
            <a:pPr marL="0" indent="0" algn="r">
              <a:buNone/>
            </a:pPr>
            <a:r>
              <a:rPr lang="en-US" sz="1000" dirty="0">
                <a:solidFill>
                  <a:srgbClr val="A3E635"/>
                </a:solidFill>
                <a:latin typeface="Consolas" pitchFamily="34" charset="0"/>
                <a:ea typeface="Consolas" pitchFamily="34" charset="-122"/>
                <a:cs typeface="Consolas" pitchFamily="34" charset="-120"/>
              </a:rPr>
              <a:t>10 min</a:t>
            </a:r>
            <a:endParaRPr lang="en-US" sz="1000" dirty="0"/>
          </a:p>
        </p:txBody>
      </p:sp>
      <p:sp>
        <p:nvSpPr>
          <p:cNvPr id="10" name="Shape 8"/>
          <p:cNvSpPr/>
          <p:nvPr/>
        </p:nvSpPr>
        <p:spPr>
          <a:xfrm>
            <a:off x="4617720" y="1325880"/>
            <a:ext cx="4023360" cy="548640"/>
          </a:xfrm>
          <a:prstGeom prst="rect">
            <a:avLst/>
          </a:prstGeom>
          <a:solidFill>
            <a:srgbClr val="132238"/>
          </a:solidFill>
          <a:ln w="12700">
            <a:solidFill>
              <a:srgbClr val="1B2C47"/>
            </a:solidFill>
            <a:prstDash val="solid"/>
          </a:ln>
        </p:spPr>
      </p:sp>
      <p:sp>
        <p:nvSpPr>
          <p:cNvPr id="11" name="Text 9"/>
          <p:cNvSpPr/>
          <p:nvPr/>
        </p:nvSpPr>
        <p:spPr>
          <a:xfrm>
            <a:off x="4709160" y="1325880"/>
            <a:ext cx="548640" cy="548640"/>
          </a:xfrm>
          <a:prstGeom prst="rect">
            <a:avLst/>
          </a:prstGeom>
          <a:noFill/>
          <a:ln/>
        </p:spPr>
        <p:txBody>
          <a:bodyPr wrap="square" lIns="0" tIns="0" rIns="0" bIns="0" rtlCol="0" anchor="ctr"/>
          <a:lstStyle/>
          <a:p>
            <a:pPr marL="0" indent="0">
              <a:buNone/>
            </a:pPr>
            <a:r>
              <a:rPr lang="en-US" sz="1800" b="1" dirty="0">
                <a:solidFill>
                  <a:srgbClr val="22D3EE"/>
                </a:solidFill>
                <a:latin typeface="Consolas" pitchFamily="34" charset="0"/>
                <a:ea typeface="Consolas" pitchFamily="34" charset="-122"/>
                <a:cs typeface="Consolas" pitchFamily="34" charset="-120"/>
              </a:rPr>
              <a:t>02</a:t>
            </a:r>
            <a:endParaRPr lang="en-US" sz="1800" dirty="0"/>
          </a:p>
        </p:txBody>
      </p:sp>
      <p:sp>
        <p:nvSpPr>
          <p:cNvPr id="12" name="Text 10"/>
          <p:cNvSpPr/>
          <p:nvPr/>
        </p:nvSpPr>
        <p:spPr>
          <a:xfrm>
            <a:off x="5303520" y="1325880"/>
            <a:ext cx="2468880" cy="54864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Install &amp; Core Concept</a:t>
            </a:r>
            <a:endParaRPr lang="en-US" sz="1200" dirty="0"/>
          </a:p>
        </p:txBody>
      </p:sp>
      <p:sp>
        <p:nvSpPr>
          <p:cNvPr id="13" name="Text 11"/>
          <p:cNvSpPr/>
          <p:nvPr/>
        </p:nvSpPr>
        <p:spPr>
          <a:xfrm>
            <a:off x="7726680" y="1325880"/>
            <a:ext cx="868680" cy="548640"/>
          </a:xfrm>
          <a:prstGeom prst="rect">
            <a:avLst/>
          </a:prstGeom>
          <a:noFill/>
          <a:ln/>
        </p:spPr>
        <p:txBody>
          <a:bodyPr wrap="square" lIns="0" tIns="0" rIns="0" bIns="0" rtlCol="0" anchor="ctr"/>
          <a:lstStyle/>
          <a:p>
            <a:pPr marL="0" indent="0" algn="r">
              <a:buNone/>
            </a:pPr>
            <a:r>
              <a:rPr lang="en-US" sz="1000" dirty="0">
                <a:solidFill>
                  <a:srgbClr val="A3E635"/>
                </a:solidFill>
                <a:latin typeface="Consolas" pitchFamily="34" charset="0"/>
                <a:ea typeface="Consolas" pitchFamily="34" charset="-122"/>
                <a:cs typeface="Consolas" pitchFamily="34" charset="-120"/>
              </a:rPr>
              <a:t>15 min</a:t>
            </a:r>
            <a:endParaRPr lang="en-US" sz="1000" dirty="0"/>
          </a:p>
        </p:txBody>
      </p:sp>
      <p:sp>
        <p:nvSpPr>
          <p:cNvPr id="14" name="Shape 12"/>
          <p:cNvSpPr/>
          <p:nvPr/>
        </p:nvSpPr>
        <p:spPr>
          <a:xfrm>
            <a:off x="457200" y="1965960"/>
            <a:ext cx="4023360" cy="548640"/>
          </a:xfrm>
          <a:prstGeom prst="rect">
            <a:avLst/>
          </a:prstGeom>
          <a:solidFill>
            <a:srgbClr val="132238"/>
          </a:solidFill>
          <a:ln w="12700">
            <a:solidFill>
              <a:srgbClr val="1B2C47"/>
            </a:solidFill>
            <a:prstDash val="solid"/>
          </a:ln>
        </p:spPr>
      </p:sp>
      <p:sp>
        <p:nvSpPr>
          <p:cNvPr id="15" name="Text 13"/>
          <p:cNvSpPr/>
          <p:nvPr/>
        </p:nvSpPr>
        <p:spPr>
          <a:xfrm>
            <a:off x="548640" y="1965960"/>
            <a:ext cx="548640" cy="548640"/>
          </a:xfrm>
          <a:prstGeom prst="rect">
            <a:avLst/>
          </a:prstGeom>
          <a:noFill/>
          <a:ln/>
        </p:spPr>
        <p:txBody>
          <a:bodyPr wrap="square" lIns="0" tIns="0" rIns="0" bIns="0" rtlCol="0" anchor="ctr"/>
          <a:lstStyle/>
          <a:p>
            <a:pPr marL="0" indent="0">
              <a:buNone/>
            </a:pPr>
            <a:r>
              <a:rPr lang="en-US" sz="1800" b="1" dirty="0">
                <a:solidFill>
                  <a:srgbClr val="22D3EE"/>
                </a:solidFill>
                <a:latin typeface="Consolas" pitchFamily="34" charset="0"/>
                <a:ea typeface="Consolas" pitchFamily="34" charset="-122"/>
                <a:cs typeface="Consolas" pitchFamily="34" charset="-120"/>
              </a:rPr>
              <a:t>03</a:t>
            </a:r>
            <a:endParaRPr lang="en-US" sz="1800" dirty="0"/>
          </a:p>
        </p:txBody>
      </p:sp>
      <p:sp>
        <p:nvSpPr>
          <p:cNvPr id="16" name="Text 14"/>
          <p:cNvSpPr/>
          <p:nvPr/>
        </p:nvSpPr>
        <p:spPr>
          <a:xfrm>
            <a:off x="1143000" y="1965960"/>
            <a:ext cx="2468880" cy="54864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Patterns + Async</a:t>
            </a:r>
            <a:endParaRPr lang="en-US" sz="1200" dirty="0"/>
          </a:p>
        </p:txBody>
      </p:sp>
      <p:sp>
        <p:nvSpPr>
          <p:cNvPr id="17" name="Text 15"/>
          <p:cNvSpPr/>
          <p:nvPr/>
        </p:nvSpPr>
        <p:spPr>
          <a:xfrm>
            <a:off x="3566160" y="1965960"/>
            <a:ext cx="868680" cy="548640"/>
          </a:xfrm>
          <a:prstGeom prst="rect">
            <a:avLst/>
          </a:prstGeom>
          <a:noFill/>
          <a:ln/>
        </p:spPr>
        <p:txBody>
          <a:bodyPr wrap="square" lIns="0" tIns="0" rIns="0" bIns="0" rtlCol="0" anchor="ctr"/>
          <a:lstStyle/>
          <a:p>
            <a:pPr marL="0" indent="0" algn="r">
              <a:buNone/>
            </a:pPr>
            <a:r>
              <a:rPr lang="en-US" sz="1000" dirty="0">
                <a:solidFill>
                  <a:srgbClr val="A3E635"/>
                </a:solidFill>
                <a:latin typeface="Consolas" pitchFamily="34" charset="0"/>
                <a:ea typeface="Consolas" pitchFamily="34" charset="-122"/>
                <a:cs typeface="Consolas" pitchFamily="34" charset="-120"/>
              </a:rPr>
              <a:t>20 min</a:t>
            </a:r>
            <a:endParaRPr lang="en-US" sz="1000" dirty="0"/>
          </a:p>
        </p:txBody>
      </p:sp>
      <p:sp>
        <p:nvSpPr>
          <p:cNvPr id="18" name="Shape 16"/>
          <p:cNvSpPr/>
          <p:nvPr/>
        </p:nvSpPr>
        <p:spPr>
          <a:xfrm>
            <a:off x="4617720" y="1965960"/>
            <a:ext cx="4023360" cy="548640"/>
          </a:xfrm>
          <a:prstGeom prst="rect">
            <a:avLst/>
          </a:prstGeom>
          <a:solidFill>
            <a:srgbClr val="132238"/>
          </a:solidFill>
          <a:ln w="12700">
            <a:solidFill>
              <a:srgbClr val="1B2C47"/>
            </a:solidFill>
            <a:prstDash val="solid"/>
          </a:ln>
        </p:spPr>
      </p:sp>
      <p:sp>
        <p:nvSpPr>
          <p:cNvPr id="19" name="Text 17"/>
          <p:cNvSpPr/>
          <p:nvPr/>
        </p:nvSpPr>
        <p:spPr>
          <a:xfrm>
            <a:off x="4709160" y="1965960"/>
            <a:ext cx="548640" cy="548640"/>
          </a:xfrm>
          <a:prstGeom prst="rect">
            <a:avLst/>
          </a:prstGeom>
          <a:noFill/>
          <a:ln/>
        </p:spPr>
        <p:txBody>
          <a:bodyPr wrap="square" lIns="0" tIns="0" rIns="0" bIns="0" rtlCol="0" anchor="ctr"/>
          <a:lstStyle/>
          <a:p>
            <a:pPr marL="0" indent="0">
              <a:buNone/>
            </a:pPr>
            <a:r>
              <a:rPr lang="en-US" sz="1800" b="1" dirty="0">
                <a:solidFill>
                  <a:srgbClr val="22D3EE"/>
                </a:solidFill>
                <a:latin typeface="Consolas" pitchFamily="34" charset="0"/>
                <a:ea typeface="Consolas" pitchFamily="34" charset="-122"/>
                <a:cs typeface="Consolas" pitchFamily="34" charset="-120"/>
              </a:rPr>
              <a:t>04</a:t>
            </a:r>
            <a:endParaRPr lang="en-US" sz="1800" dirty="0"/>
          </a:p>
        </p:txBody>
      </p:sp>
      <p:sp>
        <p:nvSpPr>
          <p:cNvPr id="20" name="Text 18"/>
          <p:cNvSpPr/>
          <p:nvPr/>
        </p:nvSpPr>
        <p:spPr>
          <a:xfrm>
            <a:off x="5303520" y="1965960"/>
            <a:ext cx="2468880" cy="54864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Vanilla Store (outside React)</a:t>
            </a:r>
            <a:endParaRPr lang="en-US" sz="1200" dirty="0"/>
          </a:p>
        </p:txBody>
      </p:sp>
      <p:sp>
        <p:nvSpPr>
          <p:cNvPr id="21" name="Text 19"/>
          <p:cNvSpPr/>
          <p:nvPr/>
        </p:nvSpPr>
        <p:spPr>
          <a:xfrm>
            <a:off x="7726680" y="1965960"/>
            <a:ext cx="868680" cy="548640"/>
          </a:xfrm>
          <a:prstGeom prst="rect">
            <a:avLst/>
          </a:prstGeom>
          <a:noFill/>
          <a:ln/>
        </p:spPr>
        <p:txBody>
          <a:bodyPr wrap="square" lIns="0" tIns="0" rIns="0" bIns="0" rtlCol="0" anchor="ctr"/>
          <a:lstStyle/>
          <a:p>
            <a:pPr marL="0" indent="0" algn="r">
              <a:buNone/>
            </a:pPr>
            <a:r>
              <a:rPr lang="en-US" sz="1000" dirty="0">
                <a:solidFill>
                  <a:srgbClr val="A3E635"/>
                </a:solidFill>
                <a:latin typeface="Consolas" pitchFamily="34" charset="0"/>
                <a:ea typeface="Consolas" pitchFamily="34" charset="-122"/>
                <a:cs typeface="Consolas" pitchFamily="34" charset="-120"/>
              </a:rPr>
              <a:t>10 min</a:t>
            </a:r>
            <a:endParaRPr lang="en-US" sz="1000" dirty="0"/>
          </a:p>
        </p:txBody>
      </p:sp>
      <p:sp>
        <p:nvSpPr>
          <p:cNvPr id="22" name="Shape 20"/>
          <p:cNvSpPr/>
          <p:nvPr/>
        </p:nvSpPr>
        <p:spPr>
          <a:xfrm>
            <a:off x="457200" y="2606040"/>
            <a:ext cx="4023360" cy="548640"/>
          </a:xfrm>
          <a:prstGeom prst="rect">
            <a:avLst/>
          </a:prstGeom>
          <a:solidFill>
            <a:srgbClr val="132238"/>
          </a:solidFill>
          <a:ln w="12700">
            <a:solidFill>
              <a:srgbClr val="1B2C47"/>
            </a:solidFill>
            <a:prstDash val="solid"/>
          </a:ln>
        </p:spPr>
      </p:sp>
      <p:sp>
        <p:nvSpPr>
          <p:cNvPr id="23" name="Text 21"/>
          <p:cNvSpPr/>
          <p:nvPr/>
        </p:nvSpPr>
        <p:spPr>
          <a:xfrm>
            <a:off x="548640" y="2606040"/>
            <a:ext cx="548640" cy="548640"/>
          </a:xfrm>
          <a:prstGeom prst="rect">
            <a:avLst/>
          </a:prstGeom>
          <a:noFill/>
          <a:ln/>
        </p:spPr>
        <p:txBody>
          <a:bodyPr wrap="square" lIns="0" tIns="0" rIns="0" bIns="0" rtlCol="0" anchor="ctr"/>
          <a:lstStyle/>
          <a:p>
            <a:pPr marL="0" indent="0">
              <a:buNone/>
            </a:pPr>
            <a:r>
              <a:rPr lang="en-US" sz="1800" b="1" dirty="0">
                <a:solidFill>
                  <a:srgbClr val="22D3EE"/>
                </a:solidFill>
                <a:latin typeface="Consolas" pitchFamily="34" charset="0"/>
                <a:ea typeface="Consolas" pitchFamily="34" charset="-122"/>
                <a:cs typeface="Consolas" pitchFamily="34" charset="-120"/>
              </a:rPr>
              <a:t>05</a:t>
            </a:r>
            <a:endParaRPr lang="en-US" sz="1800" dirty="0"/>
          </a:p>
        </p:txBody>
      </p:sp>
      <p:sp>
        <p:nvSpPr>
          <p:cNvPr id="24" name="Text 22"/>
          <p:cNvSpPr/>
          <p:nvPr/>
        </p:nvSpPr>
        <p:spPr>
          <a:xfrm>
            <a:off x="1143000" y="2606040"/>
            <a:ext cx="2468880" cy="54864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Middleware: persist / devtools / immer</a:t>
            </a:r>
            <a:endParaRPr lang="en-US" sz="1200" dirty="0"/>
          </a:p>
        </p:txBody>
      </p:sp>
      <p:sp>
        <p:nvSpPr>
          <p:cNvPr id="25" name="Text 23"/>
          <p:cNvSpPr/>
          <p:nvPr/>
        </p:nvSpPr>
        <p:spPr>
          <a:xfrm>
            <a:off x="3566160" y="2606040"/>
            <a:ext cx="868680" cy="548640"/>
          </a:xfrm>
          <a:prstGeom prst="rect">
            <a:avLst/>
          </a:prstGeom>
          <a:noFill/>
          <a:ln/>
        </p:spPr>
        <p:txBody>
          <a:bodyPr wrap="square" lIns="0" tIns="0" rIns="0" bIns="0" rtlCol="0" anchor="ctr"/>
          <a:lstStyle/>
          <a:p>
            <a:pPr marL="0" indent="0" algn="r">
              <a:buNone/>
            </a:pPr>
            <a:r>
              <a:rPr lang="en-US" sz="1000" dirty="0">
                <a:solidFill>
                  <a:srgbClr val="A3E635"/>
                </a:solidFill>
                <a:latin typeface="Consolas" pitchFamily="34" charset="0"/>
                <a:ea typeface="Consolas" pitchFamily="34" charset="-122"/>
                <a:cs typeface="Consolas" pitchFamily="34" charset="-120"/>
              </a:rPr>
              <a:t>20 min</a:t>
            </a:r>
            <a:endParaRPr lang="en-US" sz="1000" dirty="0"/>
          </a:p>
        </p:txBody>
      </p:sp>
      <p:sp>
        <p:nvSpPr>
          <p:cNvPr id="26" name="Shape 24"/>
          <p:cNvSpPr/>
          <p:nvPr/>
        </p:nvSpPr>
        <p:spPr>
          <a:xfrm>
            <a:off x="4617720" y="2606040"/>
            <a:ext cx="4023360" cy="548640"/>
          </a:xfrm>
          <a:prstGeom prst="rect">
            <a:avLst/>
          </a:prstGeom>
          <a:solidFill>
            <a:srgbClr val="132238"/>
          </a:solidFill>
          <a:ln w="12700">
            <a:solidFill>
              <a:srgbClr val="1B2C47"/>
            </a:solidFill>
            <a:prstDash val="solid"/>
          </a:ln>
        </p:spPr>
      </p:sp>
      <p:sp>
        <p:nvSpPr>
          <p:cNvPr id="27" name="Text 25"/>
          <p:cNvSpPr/>
          <p:nvPr/>
        </p:nvSpPr>
        <p:spPr>
          <a:xfrm>
            <a:off x="4709160" y="2606040"/>
            <a:ext cx="548640" cy="548640"/>
          </a:xfrm>
          <a:prstGeom prst="rect">
            <a:avLst/>
          </a:prstGeom>
          <a:noFill/>
          <a:ln/>
        </p:spPr>
        <p:txBody>
          <a:bodyPr wrap="square" lIns="0" tIns="0" rIns="0" bIns="0" rtlCol="0" anchor="ctr"/>
          <a:lstStyle/>
          <a:p>
            <a:pPr marL="0" indent="0">
              <a:buNone/>
            </a:pPr>
            <a:r>
              <a:rPr lang="en-US" sz="1800" b="1" dirty="0">
                <a:solidFill>
                  <a:srgbClr val="22D3EE"/>
                </a:solidFill>
                <a:latin typeface="Consolas" pitchFamily="34" charset="0"/>
                <a:ea typeface="Consolas" pitchFamily="34" charset="-122"/>
                <a:cs typeface="Consolas" pitchFamily="34" charset="-120"/>
              </a:rPr>
              <a:t>06</a:t>
            </a:r>
            <a:endParaRPr lang="en-US" sz="1800" dirty="0"/>
          </a:p>
        </p:txBody>
      </p:sp>
      <p:sp>
        <p:nvSpPr>
          <p:cNvPr id="28" name="Text 26"/>
          <p:cNvSpPr/>
          <p:nvPr/>
        </p:nvSpPr>
        <p:spPr>
          <a:xfrm>
            <a:off x="5303520" y="2606040"/>
            <a:ext cx="2468880" cy="54864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SSR / Next.js Hydration</a:t>
            </a:r>
            <a:endParaRPr lang="en-US" sz="1200" dirty="0"/>
          </a:p>
        </p:txBody>
      </p:sp>
      <p:sp>
        <p:nvSpPr>
          <p:cNvPr id="29" name="Text 27"/>
          <p:cNvSpPr/>
          <p:nvPr/>
        </p:nvSpPr>
        <p:spPr>
          <a:xfrm>
            <a:off x="7726680" y="2606040"/>
            <a:ext cx="868680" cy="548640"/>
          </a:xfrm>
          <a:prstGeom prst="rect">
            <a:avLst/>
          </a:prstGeom>
          <a:noFill/>
          <a:ln/>
        </p:spPr>
        <p:txBody>
          <a:bodyPr wrap="square" lIns="0" tIns="0" rIns="0" bIns="0" rtlCol="0" anchor="ctr"/>
          <a:lstStyle/>
          <a:p>
            <a:pPr marL="0" indent="0" algn="r">
              <a:buNone/>
            </a:pPr>
            <a:r>
              <a:rPr lang="en-US" sz="1000" dirty="0">
                <a:solidFill>
                  <a:srgbClr val="A3E635"/>
                </a:solidFill>
                <a:latin typeface="Consolas" pitchFamily="34" charset="0"/>
                <a:ea typeface="Consolas" pitchFamily="34" charset="-122"/>
                <a:cs typeface="Consolas" pitchFamily="34" charset="-120"/>
              </a:rPr>
              <a:t>10 min</a:t>
            </a:r>
            <a:endParaRPr lang="en-US" sz="1000" dirty="0"/>
          </a:p>
        </p:txBody>
      </p:sp>
      <p:sp>
        <p:nvSpPr>
          <p:cNvPr id="30" name="Shape 28"/>
          <p:cNvSpPr/>
          <p:nvPr/>
        </p:nvSpPr>
        <p:spPr>
          <a:xfrm>
            <a:off x="457200" y="3246120"/>
            <a:ext cx="4023360" cy="548640"/>
          </a:xfrm>
          <a:prstGeom prst="rect">
            <a:avLst/>
          </a:prstGeom>
          <a:solidFill>
            <a:srgbClr val="132238"/>
          </a:solidFill>
          <a:ln w="12700">
            <a:solidFill>
              <a:srgbClr val="1B2C47"/>
            </a:solidFill>
            <a:prstDash val="solid"/>
          </a:ln>
        </p:spPr>
      </p:sp>
      <p:sp>
        <p:nvSpPr>
          <p:cNvPr id="31" name="Text 29"/>
          <p:cNvSpPr/>
          <p:nvPr/>
        </p:nvSpPr>
        <p:spPr>
          <a:xfrm>
            <a:off x="548640" y="3246120"/>
            <a:ext cx="548640" cy="548640"/>
          </a:xfrm>
          <a:prstGeom prst="rect">
            <a:avLst/>
          </a:prstGeom>
          <a:noFill/>
          <a:ln/>
        </p:spPr>
        <p:txBody>
          <a:bodyPr wrap="square" lIns="0" tIns="0" rIns="0" bIns="0" rtlCol="0" anchor="ctr"/>
          <a:lstStyle/>
          <a:p>
            <a:pPr marL="0" indent="0">
              <a:buNone/>
            </a:pPr>
            <a:r>
              <a:rPr lang="en-US" sz="1800" b="1" dirty="0">
                <a:solidFill>
                  <a:srgbClr val="22D3EE"/>
                </a:solidFill>
                <a:latin typeface="Consolas" pitchFamily="34" charset="0"/>
                <a:ea typeface="Consolas" pitchFamily="34" charset="-122"/>
                <a:cs typeface="Consolas" pitchFamily="34" charset="-120"/>
              </a:rPr>
              <a:t>07</a:t>
            </a:r>
            <a:endParaRPr lang="en-US" sz="1800" dirty="0"/>
          </a:p>
        </p:txBody>
      </p:sp>
      <p:sp>
        <p:nvSpPr>
          <p:cNvPr id="32" name="Text 30"/>
          <p:cNvSpPr/>
          <p:nvPr/>
        </p:nvSpPr>
        <p:spPr>
          <a:xfrm>
            <a:off x="1143000" y="3246120"/>
            <a:ext cx="2468880" cy="54864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Testing Strategy</a:t>
            </a:r>
            <a:endParaRPr lang="en-US" sz="1200" dirty="0"/>
          </a:p>
        </p:txBody>
      </p:sp>
      <p:sp>
        <p:nvSpPr>
          <p:cNvPr id="33" name="Text 31"/>
          <p:cNvSpPr/>
          <p:nvPr/>
        </p:nvSpPr>
        <p:spPr>
          <a:xfrm>
            <a:off x="3566160" y="3246120"/>
            <a:ext cx="868680" cy="548640"/>
          </a:xfrm>
          <a:prstGeom prst="rect">
            <a:avLst/>
          </a:prstGeom>
          <a:noFill/>
          <a:ln/>
        </p:spPr>
        <p:txBody>
          <a:bodyPr wrap="square" lIns="0" tIns="0" rIns="0" bIns="0" rtlCol="0" anchor="ctr"/>
          <a:lstStyle/>
          <a:p>
            <a:pPr marL="0" indent="0" algn="r">
              <a:buNone/>
            </a:pPr>
            <a:r>
              <a:rPr lang="en-US" sz="1000" dirty="0">
                <a:solidFill>
                  <a:srgbClr val="A3E635"/>
                </a:solidFill>
                <a:latin typeface="Consolas" pitchFamily="34" charset="0"/>
                <a:ea typeface="Consolas" pitchFamily="34" charset="-122"/>
                <a:cs typeface="Consolas" pitchFamily="34" charset="-120"/>
              </a:rPr>
              <a:t>10 min</a:t>
            </a:r>
            <a:endParaRPr lang="en-US" sz="1000" dirty="0"/>
          </a:p>
        </p:txBody>
      </p:sp>
      <p:sp>
        <p:nvSpPr>
          <p:cNvPr id="34" name="Shape 32"/>
          <p:cNvSpPr/>
          <p:nvPr/>
        </p:nvSpPr>
        <p:spPr>
          <a:xfrm>
            <a:off x="4617720" y="3246120"/>
            <a:ext cx="4023360" cy="548640"/>
          </a:xfrm>
          <a:prstGeom prst="rect">
            <a:avLst/>
          </a:prstGeom>
          <a:solidFill>
            <a:srgbClr val="132238"/>
          </a:solidFill>
          <a:ln w="12700">
            <a:solidFill>
              <a:srgbClr val="1B2C47"/>
            </a:solidFill>
            <a:prstDash val="solid"/>
          </a:ln>
        </p:spPr>
      </p:sp>
      <p:sp>
        <p:nvSpPr>
          <p:cNvPr id="35" name="Text 33"/>
          <p:cNvSpPr/>
          <p:nvPr/>
        </p:nvSpPr>
        <p:spPr>
          <a:xfrm>
            <a:off x="4709160" y="3246120"/>
            <a:ext cx="548640" cy="548640"/>
          </a:xfrm>
          <a:prstGeom prst="rect">
            <a:avLst/>
          </a:prstGeom>
          <a:noFill/>
          <a:ln/>
        </p:spPr>
        <p:txBody>
          <a:bodyPr wrap="square" lIns="0" tIns="0" rIns="0" bIns="0" rtlCol="0" anchor="ctr"/>
          <a:lstStyle/>
          <a:p>
            <a:pPr marL="0" indent="0">
              <a:buNone/>
            </a:pPr>
            <a:r>
              <a:rPr lang="en-US" sz="1800" b="1" dirty="0">
                <a:solidFill>
                  <a:srgbClr val="22D3EE"/>
                </a:solidFill>
                <a:latin typeface="Consolas" pitchFamily="34" charset="0"/>
                <a:ea typeface="Consolas" pitchFamily="34" charset="-122"/>
                <a:cs typeface="Consolas" pitchFamily="34" charset="-120"/>
              </a:rPr>
              <a:t>08</a:t>
            </a:r>
            <a:endParaRPr lang="en-US" sz="1800" dirty="0"/>
          </a:p>
        </p:txBody>
      </p:sp>
      <p:sp>
        <p:nvSpPr>
          <p:cNvPr id="36" name="Text 34"/>
          <p:cNvSpPr/>
          <p:nvPr/>
        </p:nvSpPr>
        <p:spPr>
          <a:xfrm>
            <a:off x="5303520" y="3246120"/>
            <a:ext cx="2468880" cy="54864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Workshop: Mini App</a:t>
            </a:r>
            <a:endParaRPr lang="en-US" sz="1200" dirty="0"/>
          </a:p>
        </p:txBody>
      </p:sp>
      <p:sp>
        <p:nvSpPr>
          <p:cNvPr id="37" name="Text 35"/>
          <p:cNvSpPr/>
          <p:nvPr/>
        </p:nvSpPr>
        <p:spPr>
          <a:xfrm>
            <a:off x="7726680" y="3246120"/>
            <a:ext cx="868680" cy="548640"/>
          </a:xfrm>
          <a:prstGeom prst="rect">
            <a:avLst/>
          </a:prstGeom>
          <a:noFill/>
          <a:ln/>
        </p:spPr>
        <p:txBody>
          <a:bodyPr wrap="square" lIns="0" tIns="0" rIns="0" bIns="0" rtlCol="0" anchor="ctr"/>
          <a:lstStyle/>
          <a:p>
            <a:pPr marL="0" indent="0" algn="r">
              <a:buNone/>
            </a:pPr>
            <a:r>
              <a:rPr lang="en-US" sz="1000" dirty="0">
                <a:solidFill>
                  <a:srgbClr val="A3E635"/>
                </a:solidFill>
                <a:latin typeface="Consolas" pitchFamily="34" charset="0"/>
                <a:ea typeface="Consolas" pitchFamily="34" charset="-122"/>
                <a:cs typeface="Consolas" pitchFamily="34" charset="-120"/>
              </a:rPr>
              <a:t>20 min</a:t>
            </a:r>
            <a:endParaRPr lang="en-US" sz="1000" dirty="0"/>
          </a:p>
        </p:txBody>
      </p:sp>
      <p:sp>
        <p:nvSpPr>
          <p:cNvPr id="38" name="Shape 36"/>
          <p:cNvSpPr/>
          <p:nvPr/>
        </p:nvSpPr>
        <p:spPr>
          <a:xfrm>
            <a:off x="457200" y="3886200"/>
            <a:ext cx="4023360" cy="548640"/>
          </a:xfrm>
          <a:prstGeom prst="rect">
            <a:avLst/>
          </a:prstGeom>
          <a:solidFill>
            <a:srgbClr val="132238"/>
          </a:solidFill>
          <a:ln w="12700">
            <a:solidFill>
              <a:srgbClr val="1B2C47"/>
            </a:solidFill>
            <a:prstDash val="solid"/>
          </a:ln>
        </p:spPr>
      </p:sp>
      <p:sp>
        <p:nvSpPr>
          <p:cNvPr id="39" name="Text 37"/>
          <p:cNvSpPr/>
          <p:nvPr/>
        </p:nvSpPr>
        <p:spPr>
          <a:xfrm>
            <a:off x="548640" y="3886200"/>
            <a:ext cx="548640" cy="548640"/>
          </a:xfrm>
          <a:prstGeom prst="rect">
            <a:avLst/>
          </a:prstGeom>
          <a:noFill/>
          <a:ln/>
        </p:spPr>
        <p:txBody>
          <a:bodyPr wrap="square" lIns="0" tIns="0" rIns="0" bIns="0" rtlCol="0" anchor="ctr"/>
          <a:lstStyle/>
          <a:p>
            <a:pPr marL="0" indent="0">
              <a:buNone/>
            </a:pPr>
            <a:r>
              <a:rPr lang="en-US" sz="1800" b="1" dirty="0">
                <a:solidFill>
                  <a:srgbClr val="22D3EE"/>
                </a:solidFill>
                <a:latin typeface="Consolas" pitchFamily="34" charset="0"/>
                <a:ea typeface="Consolas" pitchFamily="34" charset="-122"/>
                <a:cs typeface="Consolas" pitchFamily="34" charset="-120"/>
              </a:rPr>
              <a:t>09</a:t>
            </a:r>
            <a:endParaRPr lang="en-US" sz="1800" dirty="0"/>
          </a:p>
        </p:txBody>
      </p:sp>
      <p:sp>
        <p:nvSpPr>
          <p:cNvPr id="40" name="Text 38"/>
          <p:cNvSpPr/>
          <p:nvPr/>
        </p:nvSpPr>
        <p:spPr>
          <a:xfrm>
            <a:off x="1143000" y="3886200"/>
            <a:ext cx="2468880" cy="54864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Production Checklist + Q&amp;A</a:t>
            </a:r>
            <a:endParaRPr lang="en-US" sz="1200" dirty="0"/>
          </a:p>
        </p:txBody>
      </p:sp>
      <p:sp>
        <p:nvSpPr>
          <p:cNvPr id="41" name="Text 39"/>
          <p:cNvSpPr/>
          <p:nvPr/>
        </p:nvSpPr>
        <p:spPr>
          <a:xfrm>
            <a:off x="3566160" y="3886200"/>
            <a:ext cx="868680" cy="548640"/>
          </a:xfrm>
          <a:prstGeom prst="rect">
            <a:avLst/>
          </a:prstGeom>
          <a:noFill/>
          <a:ln/>
        </p:spPr>
        <p:txBody>
          <a:bodyPr wrap="square" lIns="0" tIns="0" rIns="0" bIns="0" rtlCol="0" anchor="ctr"/>
          <a:lstStyle/>
          <a:p>
            <a:pPr marL="0" indent="0" algn="r">
              <a:buNone/>
            </a:pPr>
            <a:r>
              <a:rPr lang="en-US" sz="1000" dirty="0">
                <a:solidFill>
                  <a:srgbClr val="A3E635"/>
                </a:solidFill>
                <a:latin typeface="Consolas" pitchFamily="34" charset="0"/>
                <a:ea typeface="Consolas" pitchFamily="34" charset="-122"/>
                <a:cs typeface="Consolas" pitchFamily="34" charset="-120"/>
              </a:rPr>
              <a:t>5 min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03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Who is this for?</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Prerequisites &amp; เป้าหมายการเรียนรู้</a:t>
            </a:r>
            <a:endParaRPr lang="en-US" sz="1300" dirty="0"/>
          </a:p>
        </p:txBody>
      </p:sp>
      <p:sp>
        <p:nvSpPr>
          <p:cNvPr id="6" name="Text 4"/>
          <p:cNvSpPr/>
          <p:nvPr/>
        </p:nvSpPr>
        <p:spPr>
          <a:xfrm>
            <a:off x="457200" y="1325880"/>
            <a:ext cx="429768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React dev ระดับ junior – mid ที่เคยใช้ useState/useEffect/useContext</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เคยทำโปรเจกต์ React + Vite/Next.js อย่างน้อย 1 ตัว</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เข้าใจ JavaScript ES6+ (destructuring, arrow fn, async/await)</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ไม่จำเป็นต้องรู้ Redux มาก่อน — แต่ถ้ารู้จะเปรียบเทียบได้ดียิ่งขึ้น</a:t>
            </a:r>
            <a:endParaRPr lang="en-US" sz="1400" dirty="0"/>
          </a:p>
        </p:txBody>
      </p:sp>
      <p:sp>
        <p:nvSpPr>
          <p:cNvPr id="7" name="Shape 5"/>
          <p:cNvSpPr/>
          <p:nvPr/>
        </p:nvSpPr>
        <p:spPr>
          <a:xfrm>
            <a:off x="4937760" y="1325880"/>
            <a:ext cx="3840480" cy="3200400"/>
          </a:xfrm>
          <a:prstGeom prst="roundRect">
            <a:avLst>
              <a:gd name="adj" fmla="val 2857"/>
            </a:avLst>
          </a:prstGeom>
          <a:solidFill>
            <a:srgbClr val="132238"/>
          </a:solidFill>
          <a:ln w="12700">
            <a:solidFill>
              <a:srgbClr val="22D3EE"/>
            </a:solidFill>
            <a:prstDash val="solid"/>
          </a:ln>
        </p:spPr>
      </p:sp>
      <p:sp>
        <p:nvSpPr>
          <p:cNvPr id="8" name="Text 6"/>
          <p:cNvSpPr/>
          <p:nvPr/>
        </p:nvSpPr>
        <p:spPr>
          <a:xfrm>
            <a:off x="5074920" y="1417320"/>
            <a:ext cx="3566160" cy="365760"/>
          </a:xfrm>
          <a:prstGeom prst="rect">
            <a:avLst/>
          </a:prstGeom>
          <a:noFill/>
          <a:ln/>
        </p:spPr>
        <p:txBody>
          <a:bodyPr wrap="square" lIns="0" tIns="0" rIns="0" bIns="0" rtlCol="0" anchor="ctr"/>
          <a:lstStyle/>
          <a:p>
            <a:pPr marL="0" indent="0">
              <a:buNone/>
            </a:pPr>
            <a:r>
              <a:rPr lang="en-US" sz="1400" b="1" dirty="0">
                <a:solidFill>
                  <a:srgbClr val="A3E635"/>
                </a:solidFill>
                <a:latin typeface="Calibri" pitchFamily="34" charset="0"/>
                <a:ea typeface="Calibri" pitchFamily="34" charset="-122"/>
                <a:cs typeface="Calibri" pitchFamily="34" charset="-120"/>
              </a:rPr>
              <a:t>เมื่อจบคอร์สนี้คุณจะ…</a:t>
            </a:r>
            <a:endParaRPr lang="en-US" sz="1400" dirty="0"/>
          </a:p>
        </p:txBody>
      </p:sp>
      <p:sp>
        <p:nvSpPr>
          <p:cNvPr id="9" name="Text 7"/>
          <p:cNvSpPr/>
          <p:nvPr/>
        </p:nvSpPr>
        <p:spPr>
          <a:xfrm>
            <a:off x="5074920" y="1783080"/>
            <a:ext cx="3566160" cy="2697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สร้าง Zustand store ได้เองจากศูนย์</a:t>
            </a:r>
            <a:endParaRPr lang="en-US" sz="1200" dirty="0"/>
          </a:p>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ออกแบบ selector ลด re-render เป็น</a:t>
            </a:r>
            <a:endParaRPr lang="en-US" sz="1200" dirty="0"/>
          </a:p>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ใช้ persist + devtools + immer ได้คล่อง</a:t>
            </a:r>
            <a:endParaRPr lang="en-US" sz="1200" dirty="0"/>
          </a:p>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จัดการ SSR / hydration mismatch ได้</a:t>
            </a:r>
            <a:endParaRPr lang="en-US" sz="1200" dirty="0"/>
          </a:p>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เขียน unit test สำหรับ store ได้</a:t>
            </a:r>
            <a:endParaRPr lang="en-US" sz="1200" dirty="0"/>
          </a:p>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มี checklist ก่อนขึ้น production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1097280"/>
            <a:ext cx="3200400" cy="2743200"/>
          </a:xfrm>
          <a:prstGeom prst="rect">
            <a:avLst/>
          </a:prstGeom>
          <a:noFill/>
          <a:ln/>
        </p:spPr>
        <p:txBody>
          <a:bodyPr wrap="square" lIns="0" tIns="0" rIns="0" bIns="0" rtlCol="0" anchor="ctr"/>
          <a:lstStyle/>
          <a:p>
            <a:pPr marL="0" indent="0" algn="l">
              <a:buNone/>
            </a:pPr>
            <a:r>
              <a:rPr lang="en-US" sz="18000" b="1" dirty="0">
                <a:solidFill>
                  <a:srgbClr val="1B2C47"/>
                </a:solidFill>
                <a:latin typeface="Calibri" pitchFamily="34" charset="0"/>
                <a:ea typeface="Calibri" pitchFamily="34" charset="-122"/>
                <a:cs typeface="Calibri" pitchFamily="34" charset="-120"/>
              </a:rPr>
              <a:t>01</a:t>
            </a:r>
            <a:endParaRPr lang="en-US" sz="18000" dirty="0"/>
          </a:p>
        </p:txBody>
      </p:sp>
      <p:sp>
        <p:nvSpPr>
          <p:cNvPr id="3" name="Text 1"/>
          <p:cNvSpPr/>
          <p:nvPr/>
        </p:nvSpPr>
        <p:spPr>
          <a:xfrm>
            <a:off x="3657600" y="1828800"/>
            <a:ext cx="5120640" cy="822960"/>
          </a:xfrm>
          <a:prstGeom prst="rect">
            <a:avLst/>
          </a:prstGeom>
          <a:noFill/>
          <a:ln/>
        </p:spPr>
        <p:txBody>
          <a:bodyPr wrap="square" lIns="0" tIns="0" rIns="0" bIns="0" rtlCol="0" anchor="ctr"/>
          <a:lstStyle/>
          <a:p>
            <a:pPr marL="0" indent="0">
              <a:buNone/>
            </a:pPr>
            <a:r>
              <a:rPr lang="en-US" sz="3600" b="1" dirty="0">
                <a:solidFill>
                  <a:srgbClr val="E2E8F0"/>
                </a:solidFill>
                <a:latin typeface="Calibri" pitchFamily="34" charset="0"/>
                <a:ea typeface="Calibri" pitchFamily="34" charset="-122"/>
                <a:cs typeface="Calibri" pitchFamily="34" charset="-120"/>
              </a:rPr>
              <a:t>Intro</a:t>
            </a:r>
            <a:endParaRPr lang="en-US" sz="3600" dirty="0"/>
          </a:p>
        </p:txBody>
      </p:sp>
      <p:sp>
        <p:nvSpPr>
          <p:cNvPr id="4" name="Text 2"/>
          <p:cNvSpPr/>
          <p:nvPr/>
        </p:nvSpPr>
        <p:spPr>
          <a:xfrm>
            <a:off x="3657600" y="2606040"/>
            <a:ext cx="5120640" cy="548640"/>
          </a:xfrm>
          <a:prstGeom prst="rect">
            <a:avLst/>
          </a:prstGeom>
          <a:noFill/>
          <a:ln/>
        </p:spPr>
        <p:txBody>
          <a:bodyPr wrap="square" lIns="0" tIns="0" rIns="0" bIns="0" rtlCol="0" anchor="ctr"/>
          <a:lstStyle/>
          <a:p>
            <a:pPr marL="0" indent="0">
              <a:buNone/>
            </a:pPr>
            <a:r>
              <a:rPr lang="en-US" sz="1600" dirty="0">
                <a:solidFill>
                  <a:srgbClr val="22D3EE"/>
                </a:solidFill>
                <a:latin typeface="Consolas" pitchFamily="34" charset="0"/>
                <a:ea typeface="Consolas" pitchFamily="34" charset="-122"/>
                <a:cs typeface="Consolas" pitchFamily="34" charset="-120"/>
              </a:rPr>
              <a:t>Zustand คืออะไร และทำไมต้องใช้</a:t>
            </a:r>
            <a:endParaRPr lang="en-US" sz="1600" dirty="0"/>
          </a:p>
        </p:txBody>
      </p:sp>
      <p:sp>
        <p:nvSpPr>
          <p:cNvPr id="5" name="Shape 3"/>
          <p:cNvSpPr/>
          <p:nvPr/>
        </p:nvSpPr>
        <p:spPr>
          <a:xfrm>
            <a:off x="3657600" y="3200400"/>
            <a:ext cx="548640" cy="73152"/>
          </a:xfrm>
          <a:prstGeom prst="rect">
            <a:avLst/>
          </a:prstGeom>
          <a:solidFill>
            <a:srgbClr val="A3E635"/>
          </a:solidFill>
          <a:ln/>
        </p:spPr>
      </p:sp>
      <p:sp>
        <p:nvSpPr>
          <p:cNvPr id="6" name="Text 4"/>
          <p:cNvSpPr/>
          <p:nvPr/>
        </p:nvSpPr>
        <p:spPr>
          <a:xfrm>
            <a:off x="365760" y="4846320"/>
            <a:ext cx="54864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05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Zustand คืออะไร?</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A small, fast, scalable state-management for React</a:t>
            </a:r>
            <a:endParaRPr lang="en-US" sz="1300" dirty="0"/>
          </a:p>
        </p:txBody>
      </p:sp>
      <p:sp>
        <p:nvSpPr>
          <p:cNvPr id="6" name="Text 4"/>
          <p:cNvSpPr/>
          <p:nvPr/>
        </p:nvSpPr>
        <p:spPr>
          <a:xfrm>
            <a:off x="457200" y="1325880"/>
            <a:ext cx="429768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State management library ขนาดเล็ก (~1 KB gzipped)</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Hooks-first: ใช้ store เหมือน custom hook</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ไม่ต้อง wrap ด้วย &lt;Provider&gt; — store อยู่ใน module scope</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API กระชับ: create, set, get, subscribe เท่านั้น</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Performance ดีด้วย selector + shallow equality</a:t>
            </a:r>
            <a:endParaRPr lang="en-US" sz="1400" dirty="0"/>
          </a:p>
        </p:txBody>
      </p:sp>
      <p:sp>
        <p:nvSpPr>
          <p:cNvPr id="7" name="Shape 5"/>
          <p:cNvSpPr/>
          <p:nvPr/>
        </p:nvSpPr>
        <p:spPr>
          <a:xfrm>
            <a:off x="4937760" y="1371600"/>
            <a:ext cx="1280160" cy="640080"/>
          </a:xfrm>
          <a:prstGeom prst="roundRect">
            <a:avLst>
              <a:gd name="adj" fmla="val 11429"/>
            </a:avLst>
          </a:prstGeom>
          <a:solidFill>
            <a:srgbClr val="1B2C47"/>
          </a:solidFill>
          <a:ln w="19050">
            <a:solidFill>
              <a:srgbClr val="22D3EE"/>
            </a:solidFill>
            <a:prstDash val="solid"/>
          </a:ln>
        </p:spPr>
      </p:sp>
      <p:sp>
        <p:nvSpPr>
          <p:cNvPr id="8" name="Text 6"/>
          <p:cNvSpPr/>
          <p:nvPr/>
        </p:nvSpPr>
        <p:spPr>
          <a:xfrm>
            <a:off x="4937760" y="1371600"/>
            <a:ext cx="1280160" cy="640080"/>
          </a:xfrm>
          <a:prstGeom prst="rect">
            <a:avLst/>
          </a:prstGeom>
          <a:noFill/>
          <a:ln/>
        </p:spPr>
        <p:txBody>
          <a:bodyPr wrap="square" lIns="0" tIns="0" rIns="0" bIns="0" rtlCol="0" anchor="ctr"/>
          <a:lstStyle/>
          <a:p>
            <a:pPr marL="0" indent="0" algn="ctr">
              <a:buNone/>
            </a:pPr>
            <a:r>
              <a:rPr lang="en-US" sz="1200" b="1" dirty="0">
                <a:solidFill>
                  <a:srgbClr val="E2E8F0"/>
                </a:solidFill>
                <a:latin typeface="Calibri" pitchFamily="34" charset="0"/>
                <a:ea typeface="Calibri" pitchFamily="34" charset="-122"/>
                <a:cs typeface="Calibri" pitchFamily="34" charset="-120"/>
              </a:rPr>
              <a:t>create()</a:t>
            </a:r>
            <a:endParaRPr lang="en-US" sz="1200" dirty="0"/>
          </a:p>
        </p:txBody>
      </p:sp>
      <p:sp>
        <p:nvSpPr>
          <p:cNvPr id="9" name="Shape 7"/>
          <p:cNvSpPr/>
          <p:nvPr/>
        </p:nvSpPr>
        <p:spPr>
          <a:xfrm>
            <a:off x="6400800" y="1371600"/>
            <a:ext cx="1280160" cy="640080"/>
          </a:xfrm>
          <a:prstGeom prst="roundRect">
            <a:avLst>
              <a:gd name="adj" fmla="val 11429"/>
            </a:avLst>
          </a:prstGeom>
          <a:solidFill>
            <a:srgbClr val="1B2C47"/>
          </a:solidFill>
          <a:ln w="19050">
            <a:solidFill>
              <a:srgbClr val="22D3EE"/>
            </a:solidFill>
            <a:prstDash val="solid"/>
          </a:ln>
        </p:spPr>
      </p:sp>
      <p:sp>
        <p:nvSpPr>
          <p:cNvPr id="10" name="Text 8"/>
          <p:cNvSpPr/>
          <p:nvPr/>
        </p:nvSpPr>
        <p:spPr>
          <a:xfrm>
            <a:off x="6400800" y="1371600"/>
            <a:ext cx="1280160" cy="640080"/>
          </a:xfrm>
          <a:prstGeom prst="rect">
            <a:avLst/>
          </a:prstGeom>
          <a:noFill/>
          <a:ln/>
        </p:spPr>
        <p:txBody>
          <a:bodyPr wrap="square" lIns="0" tIns="0" rIns="0" bIns="0" rtlCol="0" anchor="ctr"/>
          <a:lstStyle/>
          <a:p>
            <a:pPr marL="0" indent="0" algn="ctr">
              <a:buNone/>
            </a:pPr>
            <a:r>
              <a:rPr lang="en-US" sz="1200" b="1" dirty="0">
                <a:solidFill>
                  <a:srgbClr val="E2E8F0"/>
                </a:solidFill>
                <a:latin typeface="Calibri" pitchFamily="34" charset="0"/>
                <a:ea typeface="Calibri" pitchFamily="34" charset="-122"/>
                <a:cs typeface="Calibri" pitchFamily="34" charset="-120"/>
              </a:rPr>
              <a:t>store hook</a:t>
            </a:r>
            <a:endParaRPr lang="en-US" sz="1200" dirty="0"/>
          </a:p>
        </p:txBody>
      </p:sp>
      <p:sp>
        <p:nvSpPr>
          <p:cNvPr id="11" name="Shape 9"/>
          <p:cNvSpPr/>
          <p:nvPr/>
        </p:nvSpPr>
        <p:spPr>
          <a:xfrm>
            <a:off x="7863840" y="1371600"/>
            <a:ext cx="914400" cy="640080"/>
          </a:xfrm>
          <a:prstGeom prst="roundRect">
            <a:avLst>
              <a:gd name="adj" fmla="val 11429"/>
            </a:avLst>
          </a:prstGeom>
          <a:solidFill>
            <a:srgbClr val="1B2C47"/>
          </a:solidFill>
          <a:ln w="19050">
            <a:solidFill>
              <a:srgbClr val="A3E635"/>
            </a:solidFill>
            <a:prstDash val="solid"/>
          </a:ln>
        </p:spPr>
      </p:sp>
      <p:sp>
        <p:nvSpPr>
          <p:cNvPr id="12" name="Text 10"/>
          <p:cNvSpPr/>
          <p:nvPr/>
        </p:nvSpPr>
        <p:spPr>
          <a:xfrm>
            <a:off x="7863840" y="1371600"/>
            <a:ext cx="914400" cy="640080"/>
          </a:xfrm>
          <a:prstGeom prst="rect">
            <a:avLst/>
          </a:prstGeom>
          <a:noFill/>
          <a:ln/>
        </p:spPr>
        <p:txBody>
          <a:bodyPr wrap="square" lIns="0" tIns="0" rIns="0" bIns="0" rtlCol="0" anchor="ctr"/>
          <a:lstStyle/>
          <a:p>
            <a:pPr marL="0" indent="0" algn="ctr">
              <a:buNone/>
            </a:pPr>
            <a:r>
              <a:rPr lang="en-US" sz="1200" b="1" dirty="0">
                <a:solidFill>
                  <a:srgbClr val="E2E8F0"/>
                </a:solidFill>
                <a:latin typeface="Calibri" pitchFamily="34" charset="0"/>
                <a:ea typeface="Calibri" pitchFamily="34" charset="-122"/>
                <a:cs typeface="Calibri" pitchFamily="34" charset="-120"/>
              </a:rPr>
              <a:t>Component</a:t>
            </a:r>
            <a:endParaRPr lang="en-US" sz="1200" dirty="0"/>
          </a:p>
        </p:txBody>
      </p:sp>
      <p:sp>
        <p:nvSpPr>
          <p:cNvPr id="13" name="Shape 11"/>
          <p:cNvSpPr/>
          <p:nvPr/>
        </p:nvSpPr>
        <p:spPr>
          <a:xfrm>
            <a:off x="6217920" y="1691640"/>
            <a:ext cx="182880" cy="0"/>
          </a:xfrm>
          <a:prstGeom prst="line">
            <a:avLst/>
          </a:prstGeom>
          <a:noFill/>
          <a:ln w="25400">
            <a:solidFill>
              <a:srgbClr val="22D3EE"/>
            </a:solidFill>
            <a:prstDash val="solid"/>
            <a:tailEnd type="triangle"/>
          </a:ln>
        </p:spPr>
      </p:sp>
      <p:sp>
        <p:nvSpPr>
          <p:cNvPr id="14" name="Shape 12"/>
          <p:cNvSpPr/>
          <p:nvPr/>
        </p:nvSpPr>
        <p:spPr>
          <a:xfrm>
            <a:off x="7680960" y="1691640"/>
            <a:ext cx="182880" cy="0"/>
          </a:xfrm>
          <a:prstGeom prst="line">
            <a:avLst/>
          </a:prstGeom>
          <a:noFill/>
          <a:ln w="25400">
            <a:solidFill>
              <a:srgbClr val="22D3EE"/>
            </a:solidFill>
            <a:prstDash val="solid"/>
            <a:tailEnd type="triangle"/>
          </a:ln>
        </p:spPr>
      </p:sp>
      <p:sp>
        <p:nvSpPr>
          <p:cNvPr id="15" name="Shape 13"/>
          <p:cNvSpPr/>
          <p:nvPr/>
        </p:nvSpPr>
        <p:spPr>
          <a:xfrm>
            <a:off x="4937760" y="2286000"/>
            <a:ext cx="3840480" cy="640080"/>
          </a:xfrm>
          <a:prstGeom prst="roundRect">
            <a:avLst>
              <a:gd name="adj" fmla="val 11429"/>
            </a:avLst>
          </a:prstGeom>
          <a:solidFill>
            <a:srgbClr val="1B2C47"/>
          </a:solidFill>
          <a:ln w="19050">
            <a:solidFill>
              <a:srgbClr val="A3E635"/>
            </a:solidFill>
            <a:prstDash val="solid"/>
          </a:ln>
        </p:spPr>
      </p:sp>
      <p:sp>
        <p:nvSpPr>
          <p:cNvPr id="16" name="Text 14"/>
          <p:cNvSpPr/>
          <p:nvPr/>
        </p:nvSpPr>
        <p:spPr>
          <a:xfrm>
            <a:off x="4937760" y="2286000"/>
            <a:ext cx="3840480" cy="640080"/>
          </a:xfrm>
          <a:prstGeom prst="rect">
            <a:avLst/>
          </a:prstGeom>
          <a:noFill/>
          <a:ln/>
        </p:spPr>
        <p:txBody>
          <a:bodyPr wrap="square" lIns="0" tIns="0" rIns="0" bIns="0" rtlCol="0" anchor="ctr"/>
          <a:lstStyle/>
          <a:p>
            <a:pPr marL="0" indent="0" algn="ctr">
              <a:buNone/>
            </a:pPr>
            <a:r>
              <a:rPr lang="en-US" sz="1200" b="1" dirty="0">
                <a:solidFill>
                  <a:srgbClr val="E2E8F0"/>
                </a:solidFill>
                <a:latin typeface="Calibri" pitchFamily="34" charset="0"/>
                <a:ea typeface="Calibri" pitchFamily="34" charset="-122"/>
                <a:cs typeface="Calibri" pitchFamily="34" charset="-120"/>
              </a:rPr>
              <a:t>state + actions</a:t>
            </a:r>
            <a:endParaRPr lang="en-US" sz="1200" dirty="0"/>
          </a:p>
        </p:txBody>
      </p:sp>
      <p:sp>
        <p:nvSpPr>
          <p:cNvPr id="17" name="Shape 15"/>
          <p:cNvSpPr/>
          <p:nvPr/>
        </p:nvSpPr>
        <p:spPr>
          <a:xfrm>
            <a:off x="4937760" y="3108960"/>
            <a:ext cx="3840480" cy="640080"/>
          </a:xfrm>
          <a:prstGeom prst="roundRect">
            <a:avLst>
              <a:gd name="adj" fmla="val 11429"/>
            </a:avLst>
          </a:prstGeom>
          <a:solidFill>
            <a:srgbClr val="1B2C47"/>
          </a:solidFill>
          <a:ln w="19050">
            <a:solidFill>
              <a:srgbClr val="22D3EE"/>
            </a:solidFill>
            <a:prstDash val="solid"/>
          </a:ln>
        </p:spPr>
      </p:sp>
      <p:sp>
        <p:nvSpPr>
          <p:cNvPr id="18" name="Text 16"/>
          <p:cNvSpPr/>
          <p:nvPr/>
        </p:nvSpPr>
        <p:spPr>
          <a:xfrm>
            <a:off x="4937760" y="3108960"/>
            <a:ext cx="3840480" cy="640080"/>
          </a:xfrm>
          <a:prstGeom prst="rect">
            <a:avLst/>
          </a:prstGeom>
          <a:noFill/>
          <a:ln/>
        </p:spPr>
        <p:txBody>
          <a:bodyPr wrap="square" lIns="0" tIns="0" rIns="0" bIns="0" rtlCol="0" anchor="ctr"/>
          <a:lstStyle/>
          <a:p>
            <a:pPr marL="0" indent="0" algn="ctr">
              <a:buNone/>
            </a:pPr>
            <a:r>
              <a:rPr lang="en-US" sz="1200" b="1" dirty="0">
                <a:solidFill>
                  <a:srgbClr val="E2E8F0"/>
                </a:solidFill>
                <a:latin typeface="Calibri" pitchFamily="34" charset="0"/>
                <a:ea typeface="Calibri" pitchFamily="34" charset="-122"/>
                <a:cs typeface="Calibri" pitchFamily="34" charset="-120"/>
              </a:rPr>
              <a:t>useStore(s =&gt; s.count)</a:t>
            </a:r>
            <a:endParaRPr lang="en-US" sz="1200" dirty="0"/>
          </a:p>
        </p:txBody>
      </p:sp>
      <p:sp>
        <p:nvSpPr>
          <p:cNvPr id="19" name="Text 17"/>
          <p:cNvSpPr/>
          <p:nvPr/>
        </p:nvSpPr>
        <p:spPr>
          <a:xfrm>
            <a:off x="4937760" y="3794760"/>
            <a:ext cx="3840480" cy="274320"/>
          </a:xfrm>
          <a:prstGeom prst="rect">
            <a:avLst/>
          </a:prstGeom>
          <a:noFill/>
          <a:ln/>
        </p:spPr>
        <p:txBody>
          <a:bodyPr wrap="square" lIns="0" tIns="0" rIns="0" bIns="0" rtlCol="0" anchor="ctr"/>
          <a:lstStyle/>
          <a:p>
            <a:pPr marL="0" indent="0">
              <a:buNone/>
            </a:pPr>
            <a:r>
              <a:rPr lang="en-US" sz="1100" i="1" dirty="0">
                <a:solidFill>
                  <a:srgbClr val="94A3B8"/>
                </a:solidFill>
                <a:latin typeface="Consolas" pitchFamily="34" charset="0"/>
                <a:ea typeface="Consolas" pitchFamily="34" charset="-122"/>
                <a:cs typeface="Consolas" pitchFamily="34" charset="-120"/>
              </a:rPr>
              <a:t>→ subscribe เฉพาะ slice ที่เลือก</a:t>
            </a:r>
            <a:endParaRPr lang="en-US" sz="1100" dirty="0"/>
          </a:p>
        </p:txBody>
      </p:sp>
      <p:sp>
        <p:nvSpPr>
          <p:cNvPr id="20" name="Shape 18"/>
          <p:cNvSpPr/>
          <p:nvPr/>
        </p:nvSpPr>
        <p:spPr>
          <a:xfrm>
            <a:off x="457200" y="4023360"/>
            <a:ext cx="8229600" cy="777240"/>
          </a:xfrm>
          <a:prstGeom prst="rect">
            <a:avLst/>
          </a:prstGeom>
          <a:solidFill>
            <a:srgbClr val="132238"/>
          </a:solidFill>
          <a:ln w="12700">
            <a:solidFill>
              <a:srgbClr val="F472B6"/>
            </a:solidFill>
            <a:prstDash val="solid"/>
          </a:ln>
        </p:spPr>
      </p:sp>
      <p:sp>
        <p:nvSpPr>
          <p:cNvPr id="21" name="Text 19"/>
          <p:cNvSpPr/>
          <p:nvPr/>
        </p:nvSpPr>
        <p:spPr>
          <a:xfrm>
            <a:off x="594360" y="4069080"/>
            <a:ext cx="7955280" cy="228600"/>
          </a:xfrm>
          <a:prstGeom prst="rect">
            <a:avLst/>
          </a:prstGeom>
          <a:noFill/>
          <a:ln/>
        </p:spPr>
        <p:txBody>
          <a:bodyPr wrap="square" lIns="0" tIns="0" rIns="0" bIns="0" rtlCol="0" anchor="ctr"/>
          <a:lstStyle/>
          <a:p>
            <a:pPr marL="0" indent="0">
              <a:buNone/>
            </a:pPr>
            <a:r>
              <a:rPr lang="en-US" sz="1100" b="1" dirty="0">
                <a:solidFill>
                  <a:srgbClr val="F472B6"/>
                </a:solidFill>
                <a:latin typeface="Calibri" pitchFamily="34" charset="0"/>
                <a:ea typeface="Calibri" pitchFamily="34" charset="-122"/>
                <a:cs typeface="Calibri" pitchFamily="34" charset="-120"/>
              </a:rPr>
              <a:t>⚠ Pitfalls / ข้อควรระวัง</a:t>
            </a:r>
            <a:endParaRPr lang="en-US" sz="1100" dirty="0"/>
          </a:p>
        </p:txBody>
      </p:sp>
      <p:sp>
        <p:nvSpPr>
          <p:cNvPr id="22" name="Text 20"/>
          <p:cNvSpPr/>
          <p:nvPr/>
        </p:nvSpPr>
        <p:spPr>
          <a:xfrm>
            <a:off x="594360" y="4297680"/>
            <a:ext cx="7955280" cy="457200"/>
          </a:xfrm>
          <a:prstGeom prst="rect">
            <a:avLst/>
          </a:prstGeom>
          <a:noFill/>
          <a:ln/>
        </p:spPr>
        <p:txBody>
          <a:bodyPr wrap="square" lIns="0" tIns="0" rIns="0" bIns="0" rtlCol="0" anchor="ctr"/>
          <a:lstStyle/>
          <a:p>
            <a:pPr marL="342900" indent="-342900">
              <a:buSzPct val="100000"/>
              <a:buChar char="•"/>
            </a:pPr>
            <a:r>
              <a:rPr lang="en-US" sz="1000" dirty="0">
                <a:solidFill>
                  <a:srgbClr val="E2E8F0"/>
                </a:solidFill>
                <a:latin typeface="Calibri" pitchFamily="34" charset="0"/>
                <a:ea typeface="Calibri" pitchFamily="34" charset="-122"/>
                <a:cs typeface="Calibri" pitchFamily="34" charset="-120"/>
              </a:rPr>
              <a:t>Zustand ไม่ใช่ของวิเศษ — ใช้ผิดวิธี (เช่น select object ทั้งก้อน) ก็ทำให้ re-render เยอะได้</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06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ทำไมต้อง Zustand?</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เปรียบเทียบกับ Context / Redux Toolkit</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2926080"/>
        </p:xfrm>
        <a:graphic>
          <a:graphicData uri="http://schemas.openxmlformats.org/drawingml/2006/table">
            <a:tbl>
              <a:tblPr/>
              <a:tblGrid>
                <a:gridCol w="21031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65760">
                <a:tc>
                  <a:txBody>
                    <a:bodyPr/>
                    <a:lstStyle/>
                    <a:p>
                      <a:pPr marL="0" indent="0" algn="ctr">
                        <a:buNone/>
                      </a:pPr>
                      <a:r>
                        <a:rPr lang="en-US" sz="1200" b="1" dirty="0">
                          <a:solidFill>
                            <a:srgbClr val="0A1628"/>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22D3EE"/>
                    </a:solidFill>
                  </a:tcPr>
                </a:tc>
                <a:tc>
                  <a:txBody>
                    <a:bodyPr/>
                    <a:lstStyle/>
                    <a:p>
                      <a:pPr marL="0" indent="0" algn="ctr">
                        <a:buNone/>
                      </a:pPr>
                      <a:r>
                        <a:rPr lang="en-US" sz="1200" b="1" dirty="0">
                          <a:solidFill>
                            <a:srgbClr val="0A1628"/>
                          </a:solidFill>
                          <a:latin typeface="Calibri" pitchFamily="34" charset="0"/>
                          <a:ea typeface="Calibri" pitchFamily="34" charset="-122"/>
                          <a:cs typeface="Calibri" pitchFamily="34" charset="-120"/>
                        </a:rPr>
                        <a:t>Context</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22D3EE"/>
                    </a:solidFill>
                  </a:tcPr>
                </a:tc>
                <a:tc>
                  <a:txBody>
                    <a:bodyPr/>
                    <a:lstStyle/>
                    <a:p>
                      <a:pPr marL="0" indent="0" algn="ctr">
                        <a:buNone/>
                      </a:pPr>
                      <a:r>
                        <a:rPr lang="en-US" sz="1200" b="1" dirty="0">
                          <a:solidFill>
                            <a:srgbClr val="0A1628"/>
                          </a:solidFill>
                          <a:latin typeface="Calibri" pitchFamily="34" charset="0"/>
                          <a:ea typeface="Calibri" pitchFamily="34" charset="-122"/>
                          <a:cs typeface="Calibri" pitchFamily="34" charset="-120"/>
                        </a:rPr>
                        <a:t>Redux TK</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22D3EE"/>
                    </a:solidFill>
                  </a:tcPr>
                </a:tc>
                <a:tc>
                  <a:txBody>
                    <a:bodyPr/>
                    <a:lstStyle/>
                    <a:p>
                      <a:pPr marL="0" indent="0" algn="ctr">
                        <a:buNone/>
                      </a:pPr>
                      <a:r>
                        <a:rPr lang="en-US" sz="1200" b="1" dirty="0">
                          <a:solidFill>
                            <a:srgbClr val="0A1628"/>
                          </a:solidFill>
                          <a:latin typeface="Calibri" pitchFamily="34" charset="0"/>
                          <a:ea typeface="Calibri" pitchFamily="34" charset="-122"/>
                          <a:cs typeface="Calibri" pitchFamily="34" charset="-120"/>
                        </a:rPr>
                        <a:t>Zustand</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365760">
                <a:tc>
                  <a:txBody>
                    <a:bodyPr/>
                    <a:lstStyle/>
                    <a:p>
                      <a:pPr marL="0" indent="0" algn="l">
                        <a:buNone/>
                      </a:pPr>
                      <a:r>
                        <a:rPr lang="en-US" sz="1200" dirty="0">
                          <a:solidFill>
                            <a:srgbClr val="E2E8F0"/>
                          </a:solidFill>
                          <a:latin typeface="Calibri" pitchFamily="34" charset="0"/>
                          <a:ea typeface="Calibri" pitchFamily="34" charset="-122"/>
                          <a:cs typeface="Calibri" pitchFamily="34" charset="-120"/>
                        </a:rPr>
                        <a:t>Boilerplate</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tc>
                  <a:txBody>
                    <a:bodyPr/>
                    <a:lstStyle/>
                    <a:p>
                      <a:pPr marL="0" indent="0" algn="ctr">
                        <a:buNone/>
                      </a:pPr>
                      <a:r>
                        <a:rPr lang="en-US" sz="1200" dirty="0">
                          <a:solidFill>
                            <a:srgbClr val="E2E8F0"/>
                          </a:solidFill>
                          <a:latin typeface="Calibri" pitchFamily="34" charset="0"/>
                          <a:ea typeface="Calibri" pitchFamily="34" charset="-122"/>
                          <a:cs typeface="Calibri" pitchFamily="34" charset="-120"/>
                        </a:rPr>
                        <a:t>น้อย</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tc>
                  <a:txBody>
                    <a:bodyPr/>
                    <a:lstStyle/>
                    <a:p>
                      <a:pPr marL="0" indent="0" algn="ctr">
                        <a:buNone/>
                      </a:pPr>
                      <a:r>
                        <a:rPr lang="en-US" sz="1200" dirty="0">
                          <a:solidFill>
                            <a:srgbClr val="E2E8F0"/>
                          </a:solidFill>
                          <a:latin typeface="Calibri" pitchFamily="34" charset="0"/>
                          <a:ea typeface="Calibri" pitchFamily="34" charset="-122"/>
                          <a:cs typeface="Calibri" pitchFamily="34" charset="-120"/>
                        </a:rPr>
                        <a:t>กลาง</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tc>
                  <a:txBody>
                    <a:bodyPr/>
                    <a:lstStyle/>
                    <a:p>
                      <a:pPr marL="0" indent="0" algn="ctr">
                        <a:buNone/>
                      </a:pPr>
                      <a:r>
                        <a:rPr lang="en-US" sz="1200" b="1" dirty="0">
                          <a:solidFill>
                            <a:srgbClr val="A3E635"/>
                          </a:solidFill>
                          <a:latin typeface="Calibri" pitchFamily="34" charset="0"/>
                          <a:ea typeface="Calibri" pitchFamily="34" charset="-122"/>
                          <a:cs typeface="Calibri" pitchFamily="34" charset="-120"/>
                        </a:rPr>
                        <a:t>น้อยที่สุด</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extLst>
                  <a:ext uri="{0D108BD9-81ED-4DB2-BD59-A6C34878D82A}">
                    <a16:rowId xmlns:a16="http://schemas.microsoft.com/office/drawing/2014/main" val="10001"/>
                  </a:ext>
                </a:extLst>
              </a:tr>
              <a:tr h="365760">
                <a:tc>
                  <a:txBody>
                    <a:bodyPr/>
                    <a:lstStyle/>
                    <a:p>
                      <a:pPr marL="0" indent="0" algn="l">
                        <a:buNone/>
                      </a:pPr>
                      <a:r>
                        <a:rPr lang="en-US" sz="1200" dirty="0">
                          <a:solidFill>
                            <a:srgbClr val="E2E8F0"/>
                          </a:solidFill>
                          <a:latin typeface="Calibri" pitchFamily="34" charset="0"/>
                          <a:ea typeface="Calibri" pitchFamily="34" charset="-122"/>
                          <a:cs typeface="Calibri" pitchFamily="34" charset="-120"/>
                        </a:rPr>
                        <a:t>Provider</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tc>
                  <a:txBody>
                    <a:bodyPr/>
                    <a:lstStyle/>
                    <a:p>
                      <a:pPr marL="0" indent="0" algn="ctr">
                        <a:buNone/>
                      </a:pPr>
                      <a:r>
                        <a:rPr lang="en-US" sz="1200" dirty="0">
                          <a:solidFill>
                            <a:srgbClr val="E2E8F0"/>
                          </a:solidFill>
                          <a:latin typeface="Calibri" pitchFamily="34" charset="0"/>
                          <a:ea typeface="Calibri" pitchFamily="34" charset="-122"/>
                          <a:cs typeface="Calibri" pitchFamily="34" charset="-120"/>
                        </a:rPr>
                        <a:t>ต้อง</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tc>
                  <a:txBody>
                    <a:bodyPr/>
                    <a:lstStyle/>
                    <a:p>
                      <a:pPr marL="0" indent="0" algn="ctr">
                        <a:buNone/>
                      </a:pPr>
                      <a:r>
                        <a:rPr lang="en-US" sz="1200" dirty="0">
                          <a:solidFill>
                            <a:srgbClr val="E2E8F0"/>
                          </a:solidFill>
                          <a:latin typeface="Calibri" pitchFamily="34" charset="0"/>
                          <a:ea typeface="Calibri" pitchFamily="34" charset="-122"/>
                          <a:cs typeface="Calibri" pitchFamily="34" charset="-120"/>
                        </a:rPr>
                        <a:t>ต้อง</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tc>
                  <a:txBody>
                    <a:bodyPr/>
                    <a:lstStyle/>
                    <a:p>
                      <a:pPr marL="0" indent="0" algn="ctr">
                        <a:buNone/>
                      </a:pPr>
                      <a:r>
                        <a:rPr lang="en-US" sz="1200" b="1" dirty="0">
                          <a:solidFill>
                            <a:srgbClr val="A3E635"/>
                          </a:solidFill>
                          <a:latin typeface="Calibri" pitchFamily="34" charset="0"/>
                          <a:ea typeface="Calibri" pitchFamily="34" charset="-122"/>
                          <a:cs typeface="Calibri" pitchFamily="34" charset="-120"/>
                        </a:rPr>
                        <a:t>ไม่ต้อง</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extLst>
                  <a:ext uri="{0D108BD9-81ED-4DB2-BD59-A6C34878D82A}">
                    <a16:rowId xmlns:a16="http://schemas.microsoft.com/office/drawing/2014/main" val="10002"/>
                  </a:ext>
                </a:extLst>
              </a:tr>
              <a:tr h="365760">
                <a:tc>
                  <a:txBody>
                    <a:bodyPr/>
                    <a:lstStyle/>
                    <a:p>
                      <a:pPr marL="0" indent="0" algn="l">
                        <a:buNone/>
                      </a:pPr>
                      <a:r>
                        <a:rPr lang="en-US" sz="1200" dirty="0">
                          <a:solidFill>
                            <a:srgbClr val="E2E8F0"/>
                          </a:solidFill>
                          <a:latin typeface="Calibri" pitchFamily="34" charset="0"/>
                          <a:ea typeface="Calibri" pitchFamily="34" charset="-122"/>
                          <a:cs typeface="Calibri" pitchFamily="34" charset="-120"/>
                        </a:rPr>
                        <a:t>Selector / Re-render</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tc>
                  <a:txBody>
                    <a:bodyPr/>
                    <a:lstStyle/>
                    <a:p>
                      <a:pPr marL="0" indent="0" algn="ctr">
                        <a:buNone/>
                      </a:pPr>
                      <a:r>
                        <a:rPr lang="en-US" sz="1200" dirty="0">
                          <a:solidFill>
                            <a:srgbClr val="E2E8F0"/>
                          </a:solidFill>
                          <a:latin typeface="Calibri" pitchFamily="34" charset="0"/>
                          <a:ea typeface="Calibri" pitchFamily="34" charset="-122"/>
                          <a:cs typeface="Calibri" pitchFamily="34" charset="-120"/>
                        </a:rPr>
                        <a:t>ทั้งต้นไม้</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tc>
                  <a:txBody>
                    <a:bodyPr/>
                    <a:lstStyle/>
                    <a:p>
                      <a:pPr marL="0" indent="0" algn="ctr">
                        <a:buNone/>
                      </a:pPr>
                      <a:r>
                        <a:rPr lang="en-US" sz="1200" dirty="0">
                          <a:solidFill>
                            <a:srgbClr val="E2E8F0"/>
                          </a:solidFill>
                          <a:latin typeface="Calibri" pitchFamily="34" charset="0"/>
                          <a:ea typeface="Calibri" pitchFamily="34" charset="-122"/>
                          <a:cs typeface="Calibri" pitchFamily="34" charset="-120"/>
                        </a:rPr>
                        <a:t>ดี</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tc>
                  <a:txBody>
                    <a:bodyPr/>
                    <a:lstStyle/>
                    <a:p>
                      <a:pPr marL="0" indent="0" algn="ctr">
                        <a:buNone/>
                      </a:pPr>
                      <a:r>
                        <a:rPr lang="en-US" sz="1200" b="1" dirty="0">
                          <a:solidFill>
                            <a:srgbClr val="A3E635"/>
                          </a:solidFill>
                          <a:latin typeface="Calibri" pitchFamily="34" charset="0"/>
                          <a:ea typeface="Calibri" pitchFamily="34" charset="-122"/>
                          <a:cs typeface="Calibri" pitchFamily="34" charset="-120"/>
                        </a:rPr>
                        <a:t>ดีมาก</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extLst>
                  <a:ext uri="{0D108BD9-81ED-4DB2-BD59-A6C34878D82A}">
                    <a16:rowId xmlns:a16="http://schemas.microsoft.com/office/drawing/2014/main" val="10003"/>
                  </a:ext>
                </a:extLst>
              </a:tr>
              <a:tr h="365760">
                <a:tc>
                  <a:txBody>
                    <a:bodyPr/>
                    <a:lstStyle/>
                    <a:p>
                      <a:pPr marL="0" indent="0" algn="l">
                        <a:buNone/>
                      </a:pPr>
                      <a:r>
                        <a:rPr lang="en-US" sz="1200" dirty="0">
                          <a:solidFill>
                            <a:srgbClr val="E2E8F0"/>
                          </a:solidFill>
                          <a:latin typeface="Calibri" pitchFamily="34" charset="0"/>
                          <a:ea typeface="Calibri" pitchFamily="34" charset="-122"/>
                          <a:cs typeface="Calibri" pitchFamily="34" charset="-120"/>
                        </a:rPr>
                        <a:t>DevTools</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tc>
                  <a:txBody>
                    <a:bodyPr/>
                    <a:lstStyle/>
                    <a:p>
                      <a:pPr marL="0" indent="0" algn="ctr">
                        <a:buNone/>
                      </a:pPr>
                      <a:r>
                        <a:rPr lang="en-US" sz="1200" dirty="0">
                          <a:solidFill>
                            <a:srgbClr val="E2E8F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tc>
                  <a:txBody>
                    <a:bodyPr/>
                    <a:lstStyle/>
                    <a:p>
                      <a:pPr marL="0" indent="0" algn="ctr">
                        <a:buNone/>
                      </a:pPr>
                      <a:r>
                        <a:rPr lang="en-US" sz="1200" dirty="0">
                          <a:solidFill>
                            <a:srgbClr val="E2E8F0"/>
                          </a:solidFill>
                          <a:latin typeface="Calibri" pitchFamily="34" charset="0"/>
                          <a:ea typeface="Calibri" pitchFamily="34" charset="-122"/>
                          <a:cs typeface="Calibri" pitchFamily="34" charset="-120"/>
                        </a:rPr>
                        <a:t>ในตัว</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tc>
                  <a:txBody>
                    <a:bodyPr/>
                    <a:lstStyle/>
                    <a:p>
                      <a:pPr marL="0" indent="0" algn="ctr">
                        <a:buNone/>
                      </a:pPr>
                      <a:r>
                        <a:rPr lang="en-US" sz="1200" b="1" dirty="0">
                          <a:solidFill>
                            <a:srgbClr val="A3E635"/>
                          </a:solidFill>
                          <a:latin typeface="Calibri" pitchFamily="34" charset="0"/>
                          <a:ea typeface="Calibri" pitchFamily="34" charset="-122"/>
                          <a:cs typeface="Calibri" pitchFamily="34" charset="-120"/>
                        </a:rPr>
                        <a:t>ผ่าน middleware</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extLst>
                  <a:ext uri="{0D108BD9-81ED-4DB2-BD59-A6C34878D82A}">
                    <a16:rowId xmlns:a16="http://schemas.microsoft.com/office/drawing/2014/main" val="10004"/>
                  </a:ext>
                </a:extLst>
              </a:tr>
              <a:tr h="365760">
                <a:tc>
                  <a:txBody>
                    <a:bodyPr/>
                    <a:lstStyle/>
                    <a:p>
                      <a:pPr marL="0" indent="0" algn="l">
                        <a:buNone/>
                      </a:pPr>
                      <a:r>
                        <a:rPr lang="en-US" sz="1200" dirty="0">
                          <a:solidFill>
                            <a:srgbClr val="E2E8F0"/>
                          </a:solidFill>
                          <a:latin typeface="Calibri" pitchFamily="34" charset="0"/>
                          <a:ea typeface="Calibri" pitchFamily="34" charset="-122"/>
                          <a:cs typeface="Calibri" pitchFamily="34" charset="-120"/>
                        </a:rPr>
                        <a:t>Persist</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tc>
                  <a:txBody>
                    <a:bodyPr/>
                    <a:lstStyle/>
                    <a:p>
                      <a:pPr marL="0" indent="0" algn="ctr">
                        <a:buNone/>
                      </a:pPr>
                      <a:r>
                        <a:rPr lang="en-US" sz="1200" dirty="0">
                          <a:solidFill>
                            <a:srgbClr val="E2E8F0"/>
                          </a:solidFill>
                          <a:latin typeface="Calibri" pitchFamily="34" charset="0"/>
                          <a:ea typeface="Calibri" pitchFamily="34" charset="-122"/>
                          <a:cs typeface="Calibri" pitchFamily="34" charset="-120"/>
                        </a:rPr>
                        <a:t>เขียนเอง</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tc>
                  <a:txBody>
                    <a:bodyPr/>
                    <a:lstStyle/>
                    <a:p>
                      <a:pPr marL="0" indent="0" algn="ctr">
                        <a:buNone/>
                      </a:pPr>
                      <a:r>
                        <a:rPr lang="en-US" sz="1200" dirty="0">
                          <a:solidFill>
                            <a:srgbClr val="E2E8F0"/>
                          </a:solidFill>
                          <a:latin typeface="Calibri" pitchFamily="34" charset="0"/>
                          <a:ea typeface="Calibri" pitchFamily="34" charset="-122"/>
                          <a:cs typeface="Calibri" pitchFamily="34" charset="-120"/>
                        </a:rPr>
                        <a:t>redux-persist</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tc>
                  <a:txBody>
                    <a:bodyPr/>
                    <a:lstStyle/>
                    <a:p>
                      <a:pPr marL="0" indent="0" algn="ctr">
                        <a:buNone/>
                      </a:pPr>
                      <a:r>
                        <a:rPr lang="en-US" sz="1200" b="1" dirty="0">
                          <a:solidFill>
                            <a:srgbClr val="A3E635"/>
                          </a:solidFill>
                          <a:latin typeface="Calibri" pitchFamily="34" charset="0"/>
                          <a:ea typeface="Calibri" pitchFamily="34" charset="-122"/>
                          <a:cs typeface="Calibri" pitchFamily="34" charset="-120"/>
                        </a:rPr>
                        <a:t>middleware ในตัว</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extLst>
                  <a:ext uri="{0D108BD9-81ED-4DB2-BD59-A6C34878D82A}">
                    <a16:rowId xmlns:a16="http://schemas.microsoft.com/office/drawing/2014/main" val="10005"/>
                  </a:ext>
                </a:extLst>
              </a:tr>
              <a:tr h="365760">
                <a:tc>
                  <a:txBody>
                    <a:bodyPr/>
                    <a:lstStyle/>
                    <a:p>
                      <a:pPr marL="0" indent="0" algn="l">
                        <a:buNone/>
                      </a:pPr>
                      <a:r>
                        <a:rPr lang="en-US" sz="1200" dirty="0">
                          <a:solidFill>
                            <a:srgbClr val="E2E8F0"/>
                          </a:solidFill>
                          <a:latin typeface="Calibri" pitchFamily="34" charset="0"/>
                          <a:ea typeface="Calibri" pitchFamily="34" charset="-122"/>
                          <a:cs typeface="Calibri" pitchFamily="34" charset="-120"/>
                        </a:rPr>
                        <a:t>ใช้ภายนอก React</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tc>
                  <a:txBody>
                    <a:bodyPr/>
                    <a:lstStyle/>
                    <a:p>
                      <a:pPr marL="0" indent="0" algn="ctr">
                        <a:buNone/>
                      </a:pPr>
                      <a:r>
                        <a:rPr lang="en-US" sz="1200" dirty="0">
                          <a:solidFill>
                            <a:srgbClr val="E2E8F0"/>
                          </a:solidFill>
                          <a:latin typeface="Calibri" pitchFamily="34" charset="0"/>
                          <a:ea typeface="Calibri" pitchFamily="34" charset="-122"/>
                          <a:cs typeface="Calibri" pitchFamily="34" charset="-120"/>
                        </a:rPr>
                        <a:t>ไม่ได้</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tc>
                  <a:txBody>
                    <a:bodyPr/>
                    <a:lstStyle/>
                    <a:p>
                      <a:pPr marL="0" indent="0" algn="ctr">
                        <a:buNone/>
                      </a:pPr>
                      <a:r>
                        <a:rPr lang="en-US" sz="1200" dirty="0">
                          <a:solidFill>
                            <a:srgbClr val="E2E8F0"/>
                          </a:solidFill>
                          <a:latin typeface="Calibri" pitchFamily="34" charset="0"/>
                          <a:ea typeface="Calibri" pitchFamily="34" charset="-122"/>
                          <a:cs typeface="Calibri" pitchFamily="34" charset="-120"/>
                        </a:rPr>
                        <a:t>ได้</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tc>
                  <a:txBody>
                    <a:bodyPr/>
                    <a:lstStyle/>
                    <a:p>
                      <a:pPr marL="0" indent="0" algn="ctr">
                        <a:buNone/>
                      </a:pPr>
                      <a:r>
                        <a:rPr lang="en-US" sz="1200" b="1" dirty="0">
                          <a:solidFill>
                            <a:srgbClr val="A3E635"/>
                          </a:solidFill>
                          <a:latin typeface="Calibri" pitchFamily="34" charset="0"/>
                          <a:ea typeface="Calibri" pitchFamily="34" charset="-122"/>
                          <a:cs typeface="Calibri" pitchFamily="34" charset="-120"/>
                        </a:rPr>
                        <a:t>ได้ (vanilla)</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extLst>
                  <a:ext uri="{0D108BD9-81ED-4DB2-BD59-A6C34878D82A}">
                    <a16:rowId xmlns:a16="http://schemas.microsoft.com/office/drawing/2014/main" val="10006"/>
                  </a:ext>
                </a:extLst>
              </a:tr>
              <a:tr h="365760">
                <a:tc>
                  <a:txBody>
                    <a:bodyPr/>
                    <a:lstStyle/>
                    <a:p>
                      <a:pPr marL="0" indent="0" algn="l">
                        <a:buNone/>
                      </a:pPr>
                      <a:r>
                        <a:rPr lang="en-US" sz="1200" dirty="0">
                          <a:solidFill>
                            <a:srgbClr val="E2E8F0"/>
                          </a:solidFill>
                          <a:latin typeface="Calibri" pitchFamily="34" charset="0"/>
                          <a:ea typeface="Calibri" pitchFamily="34" charset="-122"/>
                          <a:cs typeface="Calibri" pitchFamily="34" charset="-120"/>
                        </a:rPr>
                        <a:t>Bundle size</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tc>
                  <a:txBody>
                    <a:bodyPr/>
                    <a:lstStyle/>
                    <a:p>
                      <a:pPr marL="0" indent="0" algn="ctr">
                        <a:buNone/>
                      </a:pPr>
                      <a:r>
                        <a:rPr lang="en-US" sz="1200" dirty="0">
                          <a:solidFill>
                            <a:srgbClr val="E2E8F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tc>
                  <a:txBody>
                    <a:bodyPr/>
                    <a:lstStyle/>
                    <a:p>
                      <a:pPr marL="0" indent="0" algn="ctr">
                        <a:buNone/>
                      </a:pPr>
                      <a:r>
                        <a:rPr lang="en-US" sz="1200" dirty="0">
                          <a:solidFill>
                            <a:srgbClr val="E2E8F0"/>
                          </a:solidFill>
                          <a:latin typeface="Calibri" pitchFamily="34" charset="0"/>
                          <a:ea typeface="Calibri" pitchFamily="34" charset="-122"/>
                          <a:cs typeface="Calibri" pitchFamily="34" charset="-120"/>
                        </a:rPr>
                        <a:t>~12 KB</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tc>
                  <a:txBody>
                    <a:bodyPr/>
                    <a:lstStyle/>
                    <a:p>
                      <a:pPr marL="0" indent="0" algn="ctr">
                        <a:buNone/>
                      </a:pPr>
                      <a:r>
                        <a:rPr lang="en-US" sz="1200" b="1" dirty="0">
                          <a:solidFill>
                            <a:srgbClr val="A3E635"/>
                          </a:solidFill>
                          <a:latin typeface="Calibri" pitchFamily="34" charset="0"/>
                          <a:ea typeface="Calibri" pitchFamily="34" charset="-122"/>
                          <a:cs typeface="Calibri" pitchFamily="34" charset="-120"/>
                        </a:rPr>
                        <a:t>~1 KB</a:t>
                      </a:r>
                      <a:endParaRPr lang="en-US" sz="1200" dirty="0">
                        <a:latin typeface="Calibri" charset="0"/>
                        <a:ea typeface="Calibri" charset="0"/>
                        <a:cs typeface="Calibri" charset="0"/>
                      </a:endParaRPr>
                    </a:p>
                  </a:txBody>
                  <a:tcPr>
                    <a:lnL w="12700" cap="flat" cmpd="sng" algn="ctr">
                      <a:solidFill>
                        <a:srgbClr val="1B2C47"/>
                      </a:solidFill>
                      <a:prstDash val="solid"/>
                      <a:round/>
                      <a:headEnd type="none" w="med" len="med"/>
                      <a:tailEnd type="none" w="med" len="med"/>
                    </a:lnL>
                    <a:lnR w="12700" cap="flat" cmpd="sng" algn="ctr">
                      <a:solidFill>
                        <a:srgbClr val="1B2C47"/>
                      </a:solidFill>
                      <a:prstDash val="solid"/>
                      <a:round/>
                      <a:headEnd type="none" w="med" len="med"/>
                      <a:tailEnd type="none" w="med" len="med"/>
                    </a:lnR>
                    <a:lnT w="12700" cap="flat" cmpd="sng" algn="ctr">
                      <a:solidFill>
                        <a:srgbClr val="1B2C47"/>
                      </a:solidFill>
                      <a:prstDash val="solid"/>
                      <a:round/>
                      <a:headEnd type="none" w="med" len="med"/>
                      <a:tailEnd type="none" w="med" len="med"/>
                    </a:lnT>
                    <a:lnB w="12700" cap="flat" cmpd="sng" algn="ctr">
                      <a:solidFill>
                        <a:srgbClr val="1B2C47"/>
                      </a:solidFill>
                      <a:prstDash val="solid"/>
                      <a:round/>
                      <a:headEnd type="none" w="med" len="med"/>
                      <a:tailEnd type="none" w="med" len="med"/>
                    </a:lnB>
                    <a:solidFill>
                      <a:srgbClr val="132238"/>
                    </a:solidFill>
                  </a:tcPr>
                </a:tc>
                <a:extLst>
                  <a:ext uri="{0D108BD9-81ED-4DB2-BD59-A6C34878D82A}">
                    <a16:rowId xmlns:a16="http://schemas.microsoft.com/office/drawing/2014/main" val="10007"/>
                  </a:ext>
                </a:extLst>
              </a:tr>
            </a:tbl>
          </a:graphicData>
        </a:graphic>
      </p:graphicFrame>
      <p:sp>
        <p:nvSpPr>
          <p:cNvPr id="6" name="Shape 4"/>
          <p:cNvSpPr/>
          <p:nvPr/>
        </p:nvSpPr>
        <p:spPr>
          <a:xfrm>
            <a:off x="457200" y="4023360"/>
            <a:ext cx="8229600" cy="777240"/>
          </a:xfrm>
          <a:prstGeom prst="rect">
            <a:avLst/>
          </a:prstGeom>
          <a:solidFill>
            <a:srgbClr val="132238"/>
          </a:solidFill>
          <a:ln w="12700">
            <a:solidFill>
              <a:srgbClr val="F472B6"/>
            </a:solidFill>
            <a:prstDash val="solid"/>
          </a:ln>
        </p:spPr>
      </p:sp>
      <p:sp>
        <p:nvSpPr>
          <p:cNvPr id="8" name="Text 5"/>
          <p:cNvSpPr/>
          <p:nvPr/>
        </p:nvSpPr>
        <p:spPr>
          <a:xfrm>
            <a:off x="594360" y="4069080"/>
            <a:ext cx="7955280" cy="228600"/>
          </a:xfrm>
          <a:prstGeom prst="rect">
            <a:avLst/>
          </a:prstGeom>
          <a:noFill/>
          <a:ln/>
        </p:spPr>
        <p:txBody>
          <a:bodyPr wrap="square" lIns="0" tIns="0" rIns="0" bIns="0" rtlCol="0" anchor="ctr"/>
          <a:lstStyle/>
          <a:p>
            <a:pPr marL="0" indent="0">
              <a:buNone/>
            </a:pPr>
            <a:r>
              <a:rPr lang="en-US" sz="1100" b="1" dirty="0">
                <a:solidFill>
                  <a:srgbClr val="F472B6"/>
                </a:solidFill>
                <a:latin typeface="Calibri" pitchFamily="34" charset="0"/>
                <a:ea typeface="Calibri" pitchFamily="34" charset="-122"/>
                <a:cs typeface="Calibri" pitchFamily="34" charset="-120"/>
              </a:rPr>
              <a:t>⚠ Pitfalls / ข้อควรระวัง</a:t>
            </a:r>
            <a:endParaRPr lang="en-US" sz="1100" dirty="0"/>
          </a:p>
        </p:txBody>
      </p:sp>
      <p:sp>
        <p:nvSpPr>
          <p:cNvPr id="9" name="Text 6"/>
          <p:cNvSpPr/>
          <p:nvPr/>
        </p:nvSpPr>
        <p:spPr>
          <a:xfrm>
            <a:off x="594360" y="4297680"/>
            <a:ext cx="7955280" cy="457200"/>
          </a:xfrm>
          <a:prstGeom prst="rect">
            <a:avLst/>
          </a:prstGeom>
          <a:noFill/>
          <a:ln/>
        </p:spPr>
        <p:txBody>
          <a:bodyPr wrap="square" lIns="0" tIns="0" rIns="0" bIns="0" rtlCol="0" anchor="ctr"/>
          <a:lstStyle/>
          <a:p>
            <a:pPr marL="342900" indent="-342900">
              <a:buSzPct val="100000"/>
              <a:buChar char="•"/>
            </a:pPr>
            <a:r>
              <a:rPr lang="en-US" sz="1000" dirty="0">
                <a:solidFill>
                  <a:srgbClr val="E2E8F0"/>
                </a:solidFill>
                <a:latin typeface="Calibri" pitchFamily="34" charset="0"/>
                <a:ea typeface="Calibri" pitchFamily="34" charset="-122"/>
                <a:cs typeface="Calibri" pitchFamily="34" charset="-120"/>
              </a:rPr>
              <a:t>ตารางนี้เป็นภาพรวม — เลือกเครื่องมือตามทีม/ขนาดโปรเจกต์ ไม่ใช่ตามเทรนด์</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07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Install &amp; Setup</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ติดตั้ง Zustand ใน React project</a:t>
            </a:r>
            <a:endParaRPr lang="en-US" sz="1300" dirty="0"/>
          </a:p>
        </p:txBody>
      </p:sp>
      <p:sp>
        <p:nvSpPr>
          <p:cNvPr id="6" name="Text 4"/>
          <p:cNvSpPr/>
          <p:nvPr/>
        </p:nvSpPr>
        <p:spPr>
          <a:xfrm>
            <a:off x="457200" y="1325880"/>
            <a:ext cx="420624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รองรับ React 18+ และ Next.js 13+</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ติดตั้งผ่าน npm / yarn / pnpm ได้ทุกตัว</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Zero config — import ใช้ได้ทันที</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ขนาด ~1 KB gzipped (core)</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TypeScript รองรับเต็มรูปแบบ</a:t>
            </a:r>
            <a:endParaRPr lang="en-US" sz="1400" dirty="0"/>
          </a:p>
        </p:txBody>
      </p:sp>
      <p:sp>
        <p:nvSpPr>
          <p:cNvPr id="7" name="Shape 5"/>
          <p:cNvSpPr/>
          <p:nvPr/>
        </p:nvSpPr>
        <p:spPr>
          <a:xfrm>
            <a:off x="4754880" y="1325880"/>
            <a:ext cx="4023360" cy="3200400"/>
          </a:xfrm>
          <a:prstGeom prst="rect">
            <a:avLst/>
          </a:prstGeom>
          <a:solidFill>
            <a:srgbClr val="050B17"/>
          </a:solidFill>
          <a:ln w="12700">
            <a:solidFill>
              <a:srgbClr val="1B2C47"/>
            </a:solidFill>
            <a:prstDash val="solid"/>
          </a:ln>
        </p:spPr>
      </p:sp>
      <p:sp>
        <p:nvSpPr>
          <p:cNvPr id="8" name="Shape 6"/>
          <p:cNvSpPr/>
          <p:nvPr/>
        </p:nvSpPr>
        <p:spPr>
          <a:xfrm>
            <a:off x="4754880" y="1325880"/>
            <a:ext cx="4023360" cy="228600"/>
          </a:xfrm>
          <a:prstGeom prst="rect">
            <a:avLst/>
          </a:prstGeom>
          <a:solidFill>
            <a:srgbClr val="1B2C47"/>
          </a:solidFill>
          <a:ln/>
        </p:spPr>
      </p:sp>
      <p:sp>
        <p:nvSpPr>
          <p:cNvPr id="9" name="Shape 7"/>
          <p:cNvSpPr/>
          <p:nvPr/>
        </p:nvSpPr>
        <p:spPr>
          <a:xfrm>
            <a:off x="4846320" y="1389888"/>
            <a:ext cx="100584" cy="100584"/>
          </a:xfrm>
          <a:prstGeom prst="ellipse">
            <a:avLst/>
          </a:prstGeom>
          <a:solidFill>
            <a:srgbClr val="F87171"/>
          </a:solidFill>
          <a:ln/>
        </p:spPr>
      </p:sp>
      <p:sp>
        <p:nvSpPr>
          <p:cNvPr id="10" name="Shape 8"/>
          <p:cNvSpPr/>
          <p:nvPr/>
        </p:nvSpPr>
        <p:spPr>
          <a:xfrm>
            <a:off x="5010912" y="1389888"/>
            <a:ext cx="100584" cy="100584"/>
          </a:xfrm>
          <a:prstGeom prst="ellipse">
            <a:avLst/>
          </a:prstGeom>
          <a:solidFill>
            <a:srgbClr val="FBBF24"/>
          </a:solidFill>
          <a:ln/>
        </p:spPr>
      </p:sp>
      <p:sp>
        <p:nvSpPr>
          <p:cNvPr id="11" name="Shape 9"/>
          <p:cNvSpPr/>
          <p:nvPr/>
        </p:nvSpPr>
        <p:spPr>
          <a:xfrm>
            <a:off x="5175504" y="1389888"/>
            <a:ext cx="100584" cy="100584"/>
          </a:xfrm>
          <a:prstGeom prst="ellipse">
            <a:avLst/>
          </a:prstGeom>
          <a:solidFill>
            <a:srgbClr val="34D399"/>
          </a:solidFill>
          <a:ln/>
        </p:spPr>
      </p:sp>
      <p:sp>
        <p:nvSpPr>
          <p:cNvPr id="12" name="Text 10"/>
          <p:cNvSpPr/>
          <p:nvPr/>
        </p:nvSpPr>
        <p:spPr>
          <a:xfrm>
            <a:off x="7680960" y="1344168"/>
            <a:ext cx="1005840" cy="192024"/>
          </a:xfrm>
          <a:prstGeom prst="rect">
            <a:avLst/>
          </a:prstGeom>
          <a:noFill/>
          <a:ln/>
        </p:spPr>
        <p:txBody>
          <a:bodyPr wrap="square" lIns="0" tIns="0" rIns="0" bIns="0" rtlCol="0" anchor="ctr"/>
          <a:lstStyle/>
          <a:p>
            <a:pPr marL="0" indent="0" algn="r">
              <a:buNone/>
            </a:pPr>
            <a:r>
              <a:rPr lang="en-US" sz="800" dirty="0">
                <a:solidFill>
                  <a:srgbClr val="94A3B8"/>
                </a:solidFill>
                <a:latin typeface="Consolas" pitchFamily="34" charset="0"/>
                <a:ea typeface="Consolas" pitchFamily="34" charset="-122"/>
                <a:cs typeface="Consolas" pitchFamily="34" charset="-120"/>
              </a:rPr>
              <a:t>bash</a:t>
            </a:r>
            <a:endParaRPr lang="en-US" sz="800" dirty="0"/>
          </a:p>
        </p:txBody>
      </p:sp>
      <p:sp>
        <p:nvSpPr>
          <p:cNvPr id="13" name="Text 11"/>
          <p:cNvSpPr/>
          <p:nvPr/>
        </p:nvSpPr>
        <p:spPr>
          <a:xfrm>
            <a:off x="4892040" y="1618488"/>
            <a:ext cx="3749040" cy="2834640"/>
          </a:xfrm>
          <a:prstGeom prst="rect">
            <a:avLst/>
          </a:prstGeom>
          <a:noFill/>
          <a:ln/>
        </p:spPr>
        <p:txBody>
          <a:bodyPr wrap="square" lIns="0" tIns="0" rIns="0" bIns="0" rtlCol="0" anchor="t"/>
          <a:lstStyle/>
          <a:p>
            <a:pPr marL="0" indent="0">
              <a:buNone/>
            </a:pPr>
            <a:r>
              <a:rPr lang="en-US" sz="1100" dirty="0">
                <a:solidFill>
                  <a:srgbClr val="C7F9FF"/>
                </a:solidFill>
                <a:latin typeface="Consolas" pitchFamily="34" charset="0"/>
                <a:ea typeface="Consolas" pitchFamily="34" charset="-122"/>
                <a:cs typeface="Consolas" pitchFamily="34" charset="-120"/>
              </a:rPr>
              <a:t># เลือกตัวใดตัวหนึ่ง</a:t>
            </a: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npm  install zustand</a:t>
            </a: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yarn add     zustand</a:t>
            </a: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pnpm add     zustand</a:t>
            </a:r>
            <a:endParaRPr lang="en-US" sz="1100" dirty="0"/>
          </a:p>
          <a:p>
            <a:pPr marL="0" indent="0">
              <a:buNone/>
            </a:pP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 import ใช้งาน</a:t>
            </a: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import { create } from "zustand";</a:t>
            </a:r>
            <a:endParaRPr lang="en-US" sz="1100" dirty="0"/>
          </a:p>
          <a:p>
            <a:pPr marL="0" indent="0">
              <a:buNone/>
            </a:pP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 (optional) middleware</a:t>
            </a: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import {</a:t>
            </a: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  persist,</a:t>
            </a: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  devtools,</a:t>
            </a: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  createJSONStorage</a:t>
            </a: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 from "zustand/middleware";</a:t>
            </a:r>
            <a:endParaRPr lang="en-US" sz="1100" dirty="0"/>
          </a:p>
        </p:txBody>
      </p:sp>
      <p:sp>
        <p:nvSpPr>
          <p:cNvPr id="14" name="Shape 12"/>
          <p:cNvSpPr/>
          <p:nvPr/>
        </p:nvSpPr>
        <p:spPr>
          <a:xfrm>
            <a:off x="457200" y="4023360"/>
            <a:ext cx="8229600" cy="777240"/>
          </a:xfrm>
          <a:prstGeom prst="rect">
            <a:avLst/>
          </a:prstGeom>
          <a:solidFill>
            <a:srgbClr val="132238"/>
          </a:solidFill>
          <a:ln w="12700">
            <a:solidFill>
              <a:srgbClr val="F472B6"/>
            </a:solidFill>
            <a:prstDash val="solid"/>
          </a:ln>
        </p:spPr>
      </p:sp>
      <p:sp>
        <p:nvSpPr>
          <p:cNvPr id="15" name="Text 13"/>
          <p:cNvSpPr/>
          <p:nvPr/>
        </p:nvSpPr>
        <p:spPr>
          <a:xfrm>
            <a:off x="594360" y="4069080"/>
            <a:ext cx="7955280" cy="228600"/>
          </a:xfrm>
          <a:prstGeom prst="rect">
            <a:avLst/>
          </a:prstGeom>
          <a:noFill/>
          <a:ln/>
        </p:spPr>
        <p:txBody>
          <a:bodyPr wrap="square" lIns="0" tIns="0" rIns="0" bIns="0" rtlCol="0" anchor="ctr"/>
          <a:lstStyle/>
          <a:p>
            <a:pPr marL="0" indent="0">
              <a:buNone/>
            </a:pPr>
            <a:r>
              <a:rPr lang="en-US" sz="1100" b="1" dirty="0">
                <a:solidFill>
                  <a:srgbClr val="F472B6"/>
                </a:solidFill>
                <a:latin typeface="Calibri" pitchFamily="34" charset="0"/>
                <a:ea typeface="Calibri" pitchFamily="34" charset="-122"/>
                <a:cs typeface="Calibri" pitchFamily="34" charset="-120"/>
              </a:rPr>
              <a:t>⚠ Pitfalls / ข้อควรระวัง</a:t>
            </a:r>
            <a:endParaRPr lang="en-US" sz="1100" dirty="0"/>
          </a:p>
        </p:txBody>
      </p:sp>
      <p:sp>
        <p:nvSpPr>
          <p:cNvPr id="16" name="Text 14"/>
          <p:cNvSpPr/>
          <p:nvPr/>
        </p:nvSpPr>
        <p:spPr>
          <a:xfrm>
            <a:off x="594360" y="4297680"/>
            <a:ext cx="7955280" cy="457200"/>
          </a:xfrm>
          <a:prstGeom prst="rect">
            <a:avLst/>
          </a:prstGeom>
          <a:noFill/>
          <a:ln/>
        </p:spPr>
        <p:txBody>
          <a:bodyPr wrap="square" lIns="0" tIns="0" rIns="0" bIns="0" rtlCol="0" anchor="ctr"/>
          <a:lstStyle/>
          <a:p>
            <a:pPr marL="342900" indent="-342900">
              <a:buSzPct val="100000"/>
              <a:buChar char="•"/>
            </a:pPr>
            <a:r>
              <a:rPr lang="en-US" sz="1000" dirty="0">
                <a:solidFill>
                  <a:srgbClr val="E2E8F0"/>
                </a:solidFill>
                <a:latin typeface="Calibri" pitchFamily="34" charset="0"/>
                <a:ea typeface="Calibri" pitchFamily="34" charset="-122"/>
                <a:cs typeface="Calibri" pitchFamily="34" charset="-120"/>
              </a:rPr>
              <a:t>อย่า import จาก zustand/vanilla ถ้าใช้ใน React component — ใช้ create จาก 'zustand' หลัก</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1097280"/>
            <a:ext cx="3200400" cy="2743200"/>
          </a:xfrm>
          <a:prstGeom prst="rect">
            <a:avLst/>
          </a:prstGeom>
          <a:noFill/>
          <a:ln/>
        </p:spPr>
        <p:txBody>
          <a:bodyPr wrap="square" lIns="0" tIns="0" rIns="0" bIns="0" rtlCol="0" anchor="ctr"/>
          <a:lstStyle/>
          <a:p>
            <a:pPr marL="0" indent="0" algn="l">
              <a:buNone/>
            </a:pPr>
            <a:r>
              <a:rPr lang="en-US" sz="18000" b="1" dirty="0">
                <a:solidFill>
                  <a:srgbClr val="1B2C47"/>
                </a:solidFill>
                <a:latin typeface="Calibri" pitchFamily="34" charset="0"/>
                <a:ea typeface="Calibri" pitchFamily="34" charset="-122"/>
                <a:cs typeface="Calibri" pitchFamily="34" charset="-120"/>
              </a:rPr>
              <a:t>02</a:t>
            </a:r>
            <a:endParaRPr lang="en-US" sz="18000" dirty="0"/>
          </a:p>
        </p:txBody>
      </p:sp>
      <p:sp>
        <p:nvSpPr>
          <p:cNvPr id="3" name="Text 1"/>
          <p:cNvSpPr/>
          <p:nvPr/>
        </p:nvSpPr>
        <p:spPr>
          <a:xfrm>
            <a:off x="3657600" y="1828800"/>
            <a:ext cx="5120640" cy="822960"/>
          </a:xfrm>
          <a:prstGeom prst="rect">
            <a:avLst/>
          </a:prstGeom>
          <a:noFill/>
          <a:ln/>
        </p:spPr>
        <p:txBody>
          <a:bodyPr wrap="square" lIns="0" tIns="0" rIns="0" bIns="0" rtlCol="0" anchor="ctr"/>
          <a:lstStyle/>
          <a:p>
            <a:pPr marL="0" indent="0">
              <a:buNone/>
            </a:pPr>
            <a:r>
              <a:rPr lang="en-US" sz="3600" b="1" dirty="0">
                <a:solidFill>
                  <a:srgbClr val="E2E8F0"/>
                </a:solidFill>
                <a:latin typeface="Calibri" pitchFamily="34" charset="0"/>
                <a:ea typeface="Calibri" pitchFamily="34" charset="-122"/>
                <a:cs typeface="Calibri" pitchFamily="34" charset="-120"/>
              </a:rPr>
              <a:t>Core Concept</a:t>
            </a:r>
            <a:endParaRPr lang="en-US" sz="3600" dirty="0"/>
          </a:p>
        </p:txBody>
      </p:sp>
      <p:sp>
        <p:nvSpPr>
          <p:cNvPr id="4" name="Text 2"/>
          <p:cNvSpPr/>
          <p:nvPr/>
        </p:nvSpPr>
        <p:spPr>
          <a:xfrm>
            <a:off x="3657600" y="2606040"/>
            <a:ext cx="5120640" cy="548640"/>
          </a:xfrm>
          <a:prstGeom prst="rect">
            <a:avLst/>
          </a:prstGeom>
          <a:noFill/>
          <a:ln/>
        </p:spPr>
        <p:txBody>
          <a:bodyPr wrap="square" lIns="0" tIns="0" rIns="0" bIns="0" rtlCol="0" anchor="ctr"/>
          <a:lstStyle/>
          <a:p>
            <a:pPr marL="0" indent="0">
              <a:buNone/>
            </a:pPr>
            <a:r>
              <a:rPr lang="en-US" sz="1600" dirty="0">
                <a:solidFill>
                  <a:srgbClr val="22D3EE"/>
                </a:solidFill>
                <a:latin typeface="Consolas" pitchFamily="34" charset="0"/>
                <a:ea typeface="Consolas" pitchFamily="34" charset="-122"/>
                <a:cs typeface="Consolas" pitchFamily="34" charset="-120"/>
              </a:rPr>
              <a:t>store = hook + state + actions</a:t>
            </a:r>
            <a:endParaRPr lang="en-US" sz="1600" dirty="0"/>
          </a:p>
        </p:txBody>
      </p:sp>
      <p:sp>
        <p:nvSpPr>
          <p:cNvPr id="5" name="Shape 3"/>
          <p:cNvSpPr/>
          <p:nvPr/>
        </p:nvSpPr>
        <p:spPr>
          <a:xfrm>
            <a:off x="3657600" y="3200400"/>
            <a:ext cx="548640" cy="73152"/>
          </a:xfrm>
          <a:prstGeom prst="rect">
            <a:avLst/>
          </a:prstGeom>
          <a:solidFill>
            <a:srgbClr val="A3E635"/>
          </a:solidFill>
          <a:ln/>
        </p:spPr>
      </p:sp>
      <p:sp>
        <p:nvSpPr>
          <p:cNvPr id="6" name="Text 4"/>
          <p:cNvSpPr/>
          <p:nvPr/>
        </p:nvSpPr>
        <p:spPr>
          <a:xfrm>
            <a:off x="365760" y="4846320"/>
            <a:ext cx="54864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09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Core: store = hook</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create() return ออกมาเป็น React hook</a:t>
            </a:r>
            <a:endParaRPr lang="en-US" sz="1300" dirty="0"/>
          </a:p>
        </p:txBody>
      </p:sp>
      <p:sp>
        <p:nvSpPr>
          <p:cNvPr id="6" name="Text 4"/>
          <p:cNvSpPr/>
          <p:nvPr/>
        </p:nvSpPr>
        <p:spPr>
          <a:xfrm>
            <a:off x="457200" y="1325880"/>
            <a:ext cx="420624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create(initializer) → return useStore (เป็น hook)</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initializer รับ (set, get) → คืน object ที่มี state + actions</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set: อัปเดต state แบบ shallow merge</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get: อ่าน state ปัจจุบันใน action</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เรียก useStore() ใน component เพื่อ subscribe</a:t>
            </a:r>
            <a:endParaRPr lang="en-US" sz="1400" dirty="0"/>
          </a:p>
        </p:txBody>
      </p:sp>
      <p:sp>
        <p:nvSpPr>
          <p:cNvPr id="7" name="Shape 5"/>
          <p:cNvSpPr/>
          <p:nvPr/>
        </p:nvSpPr>
        <p:spPr>
          <a:xfrm>
            <a:off x="4754880" y="1325880"/>
            <a:ext cx="4023360" cy="3200400"/>
          </a:xfrm>
          <a:prstGeom prst="rect">
            <a:avLst/>
          </a:prstGeom>
          <a:solidFill>
            <a:srgbClr val="050B17"/>
          </a:solidFill>
          <a:ln w="12700">
            <a:solidFill>
              <a:srgbClr val="1B2C47"/>
            </a:solidFill>
            <a:prstDash val="solid"/>
          </a:ln>
        </p:spPr>
      </p:sp>
      <p:sp>
        <p:nvSpPr>
          <p:cNvPr id="8" name="Shape 6"/>
          <p:cNvSpPr/>
          <p:nvPr/>
        </p:nvSpPr>
        <p:spPr>
          <a:xfrm>
            <a:off x="4754880" y="1325880"/>
            <a:ext cx="4023360" cy="228600"/>
          </a:xfrm>
          <a:prstGeom prst="rect">
            <a:avLst/>
          </a:prstGeom>
          <a:solidFill>
            <a:srgbClr val="1B2C47"/>
          </a:solidFill>
          <a:ln/>
        </p:spPr>
      </p:sp>
      <p:sp>
        <p:nvSpPr>
          <p:cNvPr id="9" name="Shape 7"/>
          <p:cNvSpPr/>
          <p:nvPr/>
        </p:nvSpPr>
        <p:spPr>
          <a:xfrm>
            <a:off x="4846320" y="1389888"/>
            <a:ext cx="100584" cy="100584"/>
          </a:xfrm>
          <a:prstGeom prst="ellipse">
            <a:avLst/>
          </a:prstGeom>
          <a:solidFill>
            <a:srgbClr val="F87171"/>
          </a:solidFill>
          <a:ln/>
        </p:spPr>
      </p:sp>
      <p:sp>
        <p:nvSpPr>
          <p:cNvPr id="10" name="Shape 8"/>
          <p:cNvSpPr/>
          <p:nvPr/>
        </p:nvSpPr>
        <p:spPr>
          <a:xfrm>
            <a:off x="5010912" y="1389888"/>
            <a:ext cx="100584" cy="100584"/>
          </a:xfrm>
          <a:prstGeom prst="ellipse">
            <a:avLst/>
          </a:prstGeom>
          <a:solidFill>
            <a:srgbClr val="FBBF24"/>
          </a:solidFill>
          <a:ln/>
        </p:spPr>
      </p:sp>
      <p:sp>
        <p:nvSpPr>
          <p:cNvPr id="11" name="Shape 9"/>
          <p:cNvSpPr/>
          <p:nvPr/>
        </p:nvSpPr>
        <p:spPr>
          <a:xfrm>
            <a:off x="5175504" y="1389888"/>
            <a:ext cx="100584" cy="100584"/>
          </a:xfrm>
          <a:prstGeom prst="ellipse">
            <a:avLst/>
          </a:prstGeom>
          <a:solidFill>
            <a:srgbClr val="34D399"/>
          </a:solidFill>
          <a:ln/>
        </p:spPr>
      </p:sp>
      <p:sp>
        <p:nvSpPr>
          <p:cNvPr id="12" name="Text 10"/>
          <p:cNvSpPr/>
          <p:nvPr/>
        </p:nvSpPr>
        <p:spPr>
          <a:xfrm>
            <a:off x="7680960" y="1344168"/>
            <a:ext cx="1005840" cy="192024"/>
          </a:xfrm>
          <a:prstGeom prst="rect">
            <a:avLst/>
          </a:prstGeom>
          <a:noFill/>
          <a:ln/>
        </p:spPr>
        <p:txBody>
          <a:bodyPr wrap="square" lIns="0" tIns="0" rIns="0" bIns="0" rtlCol="0" anchor="ctr"/>
          <a:lstStyle/>
          <a:p>
            <a:pPr marL="0" indent="0" algn="r">
              <a:buNone/>
            </a:pPr>
            <a:r>
              <a:rPr lang="en-US" sz="800" dirty="0">
                <a:solidFill>
                  <a:srgbClr val="94A3B8"/>
                </a:solidFill>
                <a:latin typeface="Consolas" pitchFamily="34" charset="0"/>
                <a:ea typeface="Consolas" pitchFamily="34" charset="-122"/>
                <a:cs typeface="Consolas" pitchFamily="34" charset="-120"/>
              </a:rPr>
              <a:t>javascript</a:t>
            </a:r>
            <a:endParaRPr lang="en-US" sz="800" dirty="0"/>
          </a:p>
        </p:txBody>
      </p:sp>
      <p:sp>
        <p:nvSpPr>
          <p:cNvPr id="13" name="Text 11"/>
          <p:cNvSpPr/>
          <p:nvPr/>
        </p:nvSpPr>
        <p:spPr>
          <a:xfrm>
            <a:off x="4892040" y="1618488"/>
            <a:ext cx="3749040" cy="2834640"/>
          </a:xfrm>
          <a:prstGeom prst="rect">
            <a:avLst/>
          </a:prstGeom>
          <a:noFill/>
          <a:ln/>
        </p:spPr>
        <p:txBody>
          <a:bodyPr wrap="square" lIns="0" tIns="0" rIns="0" bIns="0" rtlCol="0" anchor="t"/>
          <a:lstStyle/>
          <a:p>
            <a:pPr marL="0" indent="0">
              <a:buNone/>
            </a:pPr>
            <a:r>
              <a:rPr lang="en-US" sz="1000" dirty="0">
                <a:solidFill>
                  <a:srgbClr val="C7F9FF"/>
                </a:solidFill>
                <a:latin typeface="Consolas" pitchFamily="34" charset="0"/>
                <a:ea typeface="Consolas" pitchFamily="34" charset="-122"/>
                <a:cs typeface="Consolas" pitchFamily="34" charset="-120"/>
              </a:rPr>
              <a:t>import { create } from "zustand";</a:t>
            </a:r>
            <a:endParaRPr lang="en-US" sz="1000" dirty="0"/>
          </a:p>
          <a:p>
            <a:pPr marL="0" indent="0">
              <a:buNone/>
            </a:pP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export const useCounterStore =</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create((set, get) =&gt; ({</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count: 0,</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inc: () =&gt;</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set((s) =&gt; ({ count: s.count + 1 })),</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dec: () =&gt;</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set((s) =&gt; ({ count: s.count - 1 })),</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reset: () =&gt; set({ count: 0 }),</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a:t>
            </a:r>
            <a:endParaRPr lang="en-US" sz="1000" dirty="0"/>
          </a:p>
          <a:p>
            <a:pPr marL="0" indent="0">
              <a:buNone/>
            </a:pP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ใน component</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const count = useCounterStore((s) =&gt; s.count);</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const inc   = useCounterStore((s) =&gt; s.inc);</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10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set &amp; get ใน action</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เข้าถึง state ปัจจุบันและอัปเดตอย่างปลอดภัย</a:t>
            </a:r>
            <a:endParaRPr lang="en-US" sz="1300" dirty="0"/>
          </a:p>
        </p:txBody>
      </p:sp>
      <p:sp>
        <p:nvSpPr>
          <p:cNvPr id="6" name="Text 4"/>
          <p:cNvSpPr/>
          <p:nvPr/>
        </p:nvSpPr>
        <p:spPr>
          <a:xfrm>
            <a:off x="457200" y="1325880"/>
            <a:ext cx="420624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set รับ partial หรือ updater fn</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get() ใช้อ่าน state ปัจจุบันใน async / side-effect</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set(..., true) → replace ทั้ง state (ไม่ merge)</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ปกติแนะนำ partial merge (default)</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Action เป็น plain function — test ได้ตรง ๆ</a:t>
            </a:r>
            <a:endParaRPr lang="en-US" sz="1400" dirty="0"/>
          </a:p>
        </p:txBody>
      </p:sp>
      <p:sp>
        <p:nvSpPr>
          <p:cNvPr id="7" name="Shape 5"/>
          <p:cNvSpPr/>
          <p:nvPr/>
        </p:nvSpPr>
        <p:spPr>
          <a:xfrm>
            <a:off x="4754880" y="1325880"/>
            <a:ext cx="4023360" cy="3200400"/>
          </a:xfrm>
          <a:prstGeom prst="rect">
            <a:avLst/>
          </a:prstGeom>
          <a:solidFill>
            <a:srgbClr val="050B17"/>
          </a:solidFill>
          <a:ln w="12700">
            <a:solidFill>
              <a:srgbClr val="1B2C47"/>
            </a:solidFill>
            <a:prstDash val="solid"/>
          </a:ln>
        </p:spPr>
      </p:sp>
      <p:sp>
        <p:nvSpPr>
          <p:cNvPr id="8" name="Shape 6"/>
          <p:cNvSpPr/>
          <p:nvPr/>
        </p:nvSpPr>
        <p:spPr>
          <a:xfrm>
            <a:off x="4754880" y="1325880"/>
            <a:ext cx="4023360" cy="228600"/>
          </a:xfrm>
          <a:prstGeom prst="rect">
            <a:avLst/>
          </a:prstGeom>
          <a:solidFill>
            <a:srgbClr val="1B2C47"/>
          </a:solidFill>
          <a:ln/>
        </p:spPr>
      </p:sp>
      <p:sp>
        <p:nvSpPr>
          <p:cNvPr id="9" name="Shape 7"/>
          <p:cNvSpPr/>
          <p:nvPr/>
        </p:nvSpPr>
        <p:spPr>
          <a:xfrm>
            <a:off x="4846320" y="1389888"/>
            <a:ext cx="100584" cy="100584"/>
          </a:xfrm>
          <a:prstGeom prst="ellipse">
            <a:avLst/>
          </a:prstGeom>
          <a:solidFill>
            <a:srgbClr val="F87171"/>
          </a:solidFill>
          <a:ln/>
        </p:spPr>
      </p:sp>
      <p:sp>
        <p:nvSpPr>
          <p:cNvPr id="10" name="Shape 8"/>
          <p:cNvSpPr/>
          <p:nvPr/>
        </p:nvSpPr>
        <p:spPr>
          <a:xfrm>
            <a:off x="5010912" y="1389888"/>
            <a:ext cx="100584" cy="100584"/>
          </a:xfrm>
          <a:prstGeom prst="ellipse">
            <a:avLst/>
          </a:prstGeom>
          <a:solidFill>
            <a:srgbClr val="FBBF24"/>
          </a:solidFill>
          <a:ln/>
        </p:spPr>
      </p:sp>
      <p:sp>
        <p:nvSpPr>
          <p:cNvPr id="11" name="Shape 9"/>
          <p:cNvSpPr/>
          <p:nvPr/>
        </p:nvSpPr>
        <p:spPr>
          <a:xfrm>
            <a:off x="5175504" y="1389888"/>
            <a:ext cx="100584" cy="100584"/>
          </a:xfrm>
          <a:prstGeom prst="ellipse">
            <a:avLst/>
          </a:prstGeom>
          <a:solidFill>
            <a:srgbClr val="34D399"/>
          </a:solidFill>
          <a:ln/>
        </p:spPr>
      </p:sp>
      <p:sp>
        <p:nvSpPr>
          <p:cNvPr id="12" name="Text 10"/>
          <p:cNvSpPr/>
          <p:nvPr/>
        </p:nvSpPr>
        <p:spPr>
          <a:xfrm>
            <a:off x="7680960" y="1344168"/>
            <a:ext cx="1005840" cy="192024"/>
          </a:xfrm>
          <a:prstGeom prst="rect">
            <a:avLst/>
          </a:prstGeom>
          <a:noFill/>
          <a:ln/>
        </p:spPr>
        <p:txBody>
          <a:bodyPr wrap="square" lIns="0" tIns="0" rIns="0" bIns="0" rtlCol="0" anchor="ctr"/>
          <a:lstStyle/>
          <a:p>
            <a:pPr marL="0" indent="0" algn="r">
              <a:buNone/>
            </a:pPr>
            <a:r>
              <a:rPr lang="en-US" sz="800" dirty="0">
                <a:solidFill>
                  <a:srgbClr val="94A3B8"/>
                </a:solidFill>
                <a:latin typeface="Consolas" pitchFamily="34" charset="0"/>
                <a:ea typeface="Consolas" pitchFamily="34" charset="-122"/>
                <a:cs typeface="Consolas" pitchFamily="34" charset="-120"/>
              </a:rPr>
              <a:t>javascript</a:t>
            </a:r>
            <a:endParaRPr lang="en-US" sz="800" dirty="0"/>
          </a:p>
        </p:txBody>
      </p:sp>
      <p:sp>
        <p:nvSpPr>
          <p:cNvPr id="13" name="Text 11"/>
          <p:cNvSpPr/>
          <p:nvPr/>
        </p:nvSpPr>
        <p:spPr>
          <a:xfrm>
            <a:off x="4892040" y="1618488"/>
            <a:ext cx="3749040" cy="2834640"/>
          </a:xfrm>
          <a:prstGeom prst="rect">
            <a:avLst/>
          </a:prstGeom>
          <a:noFill/>
          <a:ln/>
        </p:spPr>
        <p:txBody>
          <a:bodyPr wrap="square" lIns="0" tIns="0" rIns="0" bIns="0" rtlCol="0" anchor="t"/>
          <a:lstStyle/>
          <a:p>
            <a:pPr marL="0" indent="0">
              <a:buNone/>
            </a:pPr>
            <a:r>
              <a:rPr lang="en-US" sz="900" dirty="0">
                <a:solidFill>
                  <a:srgbClr val="C7F9FF"/>
                </a:solidFill>
                <a:latin typeface="Consolas" pitchFamily="34" charset="0"/>
                <a:ea typeface="Consolas" pitchFamily="34" charset="-122"/>
                <a:cs typeface="Consolas" pitchFamily="34" charset="-120"/>
              </a:rPr>
              <a:t>export const useCartStore = create((set, get) =&gt;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items: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add: (p) =&gt;</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set((s) =&gt; ({ items: [...s.items, p]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remove: (id) =&gt;</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set((s) =&gt;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items: s.items.filter(i =&gt; i.id !== id),</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total: () =&gt;</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get().items.reduce((sum, i) =&gt; sum + i.price, 0),</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 อ่าน state ปัจจุบันก่อนตัดสินใจ</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checkout: () =&gt;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if (get().items.length === 0) return;</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 ... call API</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set({ items: []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a:t>
            </a:r>
            <a:endParaRPr lang="en-US" sz="900" dirty="0"/>
          </a:p>
        </p:txBody>
      </p:sp>
      <p:sp>
        <p:nvSpPr>
          <p:cNvPr id="14" name="Shape 12"/>
          <p:cNvSpPr/>
          <p:nvPr/>
        </p:nvSpPr>
        <p:spPr>
          <a:xfrm>
            <a:off x="457200" y="4023360"/>
            <a:ext cx="8229600" cy="777240"/>
          </a:xfrm>
          <a:prstGeom prst="rect">
            <a:avLst/>
          </a:prstGeom>
          <a:solidFill>
            <a:srgbClr val="132238"/>
          </a:solidFill>
          <a:ln w="12700">
            <a:solidFill>
              <a:srgbClr val="F472B6"/>
            </a:solidFill>
            <a:prstDash val="solid"/>
          </a:ln>
        </p:spPr>
      </p:sp>
      <p:sp>
        <p:nvSpPr>
          <p:cNvPr id="15" name="Text 13"/>
          <p:cNvSpPr/>
          <p:nvPr/>
        </p:nvSpPr>
        <p:spPr>
          <a:xfrm>
            <a:off x="594360" y="4069080"/>
            <a:ext cx="7955280" cy="228600"/>
          </a:xfrm>
          <a:prstGeom prst="rect">
            <a:avLst/>
          </a:prstGeom>
          <a:noFill/>
          <a:ln/>
        </p:spPr>
        <p:txBody>
          <a:bodyPr wrap="square" lIns="0" tIns="0" rIns="0" bIns="0" rtlCol="0" anchor="ctr"/>
          <a:lstStyle/>
          <a:p>
            <a:pPr marL="0" indent="0">
              <a:buNone/>
            </a:pPr>
            <a:r>
              <a:rPr lang="en-US" sz="1100" b="1" dirty="0">
                <a:solidFill>
                  <a:srgbClr val="F472B6"/>
                </a:solidFill>
                <a:latin typeface="Calibri" pitchFamily="34" charset="0"/>
                <a:ea typeface="Calibri" pitchFamily="34" charset="-122"/>
                <a:cs typeface="Calibri" pitchFamily="34" charset="-120"/>
              </a:rPr>
              <a:t>⚠ Pitfalls / ข้อควรระวัง</a:t>
            </a:r>
            <a:endParaRPr lang="en-US" sz="1100" dirty="0"/>
          </a:p>
        </p:txBody>
      </p:sp>
      <p:sp>
        <p:nvSpPr>
          <p:cNvPr id="16" name="Text 14"/>
          <p:cNvSpPr/>
          <p:nvPr/>
        </p:nvSpPr>
        <p:spPr>
          <a:xfrm>
            <a:off x="594360" y="4297680"/>
            <a:ext cx="7955280" cy="457200"/>
          </a:xfrm>
          <a:prstGeom prst="rect">
            <a:avLst/>
          </a:prstGeom>
          <a:noFill/>
          <a:ln/>
        </p:spPr>
        <p:txBody>
          <a:bodyPr wrap="square" lIns="0" tIns="0" rIns="0" bIns="0" rtlCol="0" anchor="ctr"/>
          <a:lstStyle/>
          <a:p>
            <a:pPr marL="342900" indent="-342900">
              <a:buSzPct val="100000"/>
              <a:buChar char="•"/>
            </a:pPr>
            <a:r>
              <a:rPr lang="en-US" sz="1000" dirty="0">
                <a:solidFill>
                  <a:srgbClr val="E2E8F0"/>
                </a:solidFill>
                <a:latin typeface="Calibri" pitchFamily="34" charset="0"/>
                <a:ea typeface="Calibri" pitchFamily="34" charset="-122"/>
                <a:cs typeface="Calibri" pitchFamily="34" charset="-120"/>
              </a:rPr>
              <a:t>อย่า mutate ของเดิม (เช่น s.items.push) — Zustand ใช้ shallow compare; ต้อง return ของใหม่</a:t>
            </a:r>
            <a:endParaRPr lang="en-US" sz="1000" dirty="0"/>
          </a:p>
          <a:p>
            <a:pPr marL="342900" indent="-342900">
              <a:buSzPct val="100000"/>
              <a:buChar char="•"/>
            </a:pPr>
            <a:r>
              <a:rPr lang="en-US" sz="1000" dirty="0">
                <a:solidFill>
                  <a:srgbClr val="E2E8F0"/>
                </a:solidFill>
                <a:latin typeface="Calibri" pitchFamily="34" charset="0"/>
                <a:ea typeface="Calibri" pitchFamily="34" charset="-122"/>
                <a:cs typeface="Calibri" pitchFamily="34" charset="-120"/>
              </a:rPr>
              <a:t>total() เป็น method ไม่ใช่ derived state — re-compute ทุกครั้ง; ถ้าหนักให้ใช้ memo ฝั่ง component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11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Selectors ลด re-render</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subscribe เฉพาะ slice ที่ต้องการ</a:t>
            </a:r>
            <a:endParaRPr lang="en-US" sz="1300" dirty="0"/>
          </a:p>
        </p:txBody>
      </p:sp>
      <p:sp>
        <p:nvSpPr>
          <p:cNvPr id="6" name="Text 4"/>
          <p:cNvSpPr/>
          <p:nvPr/>
        </p:nvSpPr>
        <p:spPr>
          <a:xfrm>
            <a:off x="457200" y="1325880"/>
            <a:ext cx="429768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useStore() แบบไม่มี selector → re-render เมื่อ state ใด ๆ เปลี่ยน</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useStore(s =&gt; s.count) → re-render เฉพาะตอน count เปลี่ยน</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Zustand เปรียบเทียบด้วย Object.is (strict equality)</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เลือก primitive ตรง ๆ ดีที่สุด</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ถ้าเลือก object/array → ต้องใช้ shallow equal</a:t>
            </a:r>
            <a:endParaRPr lang="en-US" sz="1400" dirty="0"/>
          </a:p>
        </p:txBody>
      </p:sp>
      <p:sp>
        <p:nvSpPr>
          <p:cNvPr id="7" name="Shape 5"/>
          <p:cNvSpPr/>
          <p:nvPr/>
        </p:nvSpPr>
        <p:spPr>
          <a:xfrm>
            <a:off x="4754880" y="1325880"/>
            <a:ext cx="4023360" cy="3200400"/>
          </a:xfrm>
          <a:prstGeom prst="rect">
            <a:avLst/>
          </a:prstGeom>
          <a:solidFill>
            <a:srgbClr val="050B17"/>
          </a:solidFill>
          <a:ln w="12700">
            <a:solidFill>
              <a:srgbClr val="1B2C47"/>
            </a:solidFill>
            <a:prstDash val="solid"/>
          </a:ln>
        </p:spPr>
      </p:sp>
      <p:sp>
        <p:nvSpPr>
          <p:cNvPr id="8" name="Shape 6"/>
          <p:cNvSpPr/>
          <p:nvPr/>
        </p:nvSpPr>
        <p:spPr>
          <a:xfrm>
            <a:off x="4754880" y="1325880"/>
            <a:ext cx="4023360" cy="228600"/>
          </a:xfrm>
          <a:prstGeom prst="rect">
            <a:avLst/>
          </a:prstGeom>
          <a:solidFill>
            <a:srgbClr val="1B2C47"/>
          </a:solidFill>
          <a:ln/>
        </p:spPr>
      </p:sp>
      <p:sp>
        <p:nvSpPr>
          <p:cNvPr id="9" name="Shape 7"/>
          <p:cNvSpPr/>
          <p:nvPr/>
        </p:nvSpPr>
        <p:spPr>
          <a:xfrm>
            <a:off x="4846320" y="1389888"/>
            <a:ext cx="100584" cy="100584"/>
          </a:xfrm>
          <a:prstGeom prst="ellipse">
            <a:avLst/>
          </a:prstGeom>
          <a:solidFill>
            <a:srgbClr val="F87171"/>
          </a:solidFill>
          <a:ln/>
        </p:spPr>
      </p:sp>
      <p:sp>
        <p:nvSpPr>
          <p:cNvPr id="10" name="Shape 8"/>
          <p:cNvSpPr/>
          <p:nvPr/>
        </p:nvSpPr>
        <p:spPr>
          <a:xfrm>
            <a:off x="5010912" y="1389888"/>
            <a:ext cx="100584" cy="100584"/>
          </a:xfrm>
          <a:prstGeom prst="ellipse">
            <a:avLst/>
          </a:prstGeom>
          <a:solidFill>
            <a:srgbClr val="FBBF24"/>
          </a:solidFill>
          <a:ln/>
        </p:spPr>
      </p:sp>
      <p:sp>
        <p:nvSpPr>
          <p:cNvPr id="11" name="Shape 9"/>
          <p:cNvSpPr/>
          <p:nvPr/>
        </p:nvSpPr>
        <p:spPr>
          <a:xfrm>
            <a:off x="5175504" y="1389888"/>
            <a:ext cx="100584" cy="100584"/>
          </a:xfrm>
          <a:prstGeom prst="ellipse">
            <a:avLst/>
          </a:prstGeom>
          <a:solidFill>
            <a:srgbClr val="34D399"/>
          </a:solidFill>
          <a:ln/>
        </p:spPr>
      </p:sp>
      <p:sp>
        <p:nvSpPr>
          <p:cNvPr id="12" name="Text 10"/>
          <p:cNvSpPr/>
          <p:nvPr/>
        </p:nvSpPr>
        <p:spPr>
          <a:xfrm>
            <a:off x="7680960" y="1344168"/>
            <a:ext cx="1005840" cy="192024"/>
          </a:xfrm>
          <a:prstGeom prst="rect">
            <a:avLst/>
          </a:prstGeom>
          <a:noFill/>
          <a:ln/>
        </p:spPr>
        <p:txBody>
          <a:bodyPr wrap="square" lIns="0" tIns="0" rIns="0" bIns="0" rtlCol="0" anchor="ctr"/>
          <a:lstStyle/>
          <a:p>
            <a:pPr marL="0" indent="0" algn="r">
              <a:buNone/>
            </a:pPr>
            <a:r>
              <a:rPr lang="en-US" sz="800" dirty="0">
                <a:solidFill>
                  <a:srgbClr val="94A3B8"/>
                </a:solidFill>
                <a:latin typeface="Consolas" pitchFamily="34" charset="0"/>
                <a:ea typeface="Consolas" pitchFamily="34" charset="-122"/>
                <a:cs typeface="Consolas" pitchFamily="34" charset="-120"/>
              </a:rPr>
              <a:t>javascript</a:t>
            </a:r>
            <a:endParaRPr lang="en-US" sz="800" dirty="0"/>
          </a:p>
        </p:txBody>
      </p:sp>
      <p:sp>
        <p:nvSpPr>
          <p:cNvPr id="13" name="Text 11"/>
          <p:cNvSpPr/>
          <p:nvPr/>
        </p:nvSpPr>
        <p:spPr>
          <a:xfrm>
            <a:off x="4892040" y="1618488"/>
            <a:ext cx="3749040" cy="2834640"/>
          </a:xfrm>
          <a:prstGeom prst="rect">
            <a:avLst/>
          </a:prstGeom>
          <a:noFill/>
          <a:ln/>
        </p:spPr>
        <p:txBody>
          <a:bodyPr wrap="square" lIns="0" tIns="0" rIns="0" bIns="0" rtlCol="0" anchor="t"/>
          <a:lstStyle/>
          <a:p>
            <a:pPr marL="0" indent="0">
              <a:buNone/>
            </a:pPr>
            <a:r>
              <a:rPr lang="en-US" sz="1000" dirty="0">
                <a:solidFill>
                  <a:srgbClr val="C7F9FF"/>
                </a:solidFill>
                <a:latin typeface="Consolas" pitchFamily="34" charset="0"/>
                <a:ea typeface="Consolas" pitchFamily="34" charset="-122"/>
                <a:cs typeface="Consolas" pitchFamily="34" charset="-120"/>
              </a:rPr>
              <a:t>import { useShallow } from "zustand/react/shallow";</a:t>
            </a:r>
            <a:endParaRPr lang="en-US" sz="1000" dirty="0"/>
          </a:p>
          <a:p>
            <a:pPr marL="0" indent="0">
              <a:buNone/>
            </a:pP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 ดึง object ทั้งก้อน — re-render บ่อย</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const { count, inc } = useCounterStore();</a:t>
            </a:r>
            <a:endParaRPr lang="en-US" sz="1000" dirty="0"/>
          </a:p>
          <a:p>
            <a:pPr marL="0" indent="0">
              <a:buNone/>
            </a:pP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 เลือกค่าทีละตัว</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const count = useCounterStore(s =&gt; s.count);</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const inc   = useCounterStore(s =&gt; s.inc);</a:t>
            </a:r>
            <a:endParaRPr lang="en-US" sz="1000" dirty="0"/>
          </a:p>
          <a:p>
            <a:pPr marL="0" indent="0">
              <a:buNone/>
            </a:pP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 เลือกหลายค่าพร้อม shallow compare</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const { count, inc } = useCounterStore(</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useShallow(s =&gt; ({ count: s.count, inc: s.inc }))</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a:t>
            </a:r>
            <a:endParaRPr lang="en-US" sz="1000" dirty="0"/>
          </a:p>
        </p:txBody>
      </p:sp>
      <p:sp>
        <p:nvSpPr>
          <p:cNvPr id="14" name="Shape 12"/>
          <p:cNvSpPr/>
          <p:nvPr/>
        </p:nvSpPr>
        <p:spPr>
          <a:xfrm>
            <a:off x="457200" y="4023360"/>
            <a:ext cx="8229600" cy="777240"/>
          </a:xfrm>
          <a:prstGeom prst="rect">
            <a:avLst/>
          </a:prstGeom>
          <a:solidFill>
            <a:srgbClr val="132238"/>
          </a:solidFill>
          <a:ln w="12700">
            <a:solidFill>
              <a:srgbClr val="F472B6"/>
            </a:solidFill>
            <a:prstDash val="solid"/>
          </a:ln>
        </p:spPr>
      </p:sp>
      <p:sp>
        <p:nvSpPr>
          <p:cNvPr id="15" name="Text 13"/>
          <p:cNvSpPr/>
          <p:nvPr/>
        </p:nvSpPr>
        <p:spPr>
          <a:xfrm>
            <a:off x="594360" y="4069080"/>
            <a:ext cx="7955280" cy="228600"/>
          </a:xfrm>
          <a:prstGeom prst="rect">
            <a:avLst/>
          </a:prstGeom>
          <a:noFill/>
          <a:ln/>
        </p:spPr>
        <p:txBody>
          <a:bodyPr wrap="square" lIns="0" tIns="0" rIns="0" bIns="0" rtlCol="0" anchor="ctr"/>
          <a:lstStyle/>
          <a:p>
            <a:pPr marL="0" indent="0">
              <a:buNone/>
            </a:pPr>
            <a:r>
              <a:rPr lang="en-US" sz="1100" b="1" dirty="0">
                <a:solidFill>
                  <a:srgbClr val="F472B6"/>
                </a:solidFill>
                <a:latin typeface="Calibri" pitchFamily="34" charset="0"/>
                <a:ea typeface="Calibri" pitchFamily="34" charset="-122"/>
                <a:cs typeface="Calibri" pitchFamily="34" charset="-120"/>
              </a:rPr>
              <a:t>⚠ Pitfalls / ข้อควรระวัง</a:t>
            </a:r>
            <a:endParaRPr lang="en-US" sz="1100" dirty="0"/>
          </a:p>
        </p:txBody>
      </p:sp>
      <p:sp>
        <p:nvSpPr>
          <p:cNvPr id="16" name="Text 14"/>
          <p:cNvSpPr/>
          <p:nvPr/>
        </p:nvSpPr>
        <p:spPr>
          <a:xfrm>
            <a:off x="594360" y="4297680"/>
            <a:ext cx="7955280" cy="457200"/>
          </a:xfrm>
          <a:prstGeom prst="rect">
            <a:avLst/>
          </a:prstGeom>
          <a:noFill/>
          <a:ln/>
        </p:spPr>
        <p:txBody>
          <a:bodyPr wrap="square" lIns="0" tIns="0" rIns="0" bIns="0" rtlCol="0" anchor="ctr"/>
          <a:lstStyle/>
          <a:p>
            <a:pPr marL="342900" indent="-342900">
              <a:buSzPct val="100000"/>
              <a:buChar char="•"/>
            </a:pPr>
            <a:r>
              <a:rPr lang="en-US" sz="1000" dirty="0">
                <a:solidFill>
                  <a:srgbClr val="E2E8F0"/>
                </a:solidFill>
                <a:latin typeface="Calibri" pitchFamily="34" charset="0"/>
                <a:ea typeface="Calibri" pitchFamily="34" charset="-122"/>
                <a:cs typeface="Calibri" pitchFamily="34" charset="-120"/>
              </a:rPr>
              <a:t>อย่าสร้าง object ใหม่ใน selector โดยไม่มี shallow compare — ทุก render จะ !== ของเดิม</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12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Pattern: per-value vs whole-object</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เลือกแบบไหนเมื่อไหร่?</a:t>
            </a:r>
            <a:endParaRPr lang="en-US" sz="1300" dirty="0"/>
          </a:p>
        </p:txBody>
      </p:sp>
      <p:sp>
        <p:nvSpPr>
          <p:cNvPr id="6" name="Shape 4"/>
          <p:cNvSpPr/>
          <p:nvPr/>
        </p:nvSpPr>
        <p:spPr>
          <a:xfrm>
            <a:off x="457200" y="1280160"/>
            <a:ext cx="4023360" cy="2651760"/>
          </a:xfrm>
          <a:prstGeom prst="roundRect">
            <a:avLst>
              <a:gd name="adj" fmla="val 3448"/>
            </a:avLst>
          </a:prstGeom>
          <a:solidFill>
            <a:srgbClr val="132238"/>
          </a:solidFill>
          <a:ln w="19050">
            <a:solidFill>
              <a:srgbClr val="A3E635"/>
            </a:solidFill>
            <a:prstDash val="solid"/>
          </a:ln>
        </p:spPr>
      </p:sp>
      <p:sp>
        <p:nvSpPr>
          <p:cNvPr id="7" name="Text 5"/>
          <p:cNvSpPr/>
          <p:nvPr/>
        </p:nvSpPr>
        <p:spPr>
          <a:xfrm>
            <a:off x="640080" y="1371600"/>
            <a:ext cx="3657600" cy="320040"/>
          </a:xfrm>
          <a:prstGeom prst="rect">
            <a:avLst/>
          </a:prstGeom>
          <a:noFill/>
          <a:ln/>
        </p:spPr>
        <p:txBody>
          <a:bodyPr wrap="square" lIns="0" tIns="0" rIns="0" bIns="0" rtlCol="0" anchor="ctr"/>
          <a:lstStyle/>
          <a:p>
            <a:pPr marL="0" indent="0">
              <a:buNone/>
            </a:pPr>
            <a:r>
              <a:rPr lang="en-US" sz="1400" b="1" dirty="0">
                <a:solidFill>
                  <a:srgbClr val="A3E635"/>
                </a:solidFill>
                <a:latin typeface="Calibri" pitchFamily="34" charset="0"/>
                <a:ea typeface="Calibri" pitchFamily="34" charset="-122"/>
                <a:cs typeface="Calibri" pitchFamily="34" charset="-120"/>
              </a:rPr>
              <a:t>Per-value selector</a:t>
            </a:r>
            <a:endParaRPr lang="en-US" sz="1400" dirty="0"/>
          </a:p>
        </p:txBody>
      </p:sp>
      <p:sp>
        <p:nvSpPr>
          <p:cNvPr id="8" name="Text 6"/>
          <p:cNvSpPr/>
          <p:nvPr/>
        </p:nvSpPr>
        <p:spPr>
          <a:xfrm>
            <a:off x="640080" y="1691640"/>
            <a:ext cx="3657600" cy="9144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ข้อดี: re-render น้อย, อ่านง่าย</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ข้อเสีย: เขียนหลายบรรทัดถ้าใช้หลายค่า</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ใช้กับ: primitive, action ที่เรียกบ่อย</a:t>
            </a:r>
            <a:endParaRPr lang="en-US" sz="1100" dirty="0"/>
          </a:p>
        </p:txBody>
      </p:sp>
      <p:sp>
        <p:nvSpPr>
          <p:cNvPr id="9" name="Text 7"/>
          <p:cNvSpPr/>
          <p:nvPr/>
        </p:nvSpPr>
        <p:spPr>
          <a:xfrm>
            <a:off x="640080" y="2697480"/>
            <a:ext cx="3657600" cy="1097280"/>
          </a:xfrm>
          <a:prstGeom prst="rect">
            <a:avLst/>
          </a:prstGeom>
          <a:solidFill>
            <a:srgbClr val="050B17"/>
          </a:solidFill>
          <a:ln/>
        </p:spPr>
        <p:txBody>
          <a:bodyPr wrap="square" lIns="0" tIns="0" rIns="0" bIns="0" rtlCol="0" anchor="ctr"/>
          <a:lstStyle/>
          <a:p>
            <a:pPr marL="0" indent="0">
              <a:buNone/>
            </a:pPr>
            <a:r>
              <a:rPr lang="en-US" sz="1000" dirty="0">
                <a:solidFill>
                  <a:srgbClr val="C7F9FF"/>
                </a:solidFill>
                <a:latin typeface="Consolas" pitchFamily="34" charset="0"/>
                <a:ea typeface="Consolas" pitchFamily="34" charset="-122"/>
                <a:cs typeface="Consolas" pitchFamily="34" charset="-120"/>
              </a:rPr>
              <a:t>const a = useStore(s =&gt; s.a);</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const b = useStore(s =&gt; s.b);</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const c = useStore(s =&gt; s.c);</a:t>
            </a:r>
            <a:endParaRPr lang="en-US" sz="1000" dirty="0"/>
          </a:p>
        </p:txBody>
      </p:sp>
      <p:sp>
        <p:nvSpPr>
          <p:cNvPr id="10" name="Shape 8"/>
          <p:cNvSpPr/>
          <p:nvPr/>
        </p:nvSpPr>
        <p:spPr>
          <a:xfrm>
            <a:off x="4663440" y="1280160"/>
            <a:ext cx="4023360" cy="2651760"/>
          </a:xfrm>
          <a:prstGeom prst="roundRect">
            <a:avLst>
              <a:gd name="adj" fmla="val 3448"/>
            </a:avLst>
          </a:prstGeom>
          <a:solidFill>
            <a:srgbClr val="132238"/>
          </a:solidFill>
          <a:ln w="19050">
            <a:solidFill>
              <a:srgbClr val="22D3EE"/>
            </a:solidFill>
            <a:prstDash val="solid"/>
          </a:ln>
        </p:spPr>
      </p:sp>
      <p:sp>
        <p:nvSpPr>
          <p:cNvPr id="11" name="Text 9"/>
          <p:cNvSpPr/>
          <p:nvPr/>
        </p:nvSpPr>
        <p:spPr>
          <a:xfrm>
            <a:off x="4846320" y="1371600"/>
            <a:ext cx="3657600" cy="320040"/>
          </a:xfrm>
          <a:prstGeom prst="rect">
            <a:avLst/>
          </a:prstGeom>
          <a:noFill/>
          <a:ln/>
        </p:spPr>
        <p:txBody>
          <a:bodyPr wrap="square" lIns="0" tIns="0" rIns="0" bIns="0"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Whole-object + useShallow</a:t>
            </a:r>
            <a:endParaRPr lang="en-US" sz="1400" dirty="0"/>
          </a:p>
        </p:txBody>
      </p:sp>
      <p:sp>
        <p:nvSpPr>
          <p:cNvPr id="12" name="Text 10"/>
          <p:cNvSpPr/>
          <p:nvPr/>
        </p:nvSpPr>
        <p:spPr>
          <a:xfrm>
            <a:off x="4846320" y="1691640"/>
            <a:ext cx="3657600" cy="9144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ข้อดี: เขียนรวบบรรทัดเดียว</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ข้อเสีย: ลืม useShallow → bug performance</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ใช้กับ: หลายค่า, ดึง action group</a:t>
            </a:r>
            <a:endParaRPr lang="en-US" sz="1100" dirty="0"/>
          </a:p>
        </p:txBody>
      </p:sp>
      <p:sp>
        <p:nvSpPr>
          <p:cNvPr id="13" name="Text 11"/>
          <p:cNvSpPr/>
          <p:nvPr/>
        </p:nvSpPr>
        <p:spPr>
          <a:xfrm>
            <a:off x="4846320" y="2697480"/>
            <a:ext cx="3657600" cy="1097280"/>
          </a:xfrm>
          <a:prstGeom prst="rect">
            <a:avLst/>
          </a:prstGeom>
          <a:solidFill>
            <a:srgbClr val="050B17"/>
          </a:solidFill>
          <a:ln/>
        </p:spPr>
        <p:txBody>
          <a:bodyPr wrap="square" lIns="0" tIns="0" rIns="0" bIns="0" rtlCol="0" anchor="ctr"/>
          <a:lstStyle/>
          <a:p>
            <a:pPr marL="0" indent="0">
              <a:buNone/>
            </a:pPr>
            <a:r>
              <a:rPr lang="en-US" sz="1000" dirty="0">
                <a:solidFill>
                  <a:srgbClr val="C7F9FF"/>
                </a:solidFill>
                <a:latin typeface="Consolas" pitchFamily="34" charset="0"/>
                <a:ea typeface="Consolas" pitchFamily="34" charset="-122"/>
                <a:cs typeface="Consolas" pitchFamily="34" charset="-120"/>
              </a:rPr>
              <a:t>const { a, b, c } = useStore(</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useShallow(s =&gt; ({</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a: s.a, b: s.b, c: s.c</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a:t>
            </a:r>
            <a:endParaRPr lang="en-US" sz="1000" dirty="0"/>
          </a:p>
        </p:txBody>
      </p:sp>
      <p:sp>
        <p:nvSpPr>
          <p:cNvPr id="14" name="Shape 12"/>
          <p:cNvSpPr/>
          <p:nvPr/>
        </p:nvSpPr>
        <p:spPr>
          <a:xfrm>
            <a:off x="457200" y="4023360"/>
            <a:ext cx="8229600" cy="777240"/>
          </a:xfrm>
          <a:prstGeom prst="rect">
            <a:avLst/>
          </a:prstGeom>
          <a:solidFill>
            <a:srgbClr val="132238"/>
          </a:solidFill>
          <a:ln w="12700">
            <a:solidFill>
              <a:srgbClr val="F472B6"/>
            </a:solidFill>
            <a:prstDash val="solid"/>
          </a:ln>
        </p:spPr>
      </p:sp>
      <p:sp>
        <p:nvSpPr>
          <p:cNvPr id="15" name="Text 13"/>
          <p:cNvSpPr/>
          <p:nvPr/>
        </p:nvSpPr>
        <p:spPr>
          <a:xfrm>
            <a:off x="594360" y="4069080"/>
            <a:ext cx="7955280" cy="228600"/>
          </a:xfrm>
          <a:prstGeom prst="rect">
            <a:avLst/>
          </a:prstGeom>
          <a:noFill/>
          <a:ln/>
        </p:spPr>
        <p:txBody>
          <a:bodyPr wrap="square" lIns="0" tIns="0" rIns="0" bIns="0" rtlCol="0" anchor="ctr"/>
          <a:lstStyle/>
          <a:p>
            <a:pPr marL="0" indent="0">
              <a:buNone/>
            </a:pPr>
            <a:r>
              <a:rPr lang="en-US" sz="1100" b="1" dirty="0">
                <a:solidFill>
                  <a:srgbClr val="F472B6"/>
                </a:solidFill>
                <a:latin typeface="Calibri" pitchFamily="34" charset="0"/>
                <a:ea typeface="Calibri" pitchFamily="34" charset="-122"/>
                <a:cs typeface="Calibri" pitchFamily="34" charset="-120"/>
              </a:rPr>
              <a:t>⚠ Pitfalls / ข้อควรระวัง</a:t>
            </a:r>
            <a:endParaRPr lang="en-US" sz="1100" dirty="0"/>
          </a:p>
        </p:txBody>
      </p:sp>
      <p:sp>
        <p:nvSpPr>
          <p:cNvPr id="16" name="Text 14"/>
          <p:cNvSpPr/>
          <p:nvPr/>
        </p:nvSpPr>
        <p:spPr>
          <a:xfrm>
            <a:off x="594360" y="4297680"/>
            <a:ext cx="7955280" cy="457200"/>
          </a:xfrm>
          <a:prstGeom prst="rect">
            <a:avLst/>
          </a:prstGeom>
          <a:noFill/>
          <a:ln/>
        </p:spPr>
        <p:txBody>
          <a:bodyPr wrap="square" lIns="0" tIns="0" rIns="0" bIns="0" rtlCol="0" anchor="ctr"/>
          <a:lstStyle/>
          <a:p>
            <a:pPr marL="342900" indent="-342900">
              <a:buSzPct val="100000"/>
              <a:buChar char="•"/>
            </a:pPr>
            <a:r>
              <a:rPr lang="en-US" sz="1000" dirty="0">
                <a:solidFill>
                  <a:srgbClr val="E2E8F0"/>
                </a:solidFill>
                <a:latin typeface="Calibri" pitchFamily="34" charset="0"/>
                <a:ea typeface="Calibri" pitchFamily="34" charset="-122"/>
                <a:cs typeface="Calibri" pitchFamily="34" charset="-120"/>
              </a:rPr>
              <a:t>Default rule: เริ่มด้วย per-value ก่อน — ใช้ shallow ก็ต่อเมื่อยุ่งยากจริง</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13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โครงสร้างโฟลเดอร์ src/stores/*</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แยก domain — ไม่ยัดทุกอย่างใน global store</a:t>
            </a:r>
            <a:endParaRPr lang="en-US" sz="1300" dirty="0"/>
          </a:p>
        </p:txBody>
      </p:sp>
      <p:sp>
        <p:nvSpPr>
          <p:cNvPr id="6" name="Text 4"/>
          <p:cNvSpPr/>
          <p:nvPr/>
        </p:nvSpPr>
        <p:spPr>
          <a:xfrm>
            <a:off x="457200" y="1325880"/>
            <a:ext cx="420624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1 store = 1 domain (auth, cart, ui, todos…)</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ไม่ทำ god store ก้อนเดียว — ดูแลยาก</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vanilla = createStore แยกออกถ้าใช้นอก React</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types/ เก็บ TS interface ของ state</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selectors/ (optional) แยก derived selector ที่ใช้ซ้ำ</a:t>
            </a:r>
            <a:endParaRPr lang="en-US" sz="1400" dirty="0"/>
          </a:p>
        </p:txBody>
      </p:sp>
      <p:sp>
        <p:nvSpPr>
          <p:cNvPr id="7" name="Shape 5"/>
          <p:cNvSpPr/>
          <p:nvPr/>
        </p:nvSpPr>
        <p:spPr>
          <a:xfrm>
            <a:off x="4754880" y="1325880"/>
            <a:ext cx="4023360" cy="3200400"/>
          </a:xfrm>
          <a:prstGeom prst="rect">
            <a:avLst/>
          </a:prstGeom>
          <a:solidFill>
            <a:srgbClr val="050B17"/>
          </a:solidFill>
          <a:ln w="12700">
            <a:solidFill>
              <a:srgbClr val="1B2C47"/>
            </a:solidFill>
            <a:prstDash val="solid"/>
          </a:ln>
        </p:spPr>
      </p:sp>
      <p:sp>
        <p:nvSpPr>
          <p:cNvPr id="8" name="Shape 6"/>
          <p:cNvSpPr/>
          <p:nvPr/>
        </p:nvSpPr>
        <p:spPr>
          <a:xfrm>
            <a:off x="4754880" y="1325880"/>
            <a:ext cx="4023360" cy="228600"/>
          </a:xfrm>
          <a:prstGeom prst="rect">
            <a:avLst/>
          </a:prstGeom>
          <a:solidFill>
            <a:srgbClr val="1B2C47"/>
          </a:solidFill>
          <a:ln/>
        </p:spPr>
      </p:sp>
      <p:sp>
        <p:nvSpPr>
          <p:cNvPr id="9" name="Shape 7"/>
          <p:cNvSpPr/>
          <p:nvPr/>
        </p:nvSpPr>
        <p:spPr>
          <a:xfrm>
            <a:off x="4846320" y="1389888"/>
            <a:ext cx="100584" cy="100584"/>
          </a:xfrm>
          <a:prstGeom prst="ellipse">
            <a:avLst/>
          </a:prstGeom>
          <a:solidFill>
            <a:srgbClr val="F87171"/>
          </a:solidFill>
          <a:ln/>
        </p:spPr>
      </p:sp>
      <p:sp>
        <p:nvSpPr>
          <p:cNvPr id="10" name="Shape 8"/>
          <p:cNvSpPr/>
          <p:nvPr/>
        </p:nvSpPr>
        <p:spPr>
          <a:xfrm>
            <a:off x="5010912" y="1389888"/>
            <a:ext cx="100584" cy="100584"/>
          </a:xfrm>
          <a:prstGeom prst="ellipse">
            <a:avLst/>
          </a:prstGeom>
          <a:solidFill>
            <a:srgbClr val="FBBF24"/>
          </a:solidFill>
          <a:ln/>
        </p:spPr>
      </p:sp>
      <p:sp>
        <p:nvSpPr>
          <p:cNvPr id="11" name="Shape 9"/>
          <p:cNvSpPr/>
          <p:nvPr/>
        </p:nvSpPr>
        <p:spPr>
          <a:xfrm>
            <a:off x="5175504" y="1389888"/>
            <a:ext cx="100584" cy="100584"/>
          </a:xfrm>
          <a:prstGeom prst="ellipse">
            <a:avLst/>
          </a:prstGeom>
          <a:solidFill>
            <a:srgbClr val="34D399"/>
          </a:solidFill>
          <a:ln/>
        </p:spPr>
      </p:sp>
      <p:sp>
        <p:nvSpPr>
          <p:cNvPr id="12" name="Text 10"/>
          <p:cNvSpPr/>
          <p:nvPr/>
        </p:nvSpPr>
        <p:spPr>
          <a:xfrm>
            <a:off x="7680960" y="1344168"/>
            <a:ext cx="1005840" cy="192024"/>
          </a:xfrm>
          <a:prstGeom prst="rect">
            <a:avLst/>
          </a:prstGeom>
          <a:noFill/>
          <a:ln/>
        </p:spPr>
        <p:txBody>
          <a:bodyPr wrap="square" lIns="0" tIns="0" rIns="0" bIns="0" rtlCol="0" anchor="ctr"/>
          <a:lstStyle/>
          <a:p>
            <a:pPr marL="0" indent="0" algn="r">
              <a:buNone/>
            </a:pPr>
            <a:r>
              <a:rPr lang="en-US" sz="800" dirty="0">
                <a:solidFill>
                  <a:srgbClr val="94A3B8"/>
                </a:solidFill>
                <a:latin typeface="Consolas" pitchFamily="34" charset="0"/>
                <a:ea typeface="Consolas" pitchFamily="34" charset="-122"/>
                <a:cs typeface="Consolas" pitchFamily="34" charset="-120"/>
              </a:rPr>
              <a:t>text</a:t>
            </a:r>
            <a:endParaRPr lang="en-US" sz="800" dirty="0"/>
          </a:p>
        </p:txBody>
      </p:sp>
      <p:sp>
        <p:nvSpPr>
          <p:cNvPr id="13" name="Text 11"/>
          <p:cNvSpPr/>
          <p:nvPr/>
        </p:nvSpPr>
        <p:spPr>
          <a:xfrm>
            <a:off x="4892040" y="1618488"/>
            <a:ext cx="3749040" cy="2834640"/>
          </a:xfrm>
          <a:prstGeom prst="rect">
            <a:avLst/>
          </a:prstGeom>
          <a:noFill/>
          <a:ln/>
        </p:spPr>
        <p:txBody>
          <a:bodyPr wrap="square" lIns="0" tIns="0" rIns="0" bIns="0" rtlCol="0" anchor="t"/>
          <a:lstStyle/>
          <a:p>
            <a:pPr marL="0" indent="0">
              <a:buNone/>
            </a:pPr>
            <a:r>
              <a:rPr lang="en-US" sz="1000" dirty="0">
                <a:solidFill>
                  <a:srgbClr val="C7F9FF"/>
                </a:solidFill>
                <a:latin typeface="Consolas" pitchFamily="34" charset="0"/>
                <a:ea typeface="Consolas" pitchFamily="34" charset="-122"/>
                <a:cs typeface="Consolas" pitchFamily="34" charset="-120"/>
              </a:rPr>
              <a:t>src/</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stores/</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 index.ts        // barrel export</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 auth.store.ts</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 cart.store.ts</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 ui.store.ts</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 types.ts</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services/          // API calls</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components/</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pages/</a:t>
            </a:r>
            <a:endParaRPr lang="en-US" sz="1000" dirty="0"/>
          </a:p>
          <a:p>
            <a:pPr marL="0" indent="0">
              <a:buNone/>
            </a:pP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stores/index.ts</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export * from "./auth.store";</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export * from "./cart.store";</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export * from "./ui.store";</a:t>
            </a:r>
            <a:endParaRPr lang="en-US" sz="1000" dirty="0"/>
          </a:p>
        </p:txBody>
      </p:sp>
      <p:sp>
        <p:nvSpPr>
          <p:cNvPr id="14" name="Shape 12"/>
          <p:cNvSpPr/>
          <p:nvPr/>
        </p:nvSpPr>
        <p:spPr>
          <a:xfrm>
            <a:off x="457200" y="4023360"/>
            <a:ext cx="8229600" cy="777240"/>
          </a:xfrm>
          <a:prstGeom prst="rect">
            <a:avLst/>
          </a:prstGeom>
          <a:solidFill>
            <a:srgbClr val="132238"/>
          </a:solidFill>
          <a:ln w="12700">
            <a:solidFill>
              <a:srgbClr val="F472B6"/>
            </a:solidFill>
            <a:prstDash val="solid"/>
          </a:ln>
        </p:spPr>
      </p:sp>
      <p:sp>
        <p:nvSpPr>
          <p:cNvPr id="15" name="Text 13"/>
          <p:cNvSpPr/>
          <p:nvPr/>
        </p:nvSpPr>
        <p:spPr>
          <a:xfrm>
            <a:off x="594360" y="4069080"/>
            <a:ext cx="7955280" cy="228600"/>
          </a:xfrm>
          <a:prstGeom prst="rect">
            <a:avLst/>
          </a:prstGeom>
          <a:noFill/>
          <a:ln/>
        </p:spPr>
        <p:txBody>
          <a:bodyPr wrap="square" lIns="0" tIns="0" rIns="0" bIns="0" rtlCol="0" anchor="ctr"/>
          <a:lstStyle/>
          <a:p>
            <a:pPr marL="0" indent="0">
              <a:buNone/>
            </a:pPr>
            <a:r>
              <a:rPr lang="en-US" sz="1100" b="1" dirty="0">
                <a:solidFill>
                  <a:srgbClr val="F472B6"/>
                </a:solidFill>
                <a:latin typeface="Calibri" pitchFamily="34" charset="0"/>
                <a:ea typeface="Calibri" pitchFamily="34" charset="-122"/>
                <a:cs typeface="Calibri" pitchFamily="34" charset="-120"/>
              </a:rPr>
              <a:t>⚠ Pitfalls / ข้อควรระวัง</a:t>
            </a:r>
            <a:endParaRPr lang="en-US" sz="1100" dirty="0"/>
          </a:p>
        </p:txBody>
      </p:sp>
      <p:sp>
        <p:nvSpPr>
          <p:cNvPr id="16" name="Text 14"/>
          <p:cNvSpPr/>
          <p:nvPr/>
        </p:nvSpPr>
        <p:spPr>
          <a:xfrm>
            <a:off x="594360" y="4297680"/>
            <a:ext cx="7955280" cy="457200"/>
          </a:xfrm>
          <a:prstGeom prst="rect">
            <a:avLst/>
          </a:prstGeom>
          <a:noFill/>
          <a:ln/>
        </p:spPr>
        <p:txBody>
          <a:bodyPr wrap="square" lIns="0" tIns="0" rIns="0" bIns="0" rtlCol="0" anchor="ctr"/>
          <a:lstStyle/>
          <a:p>
            <a:pPr marL="342900" indent="-342900">
              <a:buSzPct val="100000"/>
              <a:buChar char="•"/>
            </a:pPr>
            <a:r>
              <a:rPr lang="en-US" sz="1000" dirty="0">
                <a:solidFill>
                  <a:srgbClr val="E2E8F0"/>
                </a:solidFill>
                <a:latin typeface="Calibri" pitchFamily="34" charset="0"/>
                <a:ea typeface="Calibri" pitchFamily="34" charset="-122"/>
                <a:cs typeface="Calibri" pitchFamily="34" charset="-120"/>
              </a:rPr>
              <a:t>ไม่ต้องเอา local UI state (เช่น isOpen ของ modal เดี่ยว) เข้า store — ใช้ useState ในที่ของมัน</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14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Pitfalls — React patterns</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ข้อผิดพลาดที่เจอบ่อยและวิธีแก้</a:t>
            </a:r>
            <a:endParaRPr lang="en-US" sz="1300" dirty="0"/>
          </a:p>
        </p:txBody>
      </p:sp>
      <p:sp>
        <p:nvSpPr>
          <p:cNvPr id="6" name="Text 4"/>
          <p:cNvSpPr/>
          <p:nvPr/>
        </p:nvSpPr>
        <p:spPr>
          <a:xfrm>
            <a:off x="457200" y="1325880"/>
            <a:ext cx="365760" cy="457200"/>
          </a:xfrm>
          <a:prstGeom prst="rect">
            <a:avLst/>
          </a:prstGeom>
          <a:noFill/>
          <a:ln/>
        </p:spPr>
        <p:txBody>
          <a:bodyPr wrap="square" lIns="0" tIns="0" rIns="0" bIns="0" rtlCol="0" anchor="ctr"/>
          <a:lstStyle/>
          <a:p>
            <a:pPr marL="0" indent="0">
              <a:buNone/>
            </a:pPr>
            <a:r>
              <a:rPr lang="en-US" sz="2200" b="1" dirty="0">
                <a:solidFill>
                  <a:srgbClr val="F472B6"/>
                </a:solidFill>
                <a:latin typeface="Consolas" pitchFamily="34" charset="0"/>
                <a:ea typeface="Consolas" pitchFamily="34" charset="-122"/>
                <a:cs typeface="Consolas" pitchFamily="34" charset="-120"/>
              </a:rPr>
              <a:t>1</a:t>
            </a:r>
            <a:endParaRPr lang="en-US" sz="2200" dirty="0"/>
          </a:p>
        </p:txBody>
      </p:sp>
      <p:sp>
        <p:nvSpPr>
          <p:cNvPr id="7" name="Text 5"/>
          <p:cNvSpPr/>
          <p:nvPr/>
        </p:nvSpPr>
        <p:spPr>
          <a:xfrm>
            <a:off x="868680" y="1325880"/>
            <a:ext cx="4114800" cy="457200"/>
          </a:xfrm>
          <a:prstGeom prst="rect">
            <a:avLst/>
          </a:prstGeom>
          <a:noFill/>
          <a:ln/>
        </p:spPr>
        <p:txBody>
          <a:bodyPr wrap="square" lIns="0" tIns="0" rIns="0" bIns="0" rtlCol="0" anchor="ctr"/>
          <a:lstStyle/>
          <a:p>
            <a:pPr marL="0" indent="0">
              <a:buNone/>
            </a:pPr>
            <a:r>
              <a:rPr lang="en-US" sz="1200" b="1" dirty="0">
                <a:solidFill>
                  <a:srgbClr val="E2E8F0"/>
                </a:solidFill>
                <a:latin typeface="Calibri" pitchFamily="34" charset="0"/>
                <a:ea typeface="Calibri" pitchFamily="34" charset="-122"/>
                <a:cs typeface="Calibri" pitchFamily="34" charset="-120"/>
              </a:rPr>
              <a:t>Select object ทั้งก้อน</a:t>
            </a:r>
            <a:endParaRPr lang="en-US" sz="1200" dirty="0"/>
          </a:p>
        </p:txBody>
      </p:sp>
      <p:sp>
        <p:nvSpPr>
          <p:cNvPr id="8" name="Text 6"/>
          <p:cNvSpPr/>
          <p:nvPr/>
        </p:nvSpPr>
        <p:spPr>
          <a:xfrm>
            <a:off x="5029200" y="1325880"/>
            <a:ext cx="3657600" cy="457200"/>
          </a:xfrm>
          <a:prstGeom prst="rect">
            <a:avLst/>
          </a:prstGeom>
          <a:noFill/>
          <a:ln/>
        </p:spPr>
        <p:txBody>
          <a:bodyPr wrap="square" lIns="0" tIns="0" rIns="0" bIns="0" rtlCol="0" anchor="ctr"/>
          <a:lstStyle/>
          <a:p>
            <a:pPr marL="0" indent="0">
              <a:buNone/>
            </a:pPr>
            <a:r>
              <a:rPr lang="en-US" sz="1100" dirty="0">
                <a:solidFill>
                  <a:srgbClr val="A3E635"/>
                </a:solidFill>
                <a:latin typeface="Calibri" pitchFamily="34" charset="0"/>
                <a:ea typeface="Calibri" pitchFamily="34" charset="-122"/>
                <a:cs typeface="Calibri" pitchFamily="34" charset="-120"/>
              </a:rPr>
              <a:t>→ ใช้ per-value หรือ useShallow</a:t>
            </a:r>
            <a:endParaRPr lang="en-US" sz="1100" dirty="0"/>
          </a:p>
        </p:txBody>
      </p:sp>
      <p:sp>
        <p:nvSpPr>
          <p:cNvPr id="9" name="Text 7"/>
          <p:cNvSpPr/>
          <p:nvPr/>
        </p:nvSpPr>
        <p:spPr>
          <a:xfrm>
            <a:off x="457200" y="1828800"/>
            <a:ext cx="365760" cy="457200"/>
          </a:xfrm>
          <a:prstGeom prst="rect">
            <a:avLst/>
          </a:prstGeom>
          <a:noFill/>
          <a:ln/>
        </p:spPr>
        <p:txBody>
          <a:bodyPr wrap="square" lIns="0" tIns="0" rIns="0" bIns="0" rtlCol="0" anchor="ctr"/>
          <a:lstStyle/>
          <a:p>
            <a:pPr marL="0" indent="0">
              <a:buNone/>
            </a:pPr>
            <a:r>
              <a:rPr lang="en-US" sz="2200" b="1" dirty="0">
                <a:solidFill>
                  <a:srgbClr val="F472B6"/>
                </a:solidFill>
                <a:latin typeface="Consolas" pitchFamily="34" charset="0"/>
                <a:ea typeface="Consolas" pitchFamily="34" charset="-122"/>
                <a:cs typeface="Consolas" pitchFamily="34" charset="-120"/>
              </a:rPr>
              <a:t>2</a:t>
            </a:r>
            <a:endParaRPr lang="en-US" sz="2200" dirty="0"/>
          </a:p>
        </p:txBody>
      </p:sp>
      <p:sp>
        <p:nvSpPr>
          <p:cNvPr id="10" name="Text 8"/>
          <p:cNvSpPr/>
          <p:nvPr/>
        </p:nvSpPr>
        <p:spPr>
          <a:xfrm>
            <a:off x="868680" y="1828800"/>
            <a:ext cx="4114800" cy="457200"/>
          </a:xfrm>
          <a:prstGeom prst="rect">
            <a:avLst/>
          </a:prstGeom>
          <a:noFill/>
          <a:ln/>
        </p:spPr>
        <p:txBody>
          <a:bodyPr wrap="square" lIns="0" tIns="0" rIns="0" bIns="0" rtlCol="0" anchor="ctr"/>
          <a:lstStyle/>
          <a:p>
            <a:pPr marL="0" indent="0">
              <a:buNone/>
            </a:pPr>
            <a:r>
              <a:rPr lang="en-US" sz="1200" b="1" dirty="0">
                <a:solidFill>
                  <a:srgbClr val="E2E8F0"/>
                </a:solidFill>
                <a:latin typeface="Calibri" pitchFamily="34" charset="0"/>
                <a:ea typeface="Calibri" pitchFamily="34" charset="-122"/>
                <a:cs typeface="Calibri" pitchFamily="34" charset="-120"/>
              </a:rPr>
              <a:t>สร้าง selector inline ที่ return object ใหม่</a:t>
            </a:r>
            <a:endParaRPr lang="en-US" sz="1200" dirty="0"/>
          </a:p>
        </p:txBody>
      </p:sp>
      <p:sp>
        <p:nvSpPr>
          <p:cNvPr id="11" name="Text 9"/>
          <p:cNvSpPr/>
          <p:nvPr/>
        </p:nvSpPr>
        <p:spPr>
          <a:xfrm>
            <a:off x="5029200" y="1828800"/>
            <a:ext cx="3657600" cy="457200"/>
          </a:xfrm>
          <a:prstGeom prst="rect">
            <a:avLst/>
          </a:prstGeom>
          <a:noFill/>
          <a:ln/>
        </p:spPr>
        <p:txBody>
          <a:bodyPr wrap="square" lIns="0" tIns="0" rIns="0" bIns="0" rtlCol="0" anchor="ctr"/>
          <a:lstStyle/>
          <a:p>
            <a:pPr marL="0" indent="0">
              <a:buNone/>
            </a:pPr>
            <a:r>
              <a:rPr lang="en-US" sz="1100" dirty="0">
                <a:solidFill>
                  <a:srgbClr val="A3E635"/>
                </a:solidFill>
                <a:latin typeface="Calibri" pitchFamily="34" charset="0"/>
                <a:ea typeface="Calibri" pitchFamily="34" charset="-122"/>
                <a:cs typeface="Calibri" pitchFamily="34" charset="-120"/>
              </a:rPr>
              <a:t>→ ดึง primitive ทีละตัว</a:t>
            </a:r>
            <a:endParaRPr lang="en-US" sz="1100" dirty="0"/>
          </a:p>
        </p:txBody>
      </p:sp>
      <p:sp>
        <p:nvSpPr>
          <p:cNvPr id="12" name="Text 10"/>
          <p:cNvSpPr/>
          <p:nvPr/>
        </p:nvSpPr>
        <p:spPr>
          <a:xfrm>
            <a:off x="457200" y="2331720"/>
            <a:ext cx="365760" cy="457200"/>
          </a:xfrm>
          <a:prstGeom prst="rect">
            <a:avLst/>
          </a:prstGeom>
          <a:noFill/>
          <a:ln/>
        </p:spPr>
        <p:txBody>
          <a:bodyPr wrap="square" lIns="0" tIns="0" rIns="0" bIns="0" rtlCol="0" anchor="ctr"/>
          <a:lstStyle/>
          <a:p>
            <a:pPr marL="0" indent="0">
              <a:buNone/>
            </a:pPr>
            <a:r>
              <a:rPr lang="en-US" sz="2200" b="1" dirty="0">
                <a:solidFill>
                  <a:srgbClr val="F472B6"/>
                </a:solidFill>
                <a:latin typeface="Consolas" pitchFamily="34" charset="0"/>
                <a:ea typeface="Consolas" pitchFamily="34" charset="-122"/>
                <a:cs typeface="Consolas" pitchFamily="34" charset="-120"/>
              </a:rPr>
              <a:t>3</a:t>
            </a:r>
            <a:endParaRPr lang="en-US" sz="2200" dirty="0"/>
          </a:p>
        </p:txBody>
      </p:sp>
      <p:sp>
        <p:nvSpPr>
          <p:cNvPr id="13" name="Text 11"/>
          <p:cNvSpPr/>
          <p:nvPr/>
        </p:nvSpPr>
        <p:spPr>
          <a:xfrm>
            <a:off x="868680" y="2331720"/>
            <a:ext cx="4114800" cy="457200"/>
          </a:xfrm>
          <a:prstGeom prst="rect">
            <a:avLst/>
          </a:prstGeom>
          <a:noFill/>
          <a:ln/>
        </p:spPr>
        <p:txBody>
          <a:bodyPr wrap="square" lIns="0" tIns="0" rIns="0" bIns="0" rtlCol="0" anchor="ctr"/>
          <a:lstStyle/>
          <a:p>
            <a:pPr marL="0" indent="0">
              <a:buNone/>
            </a:pPr>
            <a:r>
              <a:rPr lang="en-US" sz="1200" b="1" dirty="0">
                <a:solidFill>
                  <a:srgbClr val="E2E8F0"/>
                </a:solidFill>
                <a:latin typeface="Calibri" pitchFamily="34" charset="0"/>
                <a:ea typeface="Calibri" pitchFamily="34" charset="-122"/>
                <a:cs typeface="Calibri" pitchFamily="34" charset="-120"/>
              </a:rPr>
              <a:t>เก็บ derived state (เช่น total) ใน store</a:t>
            </a:r>
            <a:endParaRPr lang="en-US" sz="1200" dirty="0"/>
          </a:p>
        </p:txBody>
      </p:sp>
      <p:sp>
        <p:nvSpPr>
          <p:cNvPr id="14" name="Text 12"/>
          <p:cNvSpPr/>
          <p:nvPr/>
        </p:nvSpPr>
        <p:spPr>
          <a:xfrm>
            <a:off x="5029200" y="2331720"/>
            <a:ext cx="3657600" cy="457200"/>
          </a:xfrm>
          <a:prstGeom prst="rect">
            <a:avLst/>
          </a:prstGeom>
          <a:noFill/>
          <a:ln/>
        </p:spPr>
        <p:txBody>
          <a:bodyPr wrap="square" lIns="0" tIns="0" rIns="0" bIns="0" rtlCol="0" anchor="ctr"/>
          <a:lstStyle/>
          <a:p>
            <a:pPr marL="0" indent="0">
              <a:buNone/>
            </a:pPr>
            <a:r>
              <a:rPr lang="en-US" sz="1100" dirty="0">
                <a:solidFill>
                  <a:srgbClr val="A3E635"/>
                </a:solidFill>
                <a:latin typeface="Calibri" pitchFamily="34" charset="0"/>
                <a:ea typeface="Calibri" pitchFamily="34" charset="-122"/>
                <a:cs typeface="Calibri" pitchFamily="34" charset="-120"/>
              </a:rPr>
              <a:t>→ คำนวณตอนใช้ผ่าน selector / memo</a:t>
            </a:r>
            <a:endParaRPr lang="en-US" sz="1100" dirty="0"/>
          </a:p>
        </p:txBody>
      </p:sp>
      <p:sp>
        <p:nvSpPr>
          <p:cNvPr id="15" name="Text 13"/>
          <p:cNvSpPr/>
          <p:nvPr/>
        </p:nvSpPr>
        <p:spPr>
          <a:xfrm>
            <a:off x="457200" y="2834640"/>
            <a:ext cx="365760" cy="457200"/>
          </a:xfrm>
          <a:prstGeom prst="rect">
            <a:avLst/>
          </a:prstGeom>
          <a:noFill/>
          <a:ln/>
        </p:spPr>
        <p:txBody>
          <a:bodyPr wrap="square" lIns="0" tIns="0" rIns="0" bIns="0" rtlCol="0" anchor="ctr"/>
          <a:lstStyle/>
          <a:p>
            <a:pPr marL="0" indent="0">
              <a:buNone/>
            </a:pPr>
            <a:r>
              <a:rPr lang="en-US" sz="2200" b="1" dirty="0">
                <a:solidFill>
                  <a:srgbClr val="F472B6"/>
                </a:solidFill>
                <a:latin typeface="Consolas" pitchFamily="34" charset="0"/>
                <a:ea typeface="Consolas" pitchFamily="34" charset="-122"/>
                <a:cs typeface="Consolas" pitchFamily="34" charset="-120"/>
              </a:rPr>
              <a:t>4</a:t>
            </a:r>
            <a:endParaRPr lang="en-US" sz="2200" dirty="0"/>
          </a:p>
        </p:txBody>
      </p:sp>
      <p:sp>
        <p:nvSpPr>
          <p:cNvPr id="16" name="Text 14"/>
          <p:cNvSpPr/>
          <p:nvPr/>
        </p:nvSpPr>
        <p:spPr>
          <a:xfrm>
            <a:off x="868680" y="2834640"/>
            <a:ext cx="4114800" cy="457200"/>
          </a:xfrm>
          <a:prstGeom prst="rect">
            <a:avLst/>
          </a:prstGeom>
          <a:noFill/>
          <a:ln/>
        </p:spPr>
        <p:txBody>
          <a:bodyPr wrap="square" lIns="0" tIns="0" rIns="0" bIns="0" rtlCol="0" anchor="ctr"/>
          <a:lstStyle/>
          <a:p>
            <a:pPr marL="0" indent="0">
              <a:buNone/>
            </a:pPr>
            <a:r>
              <a:rPr lang="en-US" sz="1200" b="1" dirty="0">
                <a:solidFill>
                  <a:srgbClr val="E2E8F0"/>
                </a:solidFill>
                <a:latin typeface="Calibri" pitchFamily="34" charset="0"/>
                <a:ea typeface="Calibri" pitchFamily="34" charset="-122"/>
                <a:cs typeface="Calibri" pitchFamily="34" charset="-120"/>
              </a:rPr>
              <a:t>ใช้ store เป็น 'global variable' ของทุกอย่าง</a:t>
            </a:r>
            <a:endParaRPr lang="en-US" sz="1200" dirty="0"/>
          </a:p>
        </p:txBody>
      </p:sp>
      <p:sp>
        <p:nvSpPr>
          <p:cNvPr id="17" name="Text 15"/>
          <p:cNvSpPr/>
          <p:nvPr/>
        </p:nvSpPr>
        <p:spPr>
          <a:xfrm>
            <a:off x="5029200" y="2834640"/>
            <a:ext cx="3657600" cy="457200"/>
          </a:xfrm>
          <a:prstGeom prst="rect">
            <a:avLst/>
          </a:prstGeom>
          <a:noFill/>
          <a:ln/>
        </p:spPr>
        <p:txBody>
          <a:bodyPr wrap="square" lIns="0" tIns="0" rIns="0" bIns="0" rtlCol="0" anchor="ctr"/>
          <a:lstStyle/>
          <a:p>
            <a:pPr marL="0" indent="0">
              <a:buNone/>
            </a:pPr>
            <a:r>
              <a:rPr lang="en-US" sz="1100" dirty="0">
                <a:solidFill>
                  <a:srgbClr val="A3E635"/>
                </a:solidFill>
                <a:latin typeface="Calibri" pitchFamily="34" charset="0"/>
                <a:ea typeface="Calibri" pitchFamily="34" charset="-122"/>
                <a:cs typeface="Calibri" pitchFamily="34" charset="-120"/>
              </a:rPr>
              <a:t>→ แยก domain, useState สำหรับ local</a:t>
            </a:r>
            <a:endParaRPr lang="en-US" sz="1100" dirty="0"/>
          </a:p>
        </p:txBody>
      </p:sp>
      <p:sp>
        <p:nvSpPr>
          <p:cNvPr id="18" name="Text 16"/>
          <p:cNvSpPr/>
          <p:nvPr/>
        </p:nvSpPr>
        <p:spPr>
          <a:xfrm>
            <a:off x="457200" y="3337560"/>
            <a:ext cx="365760" cy="457200"/>
          </a:xfrm>
          <a:prstGeom prst="rect">
            <a:avLst/>
          </a:prstGeom>
          <a:noFill/>
          <a:ln/>
        </p:spPr>
        <p:txBody>
          <a:bodyPr wrap="square" lIns="0" tIns="0" rIns="0" bIns="0" rtlCol="0" anchor="ctr"/>
          <a:lstStyle/>
          <a:p>
            <a:pPr marL="0" indent="0">
              <a:buNone/>
            </a:pPr>
            <a:r>
              <a:rPr lang="en-US" sz="2200" b="1" dirty="0">
                <a:solidFill>
                  <a:srgbClr val="F472B6"/>
                </a:solidFill>
                <a:latin typeface="Consolas" pitchFamily="34" charset="0"/>
                <a:ea typeface="Consolas" pitchFamily="34" charset="-122"/>
                <a:cs typeface="Consolas" pitchFamily="34" charset="-120"/>
              </a:rPr>
              <a:t>5</a:t>
            </a:r>
            <a:endParaRPr lang="en-US" sz="2200" dirty="0"/>
          </a:p>
        </p:txBody>
      </p:sp>
      <p:sp>
        <p:nvSpPr>
          <p:cNvPr id="19" name="Text 17"/>
          <p:cNvSpPr/>
          <p:nvPr/>
        </p:nvSpPr>
        <p:spPr>
          <a:xfrm>
            <a:off x="868680" y="3337560"/>
            <a:ext cx="4114800" cy="457200"/>
          </a:xfrm>
          <a:prstGeom prst="rect">
            <a:avLst/>
          </a:prstGeom>
          <a:noFill/>
          <a:ln/>
        </p:spPr>
        <p:txBody>
          <a:bodyPr wrap="square" lIns="0" tIns="0" rIns="0" bIns="0" rtlCol="0" anchor="ctr"/>
          <a:lstStyle/>
          <a:p>
            <a:pPr marL="0" indent="0">
              <a:buNone/>
            </a:pPr>
            <a:r>
              <a:rPr lang="en-US" sz="1200" b="1" dirty="0">
                <a:solidFill>
                  <a:srgbClr val="E2E8F0"/>
                </a:solidFill>
                <a:latin typeface="Calibri" pitchFamily="34" charset="0"/>
                <a:ea typeface="Calibri" pitchFamily="34" charset="-122"/>
                <a:cs typeface="Calibri" pitchFamily="34" charset="-120"/>
              </a:rPr>
              <a:t>Mutate array/object เดิมใน set</a:t>
            </a:r>
            <a:endParaRPr lang="en-US" sz="1200" dirty="0"/>
          </a:p>
        </p:txBody>
      </p:sp>
      <p:sp>
        <p:nvSpPr>
          <p:cNvPr id="20" name="Text 18"/>
          <p:cNvSpPr/>
          <p:nvPr/>
        </p:nvSpPr>
        <p:spPr>
          <a:xfrm>
            <a:off x="5029200" y="3337560"/>
            <a:ext cx="3657600" cy="457200"/>
          </a:xfrm>
          <a:prstGeom prst="rect">
            <a:avLst/>
          </a:prstGeom>
          <a:noFill/>
          <a:ln/>
        </p:spPr>
        <p:txBody>
          <a:bodyPr wrap="square" lIns="0" tIns="0" rIns="0" bIns="0" rtlCol="0" anchor="ctr"/>
          <a:lstStyle/>
          <a:p>
            <a:pPr marL="0" indent="0">
              <a:buNone/>
            </a:pPr>
            <a:r>
              <a:rPr lang="en-US" sz="1100" dirty="0">
                <a:solidFill>
                  <a:srgbClr val="A3E635"/>
                </a:solidFill>
                <a:latin typeface="Calibri" pitchFamily="34" charset="0"/>
                <a:ea typeface="Calibri" pitchFamily="34" charset="-122"/>
                <a:cs typeface="Calibri" pitchFamily="34" charset="-120"/>
              </a:rPr>
              <a:t>→ return reference ใหม่เสมอ</a:t>
            </a:r>
            <a:endParaRPr lang="en-US" sz="1100" dirty="0"/>
          </a:p>
        </p:txBody>
      </p:sp>
      <p:sp>
        <p:nvSpPr>
          <p:cNvPr id="21" name="Text 19"/>
          <p:cNvSpPr/>
          <p:nvPr/>
        </p:nvSpPr>
        <p:spPr>
          <a:xfrm>
            <a:off x="457200" y="3840480"/>
            <a:ext cx="365760" cy="457200"/>
          </a:xfrm>
          <a:prstGeom prst="rect">
            <a:avLst/>
          </a:prstGeom>
          <a:noFill/>
          <a:ln/>
        </p:spPr>
        <p:txBody>
          <a:bodyPr wrap="square" lIns="0" tIns="0" rIns="0" bIns="0" rtlCol="0" anchor="ctr"/>
          <a:lstStyle/>
          <a:p>
            <a:pPr marL="0" indent="0">
              <a:buNone/>
            </a:pPr>
            <a:r>
              <a:rPr lang="en-US" sz="2200" b="1" dirty="0">
                <a:solidFill>
                  <a:srgbClr val="F472B6"/>
                </a:solidFill>
                <a:latin typeface="Consolas" pitchFamily="34" charset="0"/>
                <a:ea typeface="Consolas" pitchFamily="34" charset="-122"/>
                <a:cs typeface="Consolas" pitchFamily="34" charset="-120"/>
              </a:rPr>
              <a:t>6</a:t>
            </a:r>
            <a:endParaRPr lang="en-US" sz="2200" dirty="0"/>
          </a:p>
        </p:txBody>
      </p:sp>
      <p:sp>
        <p:nvSpPr>
          <p:cNvPr id="22" name="Text 20"/>
          <p:cNvSpPr/>
          <p:nvPr/>
        </p:nvSpPr>
        <p:spPr>
          <a:xfrm>
            <a:off x="868680" y="3840480"/>
            <a:ext cx="4114800" cy="457200"/>
          </a:xfrm>
          <a:prstGeom prst="rect">
            <a:avLst/>
          </a:prstGeom>
          <a:noFill/>
          <a:ln/>
        </p:spPr>
        <p:txBody>
          <a:bodyPr wrap="square" lIns="0" tIns="0" rIns="0" bIns="0" rtlCol="0" anchor="ctr"/>
          <a:lstStyle/>
          <a:p>
            <a:pPr marL="0" indent="0">
              <a:buNone/>
            </a:pPr>
            <a:r>
              <a:rPr lang="en-US" sz="1200" b="1" dirty="0">
                <a:solidFill>
                  <a:srgbClr val="E2E8F0"/>
                </a:solidFill>
                <a:latin typeface="Calibri" pitchFamily="34" charset="0"/>
                <a:ea typeface="Calibri" pitchFamily="34" charset="-122"/>
                <a:cs typeface="Calibri" pitchFamily="34" charset="-120"/>
              </a:rPr>
              <a:t>ลืมใช้ get() ใน async action</a:t>
            </a:r>
            <a:endParaRPr lang="en-US" sz="1200" dirty="0"/>
          </a:p>
        </p:txBody>
      </p:sp>
      <p:sp>
        <p:nvSpPr>
          <p:cNvPr id="23" name="Text 21"/>
          <p:cNvSpPr/>
          <p:nvPr/>
        </p:nvSpPr>
        <p:spPr>
          <a:xfrm>
            <a:off x="5029200" y="3840480"/>
            <a:ext cx="3657600" cy="457200"/>
          </a:xfrm>
          <a:prstGeom prst="rect">
            <a:avLst/>
          </a:prstGeom>
          <a:noFill/>
          <a:ln/>
        </p:spPr>
        <p:txBody>
          <a:bodyPr wrap="square" lIns="0" tIns="0" rIns="0" bIns="0" rtlCol="0" anchor="ctr"/>
          <a:lstStyle/>
          <a:p>
            <a:pPr marL="0" indent="0">
              <a:buNone/>
            </a:pPr>
            <a:r>
              <a:rPr lang="en-US" sz="1100" dirty="0">
                <a:solidFill>
                  <a:srgbClr val="A3E635"/>
                </a:solidFill>
                <a:latin typeface="Calibri" pitchFamily="34" charset="0"/>
                <a:ea typeface="Calibri" pitchFamily="34" charset="-122"/>
                <a:cs typeface="Calibri" pitchFamily="34" charset="-120"/>
              </a:rPr>
              <a:t>→ ค่า stale; ใช้ get() อ่านล่าสุด</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15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Async Actions</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fetch / API call ภายใน store ได้เลย</a:t>
            </a:r>
            <a:endParaRPr lang="en-US" sz="1300" dirty="0"/>
          </a:p>
        </p:txBody>
      </p:sp>
      <p:sp>
        <p:nvSpPr>
          <p:cNvPr id="6" name="Text 4"/>
          <p:cNvSpPr/>
          <p:nvPr/>
        </p:nvSpPr>
        <p:spPr>
          <a:xfrm>
            <a:off x="457200" y="1325880"/>
            <a:ext cx="420624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Action เป็น function ปกติ → ใช้ async/await ได้</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track loading + error เป็น state ใน store</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set ก่อน fetch → set หลังได้ผล</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ใช้ get() อ่าน state ปัจจุบันก่อนตัดสินใจ</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ป้องกัน race: ใช้ AbortController / request id</a:t>
            </a:r>
            <a:endParaRPr lang="en-US" sz="1400" dirty="0"/>
          </a:p>
        </p:txBody>
      </p:sp>
      <p:sp>
        <p:nvSpPr>
          <p:cNvPr id="7" name="Shape 5"/>
          <p:cNvSpPr/>
          <p:nvPr/>
        </p:nvSpPr>
        <p:spPr>
          <a:xfrm>
            <a:off x="4754880" y="1325880"/>
            <a:ext cx="4023360" cy="3200400"/>
          </a:xfrm>
          <a:prstGeom prst="rect">
            <a:avLst/>
          </a:prstGeom>
          <a:solidFill>
            <a:srgbClr val="050B17"/>
          </a:solidFill>
          <a:ln w="12700">
            <a:solidFill>
              <a:srgbClr val="1B2C47"/>
            </a:solidFill>
            <a:prstDash val="solid"/>
          </a:ln>
        </p:spPr>
      </p:sp>
      <p:sp>
        <p:nvSpPr>
          <p:cNvPr id="8" name="Shape 6"/>
          <p:cNvSpPr/>
          <p:nvPr/>
        </p:nvSpPr>
        <p:spPr>
          <a:xfrm>
            <a:off x="4754880" y="1325880"/>
            <a:ext cx="4023360" cy="228600"/>
          </a:xfrm>
          <a:prstGeom prst="rect">
            <a:avLst/>
          </a:prstGeom>
          <a:solidFill>
            <a:srgbClr val="1B2C47"/>
          </a:solidFill>
          <a:ln/>
        </p:spPr>
      </p:sp>
      <p:sp>
        <p:nvSpPr>
          <p:cNvPr id="9" name="Shape 7"/>
          <p:cNvSpPr/>
          <p:nvPr/>
        </p:nvSpPr>
        <p:spPr>
          <a:xfrm>
            <a:off x="4846320" y="1389888"/>
            <a:ext cx="100584" cy="100584"/>
          </a:xfrm>
          <a:prstGeom prst="ellipse">
            <a:avLst/>
          </a:prstGeom>
          <a:solidFill>
            <a:srgbClr val="F87171"/>
          </a:solidFill>
          <a:ln/>
        </p:spPr>
      </p:sp>
      <p:sp>
        <p:nvSpPr>
          <p:cNvPr id="10" name="Shape 8"/>
          <p:cNvSpPr/>
          <p:nvPr/>
        </p:nvSpPr>
        <p:spPr>
          <a:xfrm>
            <a:off x="5010912" y="1389888"/>
            <a:ext cx="100584" cy="100584"/>
          </a:xfrm>
          <a:prstGeom prst="ellipse">
            <a:avLst/>
          </a:prstGeom>
          <a:solidFill>
            <a:srgbClr val="FBBF24"/>
          </a:solidFill>
          <a:ln/>
        </p:spPr>
      </p:sp>
      <p:sp>
        <p:nvSpPr>
          <p:cNvPr id="11" name="Shape 9"/>
          <p:cNvSpPr/>
          <p:nvPr/>
        </p:nvSpPr>
        <p:spPr>
          <a:xfrm>
            <a:off x="5175504" y="1389888"/>
            <a:ext cx="100584" cy="100584"/>
          </a:xfrm>
          <a:prstGeom prst="ellipse">
            <a:avLst/>
          </a:prstGeom>
          <a:solidFill>
            <a:srgbClr val="34D399"/>
          </a:solidFill>
          <a:ln/>
        </p:spPr>
      </p:sp>
      <p:sp>
        <p:nvSpPr>
          <p:cNvPr id="12" name="Text 10"/>
          <p:cNvSpPr/>
          <p:nvPr/>
        </p:nvSpPr>
        <p:spPr>
          <a:xfrm>
            <a:off x="7680960" y="1344168"/>
            <a:ext cx="1005840" cy="192024"/>
          </a:xfrm>
          <a:prstGeom prst="rect">
            <a:avLst/>
          </a:prstGeom>
          <a:noFill/>
          <a:ln/>
        </p:spPr>
        <p:txBody>
          <a:bodyPr wrap="square" lIns="0" tIns="0" rIns="0" bIns="0" rtlCol="0" anchor="ctr"/>
          <a:lstStyle/>
          <a:p>
            <a:pPr marL="0" indent="0" algn="r">
              <a:buNone/>
            </a:pPr>
            <a:r>
              <a:rPr lang="en-US" sz="800" dirty="0">
                <a:solidFill>
                  <a:srgbClr val="94A3B8"/>
                </a:solidFill>
                <a:latin typeface="Consolas" pitchFamily="34" charset="0"/>
                <a:ea typeface="Consolas" pitchFamily="34" charset="-122"/>
                <a:cs typeface="Consolas" pitchFamily="34" charset="-120"/>
              </a:rPr>
              <a:t>javascript</a:t>
            </a:r>
            <a:endParaRPr lang="en-US" sz="800" dirty="0"/>
          </a:p>
        </p:txBody>
      </p:sp>
      <p:sp>
        <p:nvSpPr>
          <p:cNvPr id="13" name="Text 11"/>
          <p:cNvSpPr/>
          <p:nvPr/>
        </p:nvSpPr>
        <p:spPr>
          <a:xfrm>
            <a:off x="4892040" y="1618488"/>
            <a:ext cx="3749040" cy="2834640"/>
          </a:xfrm>
          <a:prstGeom prst="rect">
            <a:avLst/>
          </a:prstGeom>
          <a:noFill/>
          <a:ln/>
        </p:spPr>
        <p:txBody>
          <a:bodyPr wrap="square" lIns="0" tIns="0" rIns="0" bIns="0" rtlCol="0" anchor="t"/>
          <a:lstStyle/>
          <a:p>
            <a:pPr marL="0" indent="0">
              <a:buNone/>
            </a:pPr>
            <a:r>
              <a:rPr lang="en-US" sz="900" dirty="0">
                <a:solidFill>
                  <a:srgbClr val="C7F9FF"/>
                </a:solidFill>
                <a:latin typeface="Consolas" pitchFamily="34" charset="0"/>
                <a:ea typeface="Consolas" pitchFamily="34" charset="-122"/>
                <a:cs typeface="Consolas" pitchFamily="34" charset="-120"/>
              </a:rPr>
              <a:t>export const useUserStore = create((set, get) =&gt;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user: null,</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loading: false,</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error: null,</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fetchUser: async (id) =&gt;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if (get().loading) return;</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set({ loading: true, error: null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try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const res = await fetch(`/api/users/${id}`);</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if (!res.ok) throw new Error(res.statusText);</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const user = await res.json();</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set({ user, loading: false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 catch (e)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set({ error: e.message, loading: false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16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Service Layer + Loading/Error</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แยก fetch logic ออกจาก store</a:t>
            </a:r>
            <a:endParaRPr lang="en-US" sz="1300" dirty="0"/>
          </a:p>
        </p:txBody>
      </p:sp>
      <p:sp>
        <p:nvSpPr>
          <p:cNvPr id="6" name="Text 4"/>
          <p:cNvSpPr/>
          <p:nvPr/>
        </p:nvSpPr>
        <p:spPr>
          <a:xfrm>
            <a:off x="457200" y="1325880"/>
            <a:ext cx="420624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Store ไม่ควรรู้รายละเอียด HTTP / endpoint</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สร้าง services/userService.ts รับผิดชอบ fetch</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Store เรียก service แล้ว map ผลเข้า state</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Test store ง่ายขึ้น — mock service ได้</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AbortController กัน race; ทำ retry/timeout ตรงนี้</a:t>
            </a:r>
            <a:endParaRPr lang="en-US" sz="1400" dirty="0"/>
          </a:p>
        </p:txBody>
      </p:sp>
      <p:sp>
        <p:nvSpPr>
          <p:cNvPr id="7" name="Shape 5"/>
          <p:cNvSpPr/>
          <p:nvPr/>
        </p:nvSpPr>
        <p:spPr>
          <a:xfrm>
            <a:off x="4754880" y="1325880"/>
            <a:ext cx="4023360" cy="3200400"/>
          </a:xfrm>
          <a:prstGeom prst="rect">
            <a:avLst/>
          </a:prstGeom>
          <a:solidFill>
            <a:srgbClr val="050B17"/>
          </a:solidFill>
          <a:ln w="12700">
            <a:solidFill>
              <a:srgbClr val="1B2C47"/>
            </a:solidFill>
            <a:prstDash val="solid"/>
          </a:ln>
        </p:spPr>
      </p:sp>
      <p:sp>
        <p:nvSpPr>
          <p:cNvPr id="8" name="Shape 6"/>
          <p:cNvSpPr/>
          <p:nvPr/>
        </p:nvSpPr>
        <p:spPr>
          <a:xfrm>
            <a:off x="4754880" y="1325880"/>
            <a:ext cx="4023360" cy="228600"/>
          </a:xfrm>
          <a:prstGeom prst="rect">
            <a:avLst/>
          </a:prstGeom>
          <a:solidFill>
            <a:srgbClr val="1B2C47"/>
          </a:solidFill>
          <a:ln/>
        </p:spPr>
      </p:sp>
      <p:sp>
        <p:nvSpPr>
          <p:cNvPr id="9" name="Shape 7"/>
          <p:cNvSpPr/>
          <p:nvPr/>
        </p:nvSpPr>
        <p:spPr>
          <a:xfrm>
            <a:off x="4846320" y="1389888"/>
            <a:ext cx="100584" cy="100584"/>
          </a:xfrm>
          <a:prstGeom prst="ellipse">
            <a:avLst/>
          </a:prstGeom>
          <a:solidFill>
            <a:srgbClr val="F87171"/>
          </a:solidFill>
          <a:ln/>
        </p:spPr>
      </p:sp>
      <p:sp>
        <p:nvSpPr>
          <p:cNvPr id="10" name="Shape 8"/>
          <p:cNvSpPr/>
          <p:nvPr/>
        </p:nvSpPr>
        <p:spPr>
          <a:xfrm>
            <a:off x="5010912" y="1389888"/>
            <a:ext cx="100584" cy="100584"/>
          </a:xfrm>
          <a:prstGeom prst="ellipse">
            <a:avLst/>
          </a:prstGeom>
          <a:solidFill>
            <a:srgbClr val="FBBF24"/>
          </a:solidFill>
          <a:ln/>
        </p:spPr>
      </p:sp>
      <p:sp>
        <p:nvSpPr>
          <p:cNvPr id="11" name="Shape 9"/>
          <p:cNvSpPr/>
          <p:nvPr/>
        </p:nvSpPr>
        <p:spPr>
          <a:xfrm>
            <a:off x="5175504" y="1389888"/>
            <a:ext cx="100584" cy="100584"/>
          </a:xfrm>
          <a:prstGeom prst="ellipse">
            <a:avLst/>
          </a:prstGeom>
          <a:solidFill>
            <a:srgbClr val="34D399"/>
          </a:solidFill>
          <a:ln/>
        </p:spPr>
      </p:sp>
      <p:sp>
        <p:nvSpPr>
          <p:cNvPr id="12" name="Text 10"/>
          <p:cNvSpPr/>
          <p:nvPr/>
        </p:nvSpPr>
        <p:spPr>
          <a:xfrm>
            <a:off x="7680960" y="1344168"/>
            <a:ext cx="1005840" cy="192024"/>
          </a:xfrm>
          <a:prstGeom prst="rect">
            <a:avLst/>
          </a:prstGeom>
          <a:noFill/>
          <a:ln/>
        </p:spPr>
        <p:txBody>
          <a:bodyPr wrap="square" lIns="0" tIns="0" rIns="0" bIns="0" rtlCol="0" anchor="ctr"/>
          <a:lstStyle/>
          <a:p>
            <a:pPr marL="0" indent="0" algn="r">
              <a:buNone/>
            </a:pPr>
            <a:r>
              <a:rPr lang="en-US" sz="800" dirty="0">
                <a:solidFill>
                  <a:srgbClr val="94A3B8"/>
                </a:solidFill>
                <a:latin typeface="Consolas" pitchFamily="34" charset="0"/>
                <a:ea typeface="Consolas" pitchFamily="34" charset="-122"/>
                <a:cs typeface="Consolas" pitchFamily="34" charset="-120"/>
              </a:rPr>
              <a:t>javascript</a:t>
            </a:r>
            <a:endParaRPr lang="en-US" sz="800" dirty="0"/>
          </a:p>
        </p:txBody>
      </p:sp>
      <p:sp>
        <p:nvSpPr>
          <p:cNvPr id="13" name="Text 11"/>
          <p:cNvSpPr/>
          <p:nvPr/>
        </p:nvSpPr>
        <p:spPr>
          <a:xfrm>
            <a:off x="4892040" y="1618488"/>
            <a:ext cx="3749040" cy="2834640"/>
          </a:xfrm>
          <a:prstGeom prst="rect">
            <a:avLst/>
          </a:prstGeom>
          <a:noFill/>
          <a:ln/>
        </p:spPr>
        <p:txBody>
          <a:bodyPr wrap="square" lIns="0" tIns="0" rIns="0" bIns="0" rtlCol="0" anchor="t"/>
          <a:lstStyle/>
          <a:p>
            <a:pPr marL="0" indent="0">
              <a:buNone/>
            </a:pPr>
            <a:r>
              <a:rPr lang="en-US" sz="900" dirty="0">
                <a:solidFill>
                  <a:srgbClr val="C7F9FF"/>
                </a:solidFill>
                <a:latin typeface="Consolas" pitchFamily="34" charset="0"/>
                <a:ea typeface="Consolas" pitchFamily="34" charset="-122"/>
                <a:cs typeface="Consolas" pitchFamily="34" charset="-120"/>
              </a:rPr>
              <a:t>// services/userService.ts</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export async function getUser(id, signal)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const r = await fetch(`/api/users/${id}`, { signal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if (!r.ok) throw new Error(r.statusText);</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return r.json();</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stores/user.store.ts</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import { getUser } from "@/services/userService";</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fetchUser: async (id) =&gt;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get().controller?.abort();</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const c = new AbortController();</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set({ loading: true, controller: c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try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const user = await getUser(id, c.signal);</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set({ user, loading: false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 catch (e)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if (e.name !== "AbortError")</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set({ error: e.message, loading: false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a:t>
            </a:r>
            <a:endParaRPr lang="en-US" sz="900" dirty="0"/>
          </a:p>
        </p:txBody>
      </p:sp>
      <p:sp>
        <p:nvSpPr>
          <p:cNvPr id="14" name="Shape 12"/>
          <p:cNvSpPr/>
          <p:nvPr/>
        </p:nvSpPr>
        <p:spPr>
          <a:xfrm>
            <a:off x="457200" y="4023360"/>
            <a:ext cx="8229600" cy="777240"/>
          </a:xfrm>
          <a:prstGeom prst="rect">
            <a:avLst/>
          </a:prstGeom>
          <a:solidFill>
            <a:srgbClr val="132238"/>
          </a:solidFill>
          <a:ln w="12700">
            <a:solidFill>
              <a:srgbClr val="F472B6"/>
            </a:solidFill>
            <a:prstDash val="solid"/>
          </a:ln>
        </p:spPr>
      </p:sp>
      <p:sp>
        <p:nvSpPr>
          <p:cNvPr id="15" name="Text 13"/>
          <p:cNvSpPr/>
          <p:nvPr/>
        </p:nvSpPr>
        <p:spPr>
          <a:xfrm>
            <a:off x="594360" y="4069080"/>
            <a:ext cx="7955280" cy="228600"/>
          </a:xfrm>
          <a:prstGeom prst="rect">
            <a:avLst/>
          </a:prstGeom>
          <a:noFill/>
          <a:ln/>
        </p:spPr>
        <p:txBody>
          <a:bodyPr wrap="square" lIns="0" tIns="0" rIns="0" bIns="0" rtlCol="0" anchor="ctr"/>
          <a:lstStyle/>
          <a:p>
            <a:pPr marL="0" indent="0">
              <a:buNone/>
            </a:pPr>
            <a:r>
              <a:rPr lang="en-US" sz="1100" b="1" dirty="0">
                <a:solidFill>
                  <a:srgbClr val="F472B6"/>
                </a:solidFill>
                <a:latin typeface="Calibri" pitchFamily="34" charset="0"/>
                <a:ea typeface="Calibri" pitchFamily="34" charset="-122"/>
                <a:cs typeface="Calibri" pitchFamily="34" charset="-120"/>
              </a:rPr>
              <a:t>⚠ Pitfalls / ข้อควรระวัง</a:t>
            </a:r>
            <a:endParaRPr lang="en-US" sz="1100" dirty="0"/>
          </a:p>
        </p:txBody>
      </p:sp>
      <p:sp>
        <p:nvSpPr>
          <p:cNvPr id="16" name="Text 14"/>
          <p:cNvSpPr/>
          <p:nvPr/>
        </p:nvSpPr>
        <p:spPr>
          <a:xfrm>
            <a:off x="594360" y="4297680"/>
            <a:ext cx="7955280" cy="457200"/>
          </a:xfrm>
          <a:prstGeom prst="rect">
            <a:avLst/>
          </a:prstGeom>
          <a:noFill/>
          <a:ln/>
        </p:spPr>
        <p:txBody>
          <a:bodyPr wrap="square" lIns="0" tIns="0" rIns="0" bIns="0" rtlCol="0" anchor="ctr"/>
          <a:lstStyle/>
          <a:p>
            <a:pPr marL="342900" indent="-342900">
              <a:buSzPct val="100000"/>
              <a:buChar char="•"/>
            </a:pPr>
            <a:r>
              <a:rPr lang="en-US" sz="1000" dirty="0">
                <a:solidFill>
                  <a:srgbClr val="E2E8F0"/>
                </a:solidFill>
                <a:latin typeface="Calibri" pitchFamily="34" charset="0"/>
                <a:ea typeface="Calibri" pitchFamily="34" charset="-122"/>
                <a:cs typeface="Calibri" pitchFamily="34" charset="-120"/>
              </a:rPr>
              <a:t>อย่าโยน Response object หรือ fetch error ดิบลง store — sanitize ให้เหลือแค่ข้อมูลที่ UI ใช้</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17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Vanilla store: ใช้นอก React</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createStore — ทำให้ Zustand ใช้ได้ทุกที่</a:t>
            </a:r>
            <a:endParaRPr lang="en-US" sz="1300" dirty="0"/>
          </a:p>
        </p:txBody>
      </p:sp>
      <p:sp>
        <p:nvSpPr>
          <p:cNvPr id="6" name="Text 4"/>
          <p:cNvSpPr/>
          <p:nvPr/>
        </p:nvSpPr>
        <p:spPr>
          <a:xfrm>
            <a:off x="457200" y="1325880"/>
            <a:ext cx="420624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import { createStore } from 'zustand/vanilla'</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ได้ object ที่มี: getState, setState, subscribe, getInitialState</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ไม่มี hook — ใช้ใน node script, worker, test ได้</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ใน React: ห่อด้วย useStore(store, selector)</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Pattern นี้ดีสำหรับ websocket / background sync</a:t>
            </a:r>
            <a:endParaRPr lang="en-US" sz="1400" dirty="0"/>
          </a:p>
        </p:txBody>
      </p:sp>
      <p:sp>
        <p:nvSpPr>
          <p:cNvPr id="7" name="Shape 5"/>
          <p:cNvSpPr/>
          <p:nvPr/>
        </p:nvSpPr>
        <p:spPr>
          <a:xfrm>
            <a:off x="4754880" y="1325880"/>
            <a:ext cx="4023360" cy="3200400"/>
          </a:xfrm>
          <a:prstGeom prst="rect">
            <a:avLst/>
          </a:prstGeom>
          <a:solidFill>
            <a:srgbClr val="050B17"/>
          </a:solidFill>
          <a:ln w="12700">
            <a:solidFill>
              <a:srgbClr val="1B2C47"/>
            </a:solidFill>
            <a:prstDash val="solid"/>
          </a:ln>
        </p:spPr>
      </p:sp>
      <p:sp>
        <p:nvSpPr>
          <p:cNvPr id="8" name="Shape 6"/>
          <p:cNvSpPr/>
          <p:nvPr/>
        </p:nvSpPr>
        <p:spPr>
          <a:xfrm>
            <a:off x="4754880" y="1325880"/>
            <a:ext cx="4023360" cy="228600"/>
          </a:xfrm>
          <a:prstGeom prst="rect">
            <a:avLst/>
          </a:prstGeom>
          <a:solidFill>
            <a:srgbClr val="1B2C47"/>
          </a:solidFill>
          <a:ln/>
        </p:spPr>
      </p:sp>
      <p:sp>
        <p:nvSpPr>
          <p:cNvPr id="9" name="Shape 7"/>
          <p:cNvSpPr/>
          <p:nvPr/>
        </p:nvSpPr>
        <p:spPr>
          <a:xfrm>
            <a:off x="4846320" y="1389888"/>
            <a:ext cx="100584" cy="100584"/>
          </a:xfrm>
          <a:prstGeom prst="ellipse">
            <a:avLst/>
          </a:prstGeom>
          <a:solidFill>
            <a:srgbClr val="F87171"/>
          </a:solidFill>
          <a:ln/>
        </p:spPr>
      </p:sp>
      <p:sp>
        <p:nvSpPr>
          <p:cNvPr id="10" name="Shape 8"/>
          <p:cNvSpPr/>
          <p:nvPr/>
        </p:nvSpPr>
        <p:spPr>
          <a:xfrm>
            <a:off x="5010912" y="1389888"/>
            <a:ext cx="100584" cy="100584"/>
          </a:xfrm>
          <a:prstGeom prst="ellipse">
            <a:avLst/>
          </a:prstGeom>
          <a:solidFill>
            <a:srgbClr val="FBBF24"/>
          </a:solidFill>
          <a:ln/>
        </p:spPr>
      </p:sp>
      <p:sp>
        <p:nvSpPr>
          <p:cNvPr id="11" name="Shape 9"/>
          <p:cNvSpPr/>
          <p:nvPr/>
        </p:nvSpPr>
        <p:spPr>
          <a:xfrm>
            <a:off x="5175504" y="1389888"/>
            <a:ext cx="100584" cy="100584"/>
          </a:xfrm>
          <a:prstGeom prst="ellipse">
            <a:avLst/>
          </a:prstGeom>
          <a:solidFill>
            <a:srgbClr val="34D399"/>
          </a:solidFill>
          <a:ln/>
        </p:spPr>
      </p:sp>
      <p:sp>
        <p:nvSpPr>
          <p:cNvPr id="12" name="Text 10"/>
          <p:cNvSpPr/>
          <p:nvPr/>
        </p:nvSpPr>
        <p:spPr>
          <a:xfrm>
            <a:off x="7680960" y="1344168"/>
            <a:ext cx="1005840" cy="192024"/>
          </a:xfrm>
          <a:prstGeom prst="rect">
            <a:avLst/>
          </a:prstGeom>
          <a:noFill/>
          <a:ln/>
        </p:spPr>
        <p:txBody>
          <a:bodyPr wrap="square" lIns="0" tIns="0" rIns="0" bIns="0" rtlCol="0" anchor="ctr"/>
          <a:lstStyle/>
          <a:p>
            <a:pPr marL="0" indent="0" algn="r">
              <a:buNone/>
            </a:pPr>
            <a:r>
              <a:rPr lang="en-US" sz="800" dirty="0">
                <a:solidFill>
                  <a:srgbClr val="94A3B8"/>
                </a:solidFill>
                <a:latin typeface="Consolas" pitchFamily="34" charset="0"/>
                <a:ea typeface="Consolas" pitchFamily="34" charset="-122"/>
                <a:cs typeface="Consolas" pitchFamily="34" charset="-120"/>
              </a:rPr>
              <a:t>javascript</a:t>
            </a:r>
            <a:endParaRPr lang="en-US" sz="800" dirty="0"/>
          </a:p>
        </p:txBody>
      </p:sp>
      <p:sp>
        <p:nvSpPr>
          <p:cNvPr id="13" name="Text 11"/>
          <p:cNvSpPr/>
          <p:nvPr/>
        </p:nvSpPr>
        <p:spPr>
          <a:xfrm>
            <a:off x="4892040" y="1618488"/>
            <a:ext cx="3749040" cy="2834640"/>
          </a:xfrm>
          <a:prstGeom prst="rect">
            <a:avLst/>
          </a:prstGeom>
          <a:noFill/>
          <a:ln/>
        </p:spPr>
        <p:txBody>
          <a:bodyPr wrap="square" lIns="0" tIns="0" rIns="0" bIns="0" rtlCol="0" anchor="t"/>
          <a:lstStyle/>
          <a:p>
            <a:pPr marL="0" indent="0">
              <a:buNone/>
            </a:pPr>
            <a:r>
              <a:rPr lang="en-US" sz="900" dirty="0">
                <a:solidFill>
                  <a:srgbClr val="C7F9FF"/>
                </a:solidFill>
                <a:latin typeface="Consolas" pitchFamily="34" charset="0"/>
                <a:ea typeface="Consolas" pitchFamily="34" charset="-122"/>
                <a:cs typeface="Consolas" pitchFamily="34" charset="-120"/>
              </a:rPr>
              <a:t>import { createStore } from "zustand/vanilla";</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import { useStore } from "zustand";</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export const counterStore = createStore((set) =&gt;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count: 0,</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inc: () =&gt; set((s) =&gt; ({ count: s.count + 1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outside React</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counterStore.getState().inc();</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counterStore.subscribe(</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(s) =&gt; console.log("count =", s.count)</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inside React</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const useCounter = (sel) =&gt; useStore(counterStore, sel);</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const count = useCounter((s) =&gt; s.count);</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18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Use cases — ใช้นอก React</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WebSocket, background sync, integration test</a:t>
            </a:r>
            <a:endParaRPr lang="en-US" sz="1300" dirty="0"/>
          </a:p>
        </p:txBody>
      </p:sp>
      <p:sp>
        <p:nvSpPr>
          <p:cNvPr id="6" name="Shape 4"/>
          <p:cNvSpPr/>
          <p:nvPr/>
        </p:nvSpPr>
        <p:spPr>
          <a:xfrm>
            <a:off x="457200" y="1325880"/>
            <a:ext cx="2651760" cy="2651760"/>
          </a:xfrm>
          <a:prstGeom prst="roundRect">
            <a:avLst>
              <a:gd name="adj" fmla="val 2759"/>
            </a:avLst>
          </a:prstGeom>
          <a:solidFill>
            <a:srgbClr val="132238"/>
          </a:solidFill>
          <a:ln w="19050">
            <a:solidFill>
              <a:srgbClr val="22D3EE"/>
            </a:solidFill>
            <a:prstDash val="solid"/>
          </a:ln>
        </p:spPr>
      </p:sp>
      <p:sp>
        <p:nvSpPr>
          <p:cNvPr id="7" name="Text 5"/>
          <p:cNvSpPr/>
          <p:nvPr/>
        </p:nvSpPr>
        <p:spPr>
          <a:xfrm>
            <a:off x="594360" y="1417320"/>
            <a:ext cx="2377440" cy="365760"/>
          </a:xfrm>
          <a:prstGeom prst="rect">
            <a:avLst/>
          </a:prstGeom>
          <a:noFill/>
          <a:ln/>
        </p:spPr>
        <p:txBody>
          <a:bodyPr wrap="square" lIns="0" tIns="0" rIns="0" bIns="0"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WebSocket sync</a:t>
            </a:r>
            <a:endParaRPr lang="en-US" sz="1400" dirty="0"/>
          </a:p>
        </p:txBody>
      </p:sp>
      <p:sp>
        <p:nvSpPr>
          <p:cNvPr id="8" name="Text 6"/>
          <p:cNvSpPr/>
          <p:nvPr/>
        </p:nvSpPr>
        <p:spPr>
          <a:xfrm>
            <a:off x="594360" y="1828800"/>
            <a:ext cx="2377440" cy="210312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รับ message → setState</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Component subscribe ได้ทันที</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ตัด WS แยกจาก UI lifecycle</a:t>
            </a:r>
            <a:endParaRPr lang="en-US" sz="1100" dirty="0"/>
          </a:p>
        </p:txBody>
      </p:sp>
      <p:sp>
        <p:nvSpPr>
          <p:cNvPr id="9" name="Shape 7"/>
          <p:cNvSpPr/>
          <p:nvPr/>
        </p:nvSpPr>
        <p:spPr>
          <a:xfrm>
            <a:off x="3246120" y="1325880"/>
            <a:ext cx="2651760" cy="2651760"/>
          </a:xfrm>
          <a:prstGeom prst="roundRect">
            <a:avLst>
              <a:gd name="adj" fmla="val 2759"/>
            </a:avLst>
          </a:prstGeom>
          <a:solidFill>
            <a:srgbClr val="132238"/>
          </a:solidFill>
          <a:ln w="19050">
            <a:solidFill>
              <a:srgbClr val="A3E635"/>
            </a:solidFill>
            <a:prstDash val="solid"/>
          </a:ln>
        </p:spPr>
      </p:sp>
      <p:sp>
        <p:nvSpPr>
          <p:cNvPr id="10" name="Text 8"/>
          <p:cNvSpPr/>
          <p:nvPr/>
        </p:nvSpPr>
        <p:spPr>
          <a:xfrm>
            <a:off x="3383280" y="1417320"/>
            <a:ext cx="2377440" cy="365760"/>
          </a:xfrm>
          <a:prstGeom prst="rect">
            <a:avLst/>
          </a:prstGeom>
          <a:noFill/>
          <a:ln/>
        </p:spPr>
        <p:txBody>
          <a:bodyPr wrap="square" lIns="0" tIns="0" rIns="0" bIns="0" rtlCol="0" anchor="ctr"/>
          <a:lstStyle/>
          <a:p>
            <a:pPr marL="0" indent="0">
              <a:buNone/>
            </a:pPr>
            <a:r>
              <a:rPr lang="en-US" sz="1400" b="1" dirty="0">
                <a:solidFill>
                  <a:srgbClr val="A3E635"/>
                </a:solidFill>
                <a:latin typeface="Calibri" pitchFamily="34" charset="0"/>
                <a:ea typeface="Calibri" pitchFamily="34" charset="-122"/>
                <a:cs typeface="Calibri" pitchFamily="34" charset="-120"/>
              </a:rPr>
              <a:t>Background sync</a:t>
            </a:r>
            <a:endParaRPr lang="en-US" sz="1400" dirty="0"/>
          </a:p>
        </p:txBody>
      </p:sp>
      <p:sp>
        <p:nvSpPr>
          <p:cNvPr id="11" name="Text 9"/>
          <p:cNvSpPr/>
          <p:nvPr/>
        </p:nvSpPr>
        <p:spPr>
          <a:xfrm>
            <a:off x="3383280" y="1828800"/>
            <a:ext cx="2377440" cy="210312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sync state ↔ IndexedDB</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ทำใน worker/timer</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ไม่ต้อง mount component</a:t>
            </a:r>
            <a:endParaRPr lang="en-US" sz="1100" dirty="0"/>
          </a:p>
        </p:txBody>
      </p:sp>
      <p:sp>
        <p:nvSpPr>
          <p:cNvPr id="12" name="Shape 10"/>
          <p:cNvSpPr/>
          <p:nvPr/>
        </p:nvSpPr>
        <p:spPr>
          <a:xfrm>
            <a:off x="6035040" y="1325880"/>
            <a:ext cx="2651760" cy="2651760"/>
          </a:xfrm>
          <a:prstGeom prst="roundRect">
            <a:avLst>
              <a:gd name="adj" fmla="val 2759"/>
            </a:avLst>
          </a:prstGeom>
          <a:solidFill>
            <a:srgbClr val="132238"/>
          </a:solidFill>
          <a:ln w="19050">
            <a:solidFill>
              <a:srgbClr val="F472B6"/>
            </a:solidFill>
            <a:prstDash val="solid"/>
          </a:ln>
        </p:spPr>
      </p:sp>
      <p:sp>
        <p:nvSpPr>
          <p:cNvPr id="13" name="Text 11"/>
          <p:cNvSpPr/>
          <p:nvPr/>
        </p:nvSpPr>
        <p:spPr>
          <a:xfrm>
            <a:off x="6172200" y="1417320"/>
            <a:ext cx="2377440" cy="365760"/>
          </a:xfrm>
          <a:prstGeom prst="rect">
            <a:avLst/>
          </a:prstGeom>
          <a:noFill/>
          <a:ln/>
        </p:spPr>
        <p:txBody>
          <a:bodyPr wrap="square" lIns="0" tIns="0" rIns="0" bIns="0" rtlCol="0" anchor="ctr"/>
          <a:lstStyle/>
          <a:p>
            <a:pPr marL="0" indent="0">
              <a:buNone/>
            </a:pPr>
            <a:r>
              <a:rPr lang="en-US" sz="1400" b="1" dirty="0">
                <a:solidFill>
                  <a:srgbClr val="F472B6"/>
                </a:solidFill>
                <a:latin typeface="Calibri" pitchFamily="34" charset="0"/>
                <a:ea typeface="Calibri" pitchFamily="34" charset="-122"/>
                <a:cs typeface="Calibri" pitchFamily="34" charset="-120"/>
              </a:rPr>
              <a:t>Integration test</a:t>
            </a:r>
            <a:endParaRPr lang="en-US" sz="1400" dirty="0"/>
          </a:p>
        </p:txBody>
      </p:sp>
      <p:sp>
        <p:nvSpPr>
          <p:cNvPr id="14" name="Text 12"/>
          <p:cNvSpPr/>
          <p:nvPr/>
        </p:nvSpPr>
        <p:spPr>
          <a:xfrm>
            <a:off x="6172200" y="1828800"/>
            <a:ext cx="2377440" cy="210312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import store → setState mock</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assert ผลผ่าน getState</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test action โดยไม่ต้องมี React</a:t>
            </a:r>
            <a:endParaRPr lang="en-US" sz="1100" dirty="0"/>
          </a:p>
        </p:txBody>
      </p:sp>
      <p:sp>
        <p:nvSpPr>
          <p:cNvPr id="15" name="Shape 13"/>
          <p:cNvSpPr/>
          <p:nvPr/>
        </p:nvSpPr>
        <p:spPr>
          <a:xfrm>
            <a:off x="457200" y="4023360"/>
            <a:ext cx="8229600" cy="777240"/>
          </a:xfrm>
          <a:prstGeom prst="rect">
            <a:avLst/>
          </a:prstGeom>
          <a:solidFill>
            <a:srgbClr val="132238"/>
          </a:solidFill>
          <a:ln w="12700">
            <a:solidFill>
              <a:srgbClr val="F472B6"/>
            </a:solidFill>
            <a:prstDash val="solid"/>
          </a:ln>
        </p:spPr>
      </p:sp>
      <p:sp>
        <p:nvSpPr>
          <p:cNvPr id="16" name="Text 14"/>
          <p:cNvSpPr/>
          <p:nvPr/>
        </p:nvSpPr>
        <p:spPr>
          <a:xfrm>
            <a:off x="594360" y="4069080"/>
            <a:ext cx="7955280" cy="228600"/>
          </a:xfrm>
          <a:prstGeom prst="rect">
            <a:avLst/>
          </a:prstGeom>
          <a:noFill/>
          <a:ln/>
        </p:spPr>
        <p:txBody>
          <a:bodyPr wrap="square" lIns="0" tIns="0" rIns="0" bIns="0" rtlCol="0" anchor="ctr"/>
          <a:lstStyle/>
          <a:p>
            <a:pPr marL="0" indent="0">
              <a:buNone/>
            </a:pPr>
            <a:r>
              <a:rPr lang="en-US" sz="1100" b="1" dirty="0">
                <a:solidFill>
                  <a:srgbClr val="F472B6"/>
                </a:solidFill>
                <a:latin typeface="Calibri" pitchFamily="34" charset="0"/>
                <a:ea typeface="Calibri" pitchFamily="34" charset="-122"/>
                <a:cs typeface="Calibri" pitchFamily="34" charset="-120"/>
              </a:rPr>
              <a:t>⚠ Pitfalls / ข้อควรระวัง</a:t>
            </a:r>
            <a:endParaRPr lang="en-US" sz="1100" dirty="0"/>
          </a:p>
        </p:txBody>
      </p:sp>
      <p:sp>
        <p:nvSpPr>
          <p:cNvPr id="17" name="Text 15"/>
          <p:cNvSpPr/>
          <p:nvPr/>
        </p:nvSpPr>
        <p:spPr>
          <a:xfrm>
            <a:off x="594360" y="4297680"/>
            <a:ext cx="7955280" cy="457200"/>
          </a:xfrm>
          <a:prstGeom prst="rect">
            <a:avLst/>
          </a:prstGeom>
          <a:noFill/>
          <a:ln/>
        </p:spPr>
        <p:txBody>
          <a:bodyPr wrap="square" lIns="0" tIns="0" rIns="0" bIns="0" rtlCol="0" anchor="ctr"/>
          <a:lstStyle/>
          <a:p>
            <a:pPr marL="342900" indent="-342900">
              <a:buSzPct val="100000"/>
              <a:buChar char="•"/>
            </a:pPr>
            <a:r>
              <a:rPr lang="en-US" sz="1000" dirty="0">
                <a:solidFill>
                  <a:srgbClr val="E2E8F0"/>
                </a:solidFill>
                <a:latin typeface="Calibri" pitchFamily="34" charset="0"/>
                <a:ea typeface="Calibri" pitchFamily="34" charset="-122"/>
                <a:cs typeface="Calibri" pitchFamily="34" charset="-120"/>
              </a:rPr>
              <a:t>ระวัง memory leak: ทุก subscribe คืนฟังก์ชัน unsubscribe — เรียกตอน cleanup เสมอ</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1097280"/>
            <a:ext cx="3200400" cy="2743200"/>
          </a:xfrm>
          <a:prstGeom prst="rect">
            <a:avLst/>
          </a:prstGeom>
          <a:noFill/>
          <a:ln/>
        </p:spPr>
        <p:txBody>
          <a:bodyPr wrap="square" lIns="0" tIns="0" rIns="0" bIns="0" rtlCol="0" anchor="ctr"/>
          <a:lstStyle/>
          <a:p>
            <a:pPr marL="0" indent="0" algn="l">
              <a:buNone/>
            </a:pPr>
            <a:r>
              <a:rPr lang="en-US" sz="18000" b="1" dirty="0">
                <a:solidFill>
                  <a:srgbClr val="1B2C47"/>
                </a:solidFill>
                <a:latin typeface="Calibri" pitchFamily="34" charset="0"/>
                <a:ea typeface="Calibri" pitchFamily="34" charset="-122"/>
                <a:cs typeface="Calibri" pitchFamily="34" charset="-120"/>
              </a:rPr>
              <a:t>03</a:t>
            </a:r>
            <a:endParaRPr lang="en-US" sz="18000" dirty="0"/>
          </a:p>
        </p:txBody>
      </p:sp>
      <p:sp>
        <p:nvSpPr>
          <p:cNvPr id="3" name="Text 1"/>
          <p:cNvSpPr/>
          <p:nvPr/>
        </p:nvSpPr>
        <p:spPr>
          <a:xfrm>
            <a:off x="3657600" y="1828800"/>
            <a:ext cx="5120640" cy="822960"/>
          </a:xfrm>
          <a:prstGeom prst="rect">
            <a:avLst/>
          </a:prstGeom>
          <a:noFill/>
          <a:ln/>
        </p:spPr>
        <p:txBody>
          <a:bodyPr wrap="square" lIns="0" tIns="0" rIns="0" bIns="0" rtlCol="0" anchor="ctr"/>
          <a:lstStyle/>
          <a:p>
            <a:pPr marL="0" indent="0">
              <a:buNone/>
            </a:pPr>
            <a:r>
              <a:rPr lang="en-US" sz="3600" b="1" dirty="0">
                <a:solidFill>
                  <a:srgbClr val="E2E8F0"/>
                </a:solidFill>
                <a:latin typeface="Calibri" pitchFamily="34" charset="0"/>
                <a:ea typeface="Calibri" pitchFamily="34" charset="-122"/>
                <a:cs typeface="Calibri" pitchFamily="34" charset="-120"/>
              </a:rPr>
              <a:t>Middleware</a:t>
            </a:r>
            <a:endParaRPr lang="en-US" sz="3600" dirty="0"/>
          </a:p>
        </p:txBody>
      </p:sp>
      <p:sp>
        <p:nvSpPr>
          <p:cNvPr id="4" name="Text 2"/>
          <p:cNvSpPr/>
          <p:nvPr/>
        </p:nvSpPr>
        <p:spPr>
          <a:xfrm>
            <a:off x="3657600" y="2606040"/>
            <a:ext cx="5120640" cy="548640"/>
          </a:xfrm>
          <a:prstGeom prst="rect">
            <a:avLst/>
          </a:prstGeom>
          <a:noFill/>
          <a:ln/>
        </p:spPr>
        <p:txBody>
          <a:bodyPr wrap="square" lIns="0" tIns="0" rIns="0" bIns="0" rtlCol="0" anchor="ctr"/>
          <a:lstStyle/>
          <a:p>
            <a:pPr marL="0" indent="0">
              <a:buNone/>
            </a:pPr>
            <a:r>
              <a:rPr lang="en-US" sz="1600" dirty="0">
                <a:solidFill>
                  <a:srgbClr val="22D3EE"/>
                </a:solidFill>
                <a:latin typeface="Consolas" pitchFamily="34" charset="0"/>
                <a:ea typeface="Consolas" pitchFamily="34" charset="-122"/>
                <a:cs typeface="Consolas" pitchFamily="34" charset="-120"/>
              </a:rPr>
              <a:t>persist · devtools · immer · subscribeWithSelector</a:t>
            </a:r>
            <a:endParaRPr lang="en-US" sz="1600" dirty="0"/>
          </a:p>
        </p:txBody>
      </p:sp>
      <p:sp>
        <p:nvSpPr>
          <p:cNvPr id="5" name="Shape 3"/>
          <p:cNvSpPr/>
          <p:nvPr/>
        </p:nvSpPr>
        <p:spPr>
          <a:xfrm>
            <a:off x="3657600" y="3200400"/>
            <a:ext cx="548640" cy="73152"/>
          </a:xfrm>
          <a:prstGeom prst="rect">
            <a:avLst/>
          </a:prstGeom>
          <a:solidFill>
            <a:srgbClr val="A3E635"/>
          </a:solidFill>
          <a:ln/>
        </p:spPr>
      </p:sp>
      <p:sp>
        <p:nvSpPr>
          <p:cNvPr id="6" name="Text 4"/>
          <p:cNvSpPr/>
          <p:nvPr/>
        </p:nvSpPr>
        <p:spPr>
          <a:xfrm>
            <a:off x="365760" y="4846320"/>
            <a:ext cx="54864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20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persist 101</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เก็บ state ข้าม reload ด้วย localStorage</a:t>
            </a:r>
            <a:endParaRPr lang="en-US" sz="1300" dirty="0"/>
          </a:p>
        </p:txBody>
      </p:sp>
      <p:sp>
        <p:nvSpPr>
          <p:cNvPr id="6" name="Text 4"/>
          <p:cNvSpPr/>
          <p:nvPr/>
        </p:nvSpPr>
        <p:spPr>
          <a:xfrm>
            <a:off x="457200" y="1325880"/>
            <a:ext cx="420624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ห่อ initializer ด้วย persist(initializer, options)</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options.name → key ใน storage (required)</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options.storage → createJSONStorage(() =&gt; localStorage)</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Zustand sync state ↔ storage อัตโนมัติ</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รองรับ async storage (AsyncStorage, IndexedDB) ผ่าน adapter</a:t>
            </a:r>
            <a:endParaRPr lang="en-US" sz="1400" dirty="0"/>
          </a:p>
        </p:txBody>
      </p:sp>
      <p:sp>
        <p:nvSpPr>
          <p:cNvPr id="7" name="Shape 5"/>
          <p:cNvSpPr/>
          <p:nvPr/>
        </p:nvSpPr>
        <p:spPr>
          <a:xfrm>
            <a:off x="4754880" y="1325880"/>
            <a:ext cx="4023360" cy="3200400"/>
          </a:xfrm>
          <a:prstGeom prst="rect">
            <a:avLst/>
          </a:prstGeom>
          <a:solidFill>
            <a:srgbClr val="050B17"/>
          </a:solidFill>
          <a:ln w="12700">
            <a:solidFill>
              <a:srgbClr val="1B2C47"/>
            </a:solidFill>
            <a:prstDash val="solid"/>
          </a:ln>
        </p:spPr>
      </p:sp>
      <p:sp>
        <p:nvSpPr>
          <p:cNvPr id="8" name="Shape 6"/>
          <p:cNvSpPr/>
          <p:nvPr/>
        </p:nvSpPr>
        <p:spPr>
          <a:xfrm>
            <a:off x="4754880" y="1325880"/>
            <a:ext cx="4023360" cy="228600"/>
          </a:xfrm>
          <a:prstGeom prst="rect">
            <a:avLst/>
          </a:prstGeom>
          <a:solidFill>
            <a:srgbClr val="1B2C47"/>
          </a:solidFill>
          <a:ln/>
        </p:spPr>
      </p:sp>
      <p:sp>
        <p:nvSpPr>
          <p:cNvPr id="9" name="Shape 7"/>
          <p:cNvSpPr/>
          <p:nvPr/>
        </p:nvSpPr>
        <p:spPr>
          <a:xfrm>
            <a:off x="4846320" y="1389888"/>
            <a:ext cx="100584" cy="100584"/>
          </a:xfrm>
          <a:prstGeom prst="ellipse">
            <a:avLst/>
          </a:prstGeom>
          <a:solidFill>
            <a:srgbClr val="F87171"/>
          </a:solidFill>
          <a:ln/>
        </p:spPr>
      </p:sp>
      <p:sp>
        <p:nvSpPr>
          <p:cNvPr id="10" name="Shape 8"/>
          <p:cNvSpPr/>
          <p:nvPr/>
        </p:nvSpPr>
        <p:spPr>
          <a:xfrm>
            <a:off x="5010912" y="1389888"/>
            <a:ext cx="100584" cy="100584"/>
          </a:xfrm>
          <a:prstGeom prst="ellipse">
            <a:avLst/>
          </a:prstGeom>
          <a:solidFill>
            <a:srgbClr val="FBBF24"/>
          </a:solidFill>
          <a:ln/>
        </p:spPr>
      </p:sp>
      <p:sp>
        <p:nvSpPr>
          <p:cNvPr id="11" name="Shape 9"/>
          <p:cNvSpPr/>
          <p:nvPr/>
        </p:nvSpPr>
        <p:spPr>
          <a:xfrm>
            <a:off x="5175504" y="1389888"/>
            <a:ext cx="100584" cy="100584"/>
          </a:xfrm>
          <a:prstGeom prst="ellipse">
            <a:avLst/>
          </a:prstGeom>
          <a:solidFill>
            <a:srgbClr val="34D399"/>
          </a:solidFill>
          <a:ln/>
        </p:spPr>
      </p:sp>
      <p:sp>
        <p:nvSpPr>
          <p:cNvPr id="12" name="Text 10"/>
          <p:cNvSpPr/>
          <p:nvPr/>
        </p:nvSpPr>
        <p:spPr>
          <a:xfrm>
            <a:off x="7680960" y="1344168"/>
            <a:ext cx="1005840" cy="192024"/>
          </a:xfrm>
          <a:prstGeom prst="rect">
            <a:avLst/>
          </a:prstGeom>
          <a:noFill/>
          <a:ln/>
        </p:spPr>
        <p:txBody>
          <a:bodyPr wrap="square" lIns="0" tIns="0" rIns="0" bIns="0" rtlCol="0" anchor="ctr"/>
          <a:lstStyle/>
          <a:p>
            <a:pPr marL="0" indent="0" algn="r">
              <a:buNone/>
            </a:pPr>
            <a:r>
              <a:rPr lang="en-US" sz="800" dirty="0">
                <a:solidFill>
                  <a:srgbClr val="94A3B8"/>
                </a:solidFill>
                <a:latin typeface="Consolas" pitchFamily="34" charset="0"/>
                <a:ea typeface="Consolas" pitchFamily="34" charset="-122"/>
                <a:cs typeface="Consolas" pitchFamily="34" charset="-120"/>
              </a:rPr>
              <a:t>javascript</a:t>
            </a:r>
            <a:endParaRPr lang="en-US" sz="800" dirty="0"/>
          </a:p>
        </p:txBody>
      </p:sp>
      <p:sp>
        <p:nvSpPr>
          <p:cNvPr id="13" name="Text 11"/>
          <p:cNvSpPr/>
          <p:nvPr/>
        </p:nvSpPr>
        <p:spPr>
          <a:xfrm>
            <a:off x="4892040" y="1618488"/>
            <a:ext cx="3749040" cy="2834640"/>
          </a:xfrm>
          <a:prstGeom prst="rect">
            <a:avLst/>
          </a:prstGeom>
          <a:noFill/>
          <a:ln/>
        </p:spPr>
        <p:txBody>
          <a:bodyPr wrap="square" lIns="0" tIns="0" rIns="0" bIns="0" rtlCol="0" anchor="t"/>
          <a:lstStyle/>
          <a:p>
            <a:pPr marL="0" indent="0">
              <a:buNone/>
            </a:pPr>
            <a:r>
              <a:rPr lang="en-US" sz="900" dirty="0">
                <a:solidFill>
                  <a:srgbClr val="C7F9FF"/>
                </a:solidFill>
                <a:latin typeface="Consolas" pitchFamily="34" charset="0"/>
                <a:ea typeface="Consolas" pitchFamily="34" charset="-122"/>
                <a:cs typeface="Consolas" pitchFamily="34" charset="-120"/>
              </a:rPr>
              <a:t>import { create } from "zustand";</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import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persist, createJSONStorage</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from "zustand/middleware";</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export const usePrefsStore = create(</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persist(</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(set) =&gt;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theme: "light",</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setTheme: (theme) =&gt; set({ theme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name: "prefs",                    // storage key</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storage: createJSONStorage(</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 =&gt; localStorage</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partialize: (s) =&gt; ({ theme: s.theme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version: 1,</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21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persist options ละเอียด</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name · partialize · version · migrate · merge · skipHydration</a:t>
            </a:r>
            <a:endParaRPr lang="en-US" sz="1300" dirty="0"/>
          </a:p>
        </p:txBody>
      </p:sp>
      <p:sp>
        <p:nvSpPr>
          <p:cNvPr id="6" name="Text 4"/>
          <p:cNvSpPr/>
          <p:nvPr/>
        </p:nvSpPr>
        <p:spPr>
          <a:xfrm>
            <a:off x="457200" y="1280160"/>
            <a:ext cx="1920240" cy="292608"/>
          </a:xfrm>
          <a:prstGeom prst="rect">
            <a:avLst/>
          </a:prstGeom>
          <a:noFill/>
          <a:ln/>
        </p:spPr>
        <p:txBody>
          <a:bodyPr wrap="square" lIns="0" tIns="0" rIns="0" bIns="0" rtlCol="0" anchor="ctr"/>
          <a:lstStyle/>
          <a:p>
            <a:pPr marL="0" indent="0">
              <a:buNone/>
            </a:pPr>
            <a:r>
              <a:rPr lang="en-US" sz="1200" b="1" dirty="0">
                <a:solidFill>
                  <a:srgbClr val="22D3EE"/>
                </a:solidFill>
                <a:latin typeface="Consolas" pitchFamily="34" charset="0"/>
                <a:ea typeface="Consolas" pitchFamily="34" charset="-122"/>
                <a:cs typeface="Consolas" pitchFamily="34" charset="-120"/>
              </a:rPr>
              <a:t>name</a:t>
            </a:r>
            <a:endParaRPr lang="en-US" sz="1200" dirty="0"/>
          </a:p>
        </p:txBody>
      </p:sp>
      <p:sp>
        <p:nvSpPr>
          <p:cNvPr id="7" name="Text 5"/>
          <p:cNvSpPr/>
          <p:nvPr/>
        </p:nvSpPr>
        <p:spPr>
          <a:xfrm>
            <a:off x="2468880" y="1280160"/>
            <a:ext cx="6217920" cy="292608"/>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string key ใน storage (required)</a:t>
            </a:r>
            <a:endParaRPr lang="en-US" sz="1100" dirty="0"/>
          </a:p>
        </p:txBody>
      </p:sp>
      <p:sp>
        <p:nvSpPr>
          <p:cNvPr id="8" name="Text 6"/>
          <p:cNvSpPr/>
          <p:nvPr/>
        </p:nvSpPr>
        <p:spPr>
          <a:xfrm>
            <a:off x="457200" y="1609344"/>
            <a:ext cx="1920240" cy="292608"/>
          </a:xfrm>
          <a:prstGeom prst="rect">
            <a:avLst/>
          </a:prstGeom>
          <a:noFill/>
          <a:ln/>
        </p:spPr>
        <p:txBody>
          <a:bodyPr wrap="square" lIns="0" tIns="0" rIns="0" bIns="0" rtlCol="0" anchor="ctr"/>
          <a:lstStyle/>
          <a:p>
            <a:pPr marL="0" indent="0">
              <a:buNone/>
            </a:pPr>
            <a:r>
              <a:rPr lang="en-US" sz="1200" b="1" dirty="0">
                <a:solidFill>
                  <a:srgbClr val="22D3EE"/>
                </a:solidFill>
                <a:latin typeface="Consolas" pitchFamily="34" charset="0"/>
                <a:ea typeface="Consolas" pitchFamily="34" charset="-122"/>
                <a:cs typeface="Consolas" pitchFamily="34" charset="-120"/>
              </a:rPr>
              <a:t>storage</a:t>
            </a:r>
            <a:endParaRPr lang="en-US" sz="1200" dirty="0"/>
          </a:p>
        </p:txBody>
      </p:sp>
      <p:sp>
        <p:nvSpPr>
          <p:cNvPr id="9" name="Text 7"/>
          <p:cNvSpPr/>
          <p:nvPr/>
        </p:nvSpPr>
        <p:spPr>
          <a:xfrm>
            <a:off x="2468880" y="1609344"/>
            <a:ext cx="6217920" cy="292608"/>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createJSONStorage(() =&gt; localStorage|sessionStorage|AsyncStorage)</a:t>
            </a:r>
            <a:endParaRPr lang="en-US" sz="1100" dirty="0"/>
          </a:p>
        </p:txBody>
      </p:sp>
      <p:sp>
        <p:nvSpPr>
          <p:cNvPr id="10" name="Text 8"/>
          <p:cNvSpPr/>
          <p:nvPr/>
        </p:nvSpPr>
        <p:spPr>
          <a:xfrm>
            <a:off x="457200" y="1938528"/>
            <a:ext cx="1920240" cy="292608"/>
          </a:xfrm>
          <a:prstGeom prst="rect">
            <a:avLst/>
          </a:prstGeom>
          <a:noFill/>
          <a:ln/>
        </p:spPr>
        <p:txBody>
          <a:bodyPr wrap="square" lIns="0" tIns="0" rIns="0" bIns="0" rtlCol="0" anchor="ctr"/>
          <a:lstStyle/>
          <a:p>
            <a:pPr marL="0" indent="0">
              <a:buNone/>
            </a:pPr>
            <a:r>
              <a:rPr lang="en-US" sz="1200" b="1" dirty="0">
                <a:solidFill>
                  <a:srgbClr val="22D3EE"/>
                </a:solidFill>
                <a:latin typeface="Consolas" pitchFamily="34" charset="0"/>
                <a:ea typeface="Consolas" pitchFamily="34" charset="-122"/>
                <a:cs typeface="Consolas" pitchFamily="34" charset="-120"/>
              </a:rPr>
              <a:t>partialize</a:t>
            </a:r>
            <a:endParaRPr lang="en-US" sz="1200" dirty="0"/>
          </a:p>
        </p:txBody>
      </p:sp>
      <p:sp>
        <p:nvSpPr>
          <p:cNvPr id="11" name="Text 9"/>
          <p:cNvSpPr/>
          <p:nvPr/>
        </p:nvSpPr>
        <p:spPr>
          <a:xfrm>
            <a:off x="2468880" y="1938528"/>
            <a:ext cx="6217920" cy="292608"/>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(s) =&gt; slice — เก็บเฉพาะ field ที่ต้องการ</a:t>
            </a:r>
            <a:endParaRPr lang="en-US" sz="1100" dirty="0"/>
          </a:p>
        </p:txBody>
      </p:sp>
      <p:sp>
        <p:nvSpPr>
          <p:cNvPr id="12" name="Text 10"/>
          <p:cNvSpPr/>
          <p:nvPr/>
        </p:nvSpPr>
        <p:spPr>
          <a:xfrm>
            <a:off x="457200" y="2267712"/>
            <a:ext cx="1920240" cy="292608"/>
          </a:xfrm>
          <a:prstGeom prst="rect">
            <a:avLst/>
          </a:prstGeom>
          <a:noFill/>
          <a:ln/>
        </p:spPr>
        <p:txBody>
          <a:bodyPr wrap="square" lIns="0" tIns="0" rIns="0" bIns="0" rtlCol="0" anchor="ctr"/>
          <a:lstStyle/>
          <a:p>
            <a:pPr marL="0" indent="0">
              <a:buNone/>
            </a:pPr>
            <a:r>
              <a:rPr lang="en-US" sz="1200" b="1" dirty="0">
                <a:solidFill>
                  <a:srgbClr val="22D3EE"/>
                </a:solidFill>
                <a:latin typeface="Consolas" pitchFamily="34" charset="0"/>
                <a:ea typeface="Consolas" pitchFamily="34" charset="-122"/>
                <a:cs typeface="Consolas" pitchFamily="34" charset="-120"/>
              </a:rPr>
              <a:t>version</a:t>
            </a:r>
            <a:endParaRPr lang="en-US" sz="1200" dirty="0"/>
          </a:p>
        </p:txBody>
      </p:sp>
      <p:sp>
        <p:nvSpPr>
          <p:cNvPr id="13" name="Text 11"/>
          <p:cNvSpPr/>
          <p:nvPr/>
        </p:nvSpPr>
        <p:spPr>
          <a:xfrm>
            <a:off x="2468880" y="2267712"/>
            <a:ext cx="6217920" cy="292608"/>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number — ถ้า schema เปลี่ยนต้องเพิ่มเลข</a:t>
            </a:r>
            <a:endParaRPr lang="en-US" sz="1100" dirty="0"/>
          </a:p>
        </p:txBody>
      </p:sp>
      <p:sp>
        <p:nvSpPr>
          <p:cNvPr id="14" name="Text 12"/>
          <p:cNvSpPr/>
          <p:nvPr/>
        </p:nvSpPr>
        <p:spPr>
          <a:xfrm>
            <a:off x="457200" y="2596896"/>
            <a:ext cx="1920240" cy="292608"/>
          </a:xfrm>
          <a:prstGeom prst="rect">
            <a:avLst/>
          </a:prstGeom>
          <a:noFill/>
          <a:ln/>
        </p:spPr>
        <p:txBody>
          <a:bodyPr wrap="square" lIns="0" tIns="0" rIns="0" bIns="0" rtlCol="0" anchor="ctr"/>
          <a:lstStyle/>
          <a:p>
            <a:pPr marL="0" indent="0">
              <a:buNone/>
            </a:pPr>
            <a:r>
              <a:rPr lang="en-US" sz="1200" b="1" dirty="0">
                <a:solidFill>
                  <a:srgbClr val="22D3EE"/>
                </a:solidFill>
                <a:latin typeface="Consolas" pitchFamily="34" charset="0"/>
                <a:ea typeface="Consolas" pitchFamily="34" charset="-122"/>
                <a:cs typeface="Consolas" pitchFamily="34" charset="-120"/>
              </a:rPr>
              <a:t>migrate</a:t>
            </a:r>
            <a:endParaRPr lang="en-US" sz="1200" dirty="0"/>
          </a:p>
        </p:txBody>
      </p:sp>
      <p:sp>
        <p:nvSpPr>
          <p:cNvPr id="15" name="Text 13"/>
          <p:cNvSpPr/>
          <p:nvPr/>
        </p:nvSpPr>
        <p:spPr>
          <a:xfrm>
            <a:off x="2468880" y="2596896"/>
            <a:ext cx="6217920" cy="292608"/>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(persisted, version) =&gt; newState — แปลงข้อมูลเก่า</a:t>
            </a:r>
            <a:endParaRPr lang="en-US" sz="1100" dirty="0"/>
          </a:p>
        </p:txBody>
      </p:sp>
      <p:sp>
        <p:nvSpPr>
          <p:cNvPr id="16" name="Text 14"/>
          <p:cNvSpPr/>
          <p:nvPr/>
        </p:nvSpPr>
        <p:spPr>
          <a:xfrm>
            <a:off x="457200" y="2926080"/>
            <a:ext cx="1920240" cy="292608"/>
          </a:xfrm>
          <a:prstGeom prst="rect">
            <a:avLst/>
          </a:prstGeom>
          <a:noFill/>
          <a:ln/>
        </p:spPr>
        <p:txBody>
          <a:bodyPr wrap="square" lIns="0" tIns="0" rIns="0" bIns="0" rtlCol="0" anchor="ctr"/>
          <a:lstStyle/>
          <a:p>
            <a:pPr marL="0" indent="0">
              <a:buNone/>
            </a:pPr>
            <a:r>
              <a:rPr lang="en-US" sz="1200" b="1" dirty="0">
                <a:solidFill>
                  <a:srgbClr val="22D3EE"/>
                </a:solidFill>
                <a:latin typeface="Consolas" pitchFamily="34" charset="0"/>
                <a:ea typeface="Consolas" pitchFamily="34" charset="-122"/>
                <a:cs typeface="Consolas" pitchFamily="34" charset="-120"/>
              </a:rPr>
              <a:t>merge</a:t>
            </a:r>
            <a:endParaRPr lang="en-US" sz="1200" dirty="0"/>
          </a:p>
        </p:txBody>
      </p:sp>
      <p:sp>
        <p:nvSpPr>
          <p:cNvPr id="17" name="Text 15"/>
          <p:cNvSpPr/>
          <p:nvPr/>
        </p:nvSpPr>
        <p:spPr>
          <a:xfrm>
            <a:off x="2468880" y="2926080"/>
            <a:ext cx="6217920" cy="292608"/>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(persisted, current) =&gt; merged — deep merge logic เอง</a:t>
            </a:r>
            <a:endParaRPr lang="en-US" sz="1100" dirty="0"/>
          </a:p>
        </p:txBody>
      </p:sp>
      <p:sp>
        <p:nvSpPr>
          <p:cNvPr id="18" name="Text 16"/>
          <p:cNvSpPr/>
          <p:nvPr/>
        </p:nvSpPr>
        <p:spPr>
          <a:xfrm>
            <a:off x="457200" y="3255264"/>
            <a:ext cx="1920240" cy="292608"/>
          </a:xfrm>
          <a:prstGeom prst="rect">
            <a:avLst/>
          </a:prstGeom>
          <a:noFill/>
          <a:ln/>
        </p:spPr>
        <p:txBody>
          <a:bodyPr wrap="square" lIns="0" tIns="0" rIns="0" bIns="0" rtlCol="0" anchor="ctr"/>
          <a:lstStyle/>
          <a:p>
            <a:pPr marL="0" indent="0">
              <a:buNone/>
            </a:pPr>
            <a:r>
              <a:rPr lang="en-US" sz="1200" b="1" dirty="0">
                <a:solidFill>
                  <a:srgbClr val="22D3EE"/>
                </a:solidFill>
                <a:latin typeface="Consolas" pitchFamily="34" charset="0"/>
                <a:ea typeface="Consolas" pitchFamily="34" charset="-122"/>
                <a:cs typeface="Consolas" pitchFamily="34" charset="-120"/>
              </a:rPr>
              <a:t>skipHydration</a:t>
            </a:r>
            <a:endParaRPr lang="en-US" sz="1200" dirty="0"/>
          </a:p>
        </p:txBody>
      </p:sp>
      <p:sp>
        <p:nvSpPr>
          <p:cNvPr id="19" name="Text 17"/>
          <p:cNvSpPr/>
          <p:nvPr/>
        </p:nvSpPr>
        <p:spPr>
          <a:xfrm>
            <a:off x="2468880" y="3255264"/>
            <a:ext cx="6217920" cy="292608"/>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true → ต้องเรียก useStore.persist.rehydrate() เอง</a:t>
            </a:r>
            <a:endParaRPr lang="en-US" sz="1100" dirty="0"/>
          </a:p>
        </p:txBody>
      </p:sp>
      <p:sp>
        <p:nvSpPr>
          <p:cNvPr id="20" name="Text 18"/>
          <p:cNvSpPr/>
          <p:nvPr/>
        </p:nvSpPr>
        <p:spPr>
          <a:xfrm>
            <a:off x="457200" y="3584448"/>
            <a:ext cx="1920240" cy="292608"/>
          </a:xfrm>
          <a:prstGeom prst="rect">
            <a:avLst/>
          </a:prstGeom>
          <a:noFill/>
          <a:ln/>
        </p:spPr>
        <p:txBody>
          <a:bodyPr wrap="square" lIns="0" tIns="0" rIns="0" bIns="0" rtlCol="0" anchor="ctr"/>
          <a:lstStyle/>
          <a:p>
            <a:pPr marL="0" indent="0">
              <a:buNone/>
            </a:pPr>
            <a:r>
              <a:rPr lang="en-US" sz="1200" b="1" dirty="0">
                <a:solidFill>
                  <a:srgbClr val="22D3EE"/>
                </a:solidFill>
                <a:latin typeface="Consolas" pitchFamily="34" charset="0"/>
                <a:ea typeface="Consolas" pitchFamily="34" charset="-122"/>
                <a:cs typeface="Consolas" pitchFamily="34" charset="-120"/>
              </a:rPr>
              <a:t>onRehydrateStorage</a:t>
            </a:r>
            <a:endParaRPr lang="en-US" sz="1200" dirty="0"/>
          </a:p>
        </p:txBody>
      </p:sp>
      <p:sp>
        <p:nvSpPr>
          <p:cNvPr id="21" name="Text 19"/>
          <p:cNvSpPr/>
          <p:nvPr/>
        </p:nvSpPr>
        <p:spPr>
          <a:xfrm>
            <a:off x="2468880" y="3584448"/>
            <a:ext cx="6217920" cy="292608"/>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=&gt; (state, error) =&gt; {…} — hook หลัง rehydrate</a:t>
            </a:r>
            <a:endParaRPr lang="en-US" sz="1100" dirty="0"/>
          </a:p>
        </p:txBody>
      </p:sp>
      <p:sp>
        <p:nvSpPr>
          <p:cNvPr id="22" name="Shape 20"/>
          <p:cNvSpPr/>
          <p:nvPr/>
        </p:nvSpPr>
        <p:spPr>
          <a:xfrm>
            <a:off x="457200" y="4114800"/>
            <a:ext cx="8229600" cy="777240"/>
          </a:xfrm>
          <a:prstGeom prst="rect">
            <a:avLst/>
          </a:prstGeom>
          <a:solidFill>
            <a:srgbClr val="132238"/>
          </a:solidFill>
          <a:ln w="12700">
            <a:solidFill>
              <a:srgbClr val="F472B6"/>
            </a:solidFill>
            <a:prstDash val="solid"/>
          </a:ln>
        </p:spPr>
      </p:sp>
      <p:sp>
        <p:nvSpPr>
          <p:cNvPr id="23" name="Text 21"/>
          <p:cNvSpPr/>
          <p:nvPr/>
        </p:nvSpPr>
        <p:spPr>
          <a:xfrm>
            <a:off x="594360" y="4160520"/>
            <a:ext cx="7955280" cy="228600"/>
          </a:xfrm>
          <a:prstGeom prst="rect">
            <a:avLst/>
          </a:prstGeom>
          <a:noFill/>
          <a:ln/>
        </p:spPr>
        <p:txBody>
          <a:bodyPr wrap="square" lIns="0" tIns="0" rIns="0" bIns="0" rtlCol="0" anchor="ctr"/>
          <a:lstStyle/>
          <a:p>
            <a:pPr marL="0" indent="0">
              <a:buNone/>
            </a:pPr>
            <a:r>
              <a:rPr lang="en-US" sz="1100" b="1" dirty="0">
                <a:solidFill>
                  <a:srgbClr val="F472B6"/>
                </a:solidFill>
                <a:latin typeface="Calibri" pitchFamily="34" charset="0"/>
                <a:ea typeface="Calibri" pitchFamily="34" charset="-122"/>
                <a:cs typeface="Calibri" pitchFamily="34" charset="-120"/>
              </a:rPr>
              <a:t>⚠ Pitfalls / ข้อควรระวัง</a:t>
            </a:r>
            <a:endParaRPr lang="en-US" sz="1100" dirty="0"/>
          </a:p>
        </p:txBody>
      </p:sp>
      <p:sp>
        <p:nvSpPr>
          <p:cNvPr id="24" name="Text 22"/>
          <p:cNvSpPr/>
          <p:nvPr/>
        </p:nvSpPr>
        <p:spPr>
          <a:xfrm>
            <a:off x="594360" y="4389120"/>
            <a:ext cx="7955280" cy="457200"/>
          </a:xfrm>
          <a:prstGeom prst="rect">
            <a:avLst/>
          </a:prstGeom>
          <a:noFill/>
          <a:ln/>
        </p:spPr>
        <p:txBody>
          <a:bodyPr wrap="square" lIns="0" tIns="0" rIns="0" bIns="0" rtlCol="0" anchor="ctr"/>
          <a:lstStyle/>
          <a:p>
            <a:pPr marL="342900" indent="-342900">
              <a:buSzPct val="100000"/>
              <a:buChar char="•"/>
            </a:pPr>
            <a:r>
              <a:rPr lang="en-US" sz="1000" dirty="0">
                <a:solidFill>
                  <a:srgbClr val="E2E8F0"/>
                </a:solidFill>
                <a:latin typeface="Calibri" pitchFamily="34" charset="0"/>
                <a:ea typeface="Calibri" pitchFamily="34" charset="-122"/>
                <a:cs typeface="Calibri" pitchFamily="34" charset="-120"/>
              </a:rPr>
              <a:t>ห้าม persist token / password ลง localStorage แบบ plain — ใช้ httpOnly cookie หรือเข้ารหัส</a:t>
            </a:r>
            <a:endParaRPr lang="en-US" sz="1000" dirty="0"/>
          </a:p>
          <a:p>
            <a:pPr marL="342900" indent="-342900">
              <a:buSzPct val="100000"/>
              <a:buChar char="•"/>
            </a:pPr>
            <a:r>
              <a:rPr lang="en-US" sz="1000" dirty="0">
                <a:solidFill>
                  <a:srgbClr val="E2E8F0"/>
                </a:solidFill>
                <a:latin typeface="Calibri" pitchFamily="34" charset="0"/>
                <a:ea typeface="Calibri" pitchFamily="34" charset="-122"/>
                <a:cs typeface="Calibri" pitchFamily="34" charset="-120"/>
              </a:rPr>
              <a:t>ลืมเพิ่ม version + migrate → user เก่าโหลดเจอ schema mismatch แล้วแอป crash</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22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devtools middleware</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Redux DevTools + time travel</a:t>
            </a:r>
            <a:endParaRPr lang="en-US" sz="1300" dirty="0"/>
          </a:p>
        </p:txBody>
      </p:sp>
      <p:sp>
        <p:nvSpPr>
          <p:cNvPr id="6" name="Text 4"/>
          <p:cNvSpPr/>
          <p:nvPr/>
        </p:nvSpPr>
        <p:spPr>
          <a:xfrm>
            <a:off x="457200" y="1325880"/>
            <a:ext cx="420624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ห่อด้วย devtools(initializer, { name })</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ติดตั้ง Redux DevTools extension ในเบราว์เซอร์</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เห็นทุก action + diff state + time travel</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ใส่ชื่อ action ใน set: set(fn, false, 'auth/login')</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เปิดเฉพาะ dev environment — ปิดใน production</a:t>
            </a:r>
            <a:endParaRPr lang="en-US" sz="1400" dirty="0"/>
          </a:p>
        </p:txBody>
      </p:sp>
      <p:sp>
        <p:nvSpPr>
          <p:cNvPr id="7" name="Shape 5"/>
          <p:cNvSpPr/>
          <p:nvPr/>
        </p:nvSpPr>
        <p:spPr>
          <a:xfrm>
            <a:off x="4754880" y="1325880"/>
            <a:ext cx="4023360" cy="3200400"/>
          </a:xfrm>
          <a:prstGeom prst="rect">
            <a:avLst/>
          </a:prstGeom>
          <a:solidFill>
            <a:srgbClr val="050B17"/>
          </a:solidFill>
          <a:ln w="12700">
            <a:solidFill>
              <a:srgbClr val="1B2C47"/>
            </a:solidFill>
            <a:prstDash val="solid"/>
          </a:ln>
        </p:spPr>
      </p:sp>
      <p:sp>
        <p:nvSpPr>
          <p:cNvPr id="8" name="Shape 6"/>
          <p:cNvSpPr/>
          <p:nvPr/>
        </p:nvSpPr>
        <p:spPr>
          <a:xfrm>
            <a:off x="4754880" y="1325880"/>
            <a:ext cx="4023360" cy="228600"/>
          </a:xfrm>
          <a:prstGeom prst="rect">
            <a:avLst/>
          </a:prstGeom>
          <a:solidFill>
            <a:srgbClr val="1B2C47"/>
          </a:solidFill>
          <a:ln/>
        </p:spPr>
      </p:sp>
      <p:sp>
        <p:nvSpPr>
          <p:cNvPr id="9" name="Shape 7"/>
          <p:cNvSpPr/>
          <p:nvPr/>
        </p:nvSpPr>
        <p:spPr>
          <a:xfrm>
            <a:off x="4846320" y="1389888"/>
            <a:ext cx="100584" cy="100584"/>
          </a:xfrm>
          <a:prstGeom prst="ellipse">
            <a:avLst/>
          </a:prstGeom>
          <a:solidFill>
            <a:srgbClr val="F87171"/>
          </a:solidFill>
          <a:ln/>
        </p:spPr>
      </p:sp>
      <p:sp>
        <p:nvSpPr>
          <p:cNvPr id="10" name="Shape 8"/>
          <p:cNvSpPr/>
          <p:nvPr/>
        </p:nvSpPr>
        <p:spPr>
          <a:xfrm>
            <a:off x="5010912" y="1389888"/>
            <a:ext cx="100584" cy="100584"/>
          </a:xfrm>
          <a:prstGeom prst="ellipse">
            <a:avLst/>
          </a:prstGeom>
          <a:solidFill>
            <a:srgbClr val="FBBF24"/>
          </a:solidFill>
          <a:ln/>
        </p:spPr>
      </p:sp>
      <p:sp>
        <p:nvSpPr>
          <p:cNvPr id="11" name="Shape 9"/>
          <p:cNvSpPr/>
          <p:nvPr/>
        </p:nvSpPr>
        <p:spPr>
          <a:xfrm>
            <a:off x="5175504" y="1389888"/>
            <a:ext cx="100584" cy="100584"/>
          </a:xfrm>
          <a:prstGeom prst="ellipse">
            <a:avLst/>
          </a:prstGeom>
          <a:solidFill>
            <a:srgbClr val="34D399"/>
          </a:solidFill>
          <a:ln/>
        </p:spPr>
      </p:sp>
      <p:sp>
        <p:nvSpPr>
          <p:cNvPr id="12" name="Text 10"/>
          <p:cNvSpPr/>
          <p:nvPr/>
        </p:nvSpPr>
        <p:spPr>
          <a:xfrm>
            <a:off x="7680960" y="1344168"/>
            <a:ext cx="1005840" cy="192024"/>
          </a:xfrm>
          <a:prstGeom prst="rect">
            <a:avLst/>
          </a:prstGeom>
          <a:noFill/>
          <a:ln/>
        </p:spPr>
        <p:txBody>
          <a:bodyPr wrap="square" lIns="0" tIns="0" rIns="0" bIns="0" rtlCol="0" anchor="ctr"/>
          <a:lstStyle/>
          <a:p>
            <a:pPr marL="0" indent="0" algn="r">
              <a:buNone/>
            </a:pPr>
            <a:r>
              <a:rPr lang="en-US" sz="800" dirty="0">
                <a:solidFill>
                  <a:srgbClr val="94A3B8"/>
                </a:solidFill>
                <a:latin typeface="Consolas" pitchFamily="34" charset="0"/>
                <a:ea typeface="Consolas" pitchFamily="34" charset="-122"/>
                <a:cs typeface="Consolas" pitchFamily="34" charset="-120"/>
              </a:rPr>
              <a:t>javascript</a:t>
            </a:r>
            <a:endParaRPr lang="en-US" sz="800" dirty="0"/>
          </a:p>
        </p:txBody>
      </p:sp>
      <p:sp>
        <p:nvSpPr>
          <p:cNvPr id="13" name="Text 11"/>
          <p:cNvSpPr/>
          <p:nvPr/>
        </p:nvSpPr>
        <p:spPr>
          <a:xfrm>
            <a:off x="4892040" y="1618488"/>
            <a:ext cx="3749040" cy="2834640"/>
          </a:xfrm>
          <a:prstGeom prst="rect">
            <a:avLst/>
          </a:prstGeom>
          <a:noFill/>
          <a:ln/>
        </p:spPr>
        <p:txBody>
          <a:bodyPr wrap="square" lIns="0" tIns="0" rIns="0" bIns="0" rtlCol="0" anchor="t"/>
          <a:lstStyle/>
          <a:p>
            <a:pPr marL="0" indent="0">
              <a:buNone/>
            </a:pPr>
            <a:r>
              <a:rPr lang="en-US" sz="1000" dirty="0">
                <a:solidFill>
                  <a:srgbClr val="C7F9FF"/>
                </a:solidFill>
                <a:latin typeface="Consolas" pitchFamily="34" charset="0"/>
                <a:ea typeface="Consolas" pitchFamily="34" charset="-122"/>
                <a:cs typeface="Consolas" pitchFamily="34" charset="-120"/>
              </a:rPr>
              <a:t>import { create } from "zustand";</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import { devtools } from "zustand/middleware";</a:t>
            </a:r>
            <a:endParaRPr lang="en-US" sz="1000" dirty="0"/>
          </a:p>
          <a:p>
            <a:pPr marL="0" indent="0">
              <a:buNone/>
            </a:pP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export const useAuthStore = create(</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devtools(</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(set) =&gt; ({</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user: null,</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login: (u) =&gt;</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set({ user: u }, false, "auth/login"),</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logout: () =&gt;</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set({ user: null }, false, "auth/logout"),</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name: "auth-store",</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enabled: import.meta.env.DEV, // dev only</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a:t>
            </a:r>
            <a:endParaRPr lang="en-US" sz="1000" dirty="0"/>
          </a:p>
        </p:txBody>
      </p:sp>
      <p:sp>
        <p:nvSpPr>
          <p:cNvPr id="14" name="Shape 12"/>
          <p:cNvSpPr/>
          <p:nvPr/>
        </p:nvSpPr>
        <p:spPr>
          <a:xfrm>
            <a:off x="457200" y="4023360"/>
            <a:ext cx="8229600" cy="777240"/>
          </a:xfrm>
          <a:prstGeom prst="rect">
            <a:avLst/>
          </a:prstGeom>
          <a:solidFill>
            <a:srgbClr val="132238"/>
          </a:solidFill>
          <a:ln w="12700">
            <a:solidFill>
              <a:srgbClr val="F472B6"/>
            </a:solidFill>
            <a:prstDash val="solid"/>
          </a:ln>
        </p:spPr>
      </p:sp>
      <p:sp>
        <p:nvSpPr>
          <p:cNvPr id="15" name="Text 13"/>
          <p:cNvSpPr/>
          <p:nvPr/>
        </p:nvSpPr>
        <p:spPr>
          <a:xfrm>
            <a:off x="594360" y="4069080"/>
            <a:ext cx="7955280" cy="228600"/>
          </a:xfrm>
          <a:prstGeom prst="rect">
            <a:avLst/>
          </a:prstGeom>
          <a:noFill/>
          <a:ln/>
        </p:spPr>
        <p:txBody>
          <a:bodyPr wrap="square" lIns="0" tIns="0" rIns="0" bIns="0" rtlCol="0" anchor="ctr"/>
          <a:lstStyle/>
          <a:p>
            <a:pPr marL="0" indent="0">
              <a:buNone/>
            </a:pPr>
            <a:r>
              <a:rPr lang="en-US" sz="1100" b="1" dirty="0">
                <a:solidFill>
                  <a:srgbClr val="F472B6"/>
                </a:solidFill>
                <a:latin typeface="Calibri" pitchFamily="34" charset="0"/>
                <a:ea typeface="Calibri" pitchFamily="34" charset="-122"/>
                <a:cs typeface="Calibri" pitchFamily="34" charset="-120"/>
              </a:rPr>
              <a:t>⚠ Pitfalls / ข้อควรระวัง</a:t>
            </a:r>
            <a:endParaRPr lang="en-US" sz="1100" dirty="0"/>
          </a:p>
        </p:txBody>
      </p:sp>
      <p:sp>
        <p:nvSpPr>
          <p:cNvPr id="16" name="Text 14"/>
          <p:cNvSpPr/>
          <p:nvPr/>
        </p:nvSpPr>
        <p:spPr>
          <a:xfrm>
            <a:off x="594360" y="4297680"/>
            <a:ext cx="7955280" cy="457200"/>
          </a:xfrm>
          <a:prstGeom prst="rect">
            <a:avLst/>
          </a:prstGeom>
          <a:noFill/>
          <a:ln/>
        </p:spPr>
        <p:txBody>
          <a:bodyPr wrap="square" lIns="0" tIns="0" rIns="0" bIns="0" rtlCol="0" anchor="ctr"/>
          <a:lstStyle/>
          <a:p>
            <a:pPr marL="342900" indent="-342900">
              <a:buSzPct val="100000"/>
              <a:buChar char="•"/>
            </a:pPr>
            <a:r>
              <a:rPr lang="en-US" sz="1000" dirty="0">
                <a:solidFill>
                  <a:srgbClr val="E2E8F0"/>
                </a:solidFill>
                <a:latin typeface="Calibri" pitchFamily="34" charset="0"/>
                <a:ea typeface="Calibri" pitchFamily="34" charset="-122"/>
                <a:cs typeface="Calibri" pitchFamily="34" charset="-120"/>
              </a:rPr>
              <a:t>อย่าเปิด devtools ใน production — leak state ออกผ่าน extension และเพิ่ม overhead</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23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immer &amp; subscribeWithSelector</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เลือกใช้เมื่อโครงสร้าง state ซ้อนลึก / ต้องการ subscribe นอก React</a:t>
            </a:r>
            <a:endParaRPr lang="en-US" sz="1300" dirty="0"/>
          </a:p>
        </p:txBody>
      </p:sp>
      <p:sp>
        <p:nvSpPr>
          <p:cNvPr id="6" name="Shape 4"/>
          <p:cNvSpPr/>
          <p:nvPr/>
        </p:nvSpPr>
        <p:spPr>
          <a:xfrm>
            <a:off x="457200" y="1280160"/>
            <a:ext cx="4023360" cy="2743200"/>
          </a:xfrm>
          <a:prstGeom prst="roundRect">
            <a:avLst>
              <a:gd name="adj" fmla="val 3333"/>
            </a:avLst>
          </a:prstGeom>
          <a:solidFill>
            <a:srgbClr val="132238"/>
          </a:solidFill>
          <a:ln w="19050">
            <a:solidFill>
              <a:srgbClr val="A3E635"/>
            </a:solidFill>
            <a:prstDash val="solid"/>
          </a:ln>
        </p:spPr>
      </p:sp>
      <p:sp>
        <p:nvSpPr>
          <p:cNvPr id="7" name="Text 5"/>
          <p:cNvSpPr/>
          <p:nvPr/>
        </p:nvSpPr>
        <p:spPr>
          <a:xfrm>
            <a:off x="640080" y="1371600"/>
            <a:ext cx="3657600" cy="320040"/>
          </a:xfrm>
          <a:prstGeom prst="rect">
            <a:avLst/>
          </a:prstGeom>
          <a:noFill/>
          <a:ln/>
        </p:spPr>
        <p:txBody>
          <a:bodyPr wrap="square" lIns="0" tIns="0" rIns="0" bIns="0" rtlCol="0" anchor="ctr"/>
          <a:lstStyle/>
          <a:p>
            <a:pPr marL="0" indent="0">
              <a:buNone/>
            </a:pPr>
            <a:r>
              <a:rPr lang="en-US" sz="1400" b="1" dirty="0">
                <a:solidFill>
                  <a:srgbClr val="A3E635"/>
                </a:solidFill>
                <a:latin typeface="Calibri" pitchFamily="34" charset="0"/>
                <a:ea typeface="Calibri" pitchFamily="34" charset="-122"/>
                <a:cs typeface="Calibri" pitchFamily="34" charset="-120"/>
              </a:rPr>
              <a:t>immer</a:t>
            </a:r>
            <a:endParaRPr lang="en-US" sz="1400" dirty="0"/>
          </a:p>
        </p:txBody>
      </p:sp>
      <p:sp>
        <p:nvSpPr>
          <p:cNvPr id="8" name="Text 6"/>
          <p:cNvSpPr/>
          <p:nvPr/>
        </p:nvSpPr>
        <p:spPr>
          <a:xfrm>
            <a:off x="640080" y="1691640"/>
            <a:ext cx="3657600" cy="27432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เขียน mutation ตรง ๆ; immer ทำ immutable ให้</a:t>
            </a:r>
            <a:endParaRPr lang="en-US" sz="1100" dirty="0"/>
          </a:p>
        </p:txBody>
      </p:sp>
      <p:sp>
        <p:nvSpPr>
          <p:cNvPr id="9" name="Text 7"/>
          <p:cNvSpPr/>
          <p:nvPr/>
        </p:nvSpPr>
        <p:spPr>
          <a:xfrm>
            <a:off x="640080" y="2011680"/>
            <a:ext cx="3657600" cy="1828800"/>
          </a:xfrm>
          <a:prstGeom prst="rect">
            <a:avLst/>
          </a:prstGeom>
          <a:solidFill>
            <a:srgbClr val="050B17"/>
          </a:solidFill>
          <a:ln/>
        </p:spPr>
        <p:txBody>
          <a:bodyPr wrap="square" lIns="0" tIns="0" rIns="0" bIns="0" rtlCol="0" anchor="ctr"/>
          <a:lstStyle/>
          <a:p>
            <a:pPr marL="0" indent="0">
              <a:buNone/>
            </a:pPr>
            <a:r>
              <a:rPr lang="en-US" sz="1000" dirty="0">
                <a:solidFill>
                  <a:srgbClr val="C7F9FF"/>
                </a:solidFill>
                <a:latin typeface="Consolas" pitchFamily="34" charset="0"/>
                <a:ea typeface="Consolas" pitchFamily="34" charset="-122"/>
                <a:cs typeface="Consolas" pitchFamily="34" charset="-120"/>
              </a:rPr>
              <a:t>import { immer } from</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"zustand/middleware/immer";</a:t>
            </a:r>
            <a:endParaRPr lang="en-US" sz="1000" dirty="0"/>
          </a:p>
          <a:p>
            <a:pPr marL="0" indent="0">
              <a:buNone/>
            </a:pP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create(immer((set) =&gt; ({</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todos: [],</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add: (t) =&gt; set((s) =&gt; {</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s.todos.push(t); // OK!</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a:t>
            </a:r>
            <a:endParaRPr lang="en-US" sz="1000" dirty="0"/>
          </a:p>
        </p:txBody>
      </p:sp>
      <p:sp>
        <p:nvSpPr>
          <p:cNvPr id="10" name="Shape 8"/>
          <p:cNvSpPr/>
          <p:nvPr/>
        </p:nvSpPr>
        <p:spPr>
          <a:xfrm>
            <a:off x="4663440" y="1280160"/>
            <a:ext cx="4023360" cy="2743200"/>
          </a:xfrm>
          <a:prstGeom prst="roundRect">
            <a:avLst>
              <a:gd name="adj" fmla="val 3333"/>
            </a:avLst>
          </a:prstGeom>
          <a:solidFill>
            <a:srgbClr val="132238"/>
          </a:solidFill>
          <a:ln w="19050">
            <a:solidFill>
              <a:srgbClr val="22D3EE"/>
            </a:solidFill>
            <a:prstDash val="solid"/>
          </a:ln>
        </p:spPr>
      </p:sp>
      <p:sp>
        <p:nvSpPr>
          <p:cNvPr id="11" name="Text 9"/>
          <p:cNvSpPr/>
          <p:nvPr/>
        </p:nvSpPr>
        <p:spPr>
          <a:xfrm>
            <a:off x="4846320" y="1371600"/>
            <a:ext cx="3657600" cy="320040"/>
          </a:xfrm>
          <a:prstGeom prst="rect">
            <a:avLst/>
          </a:prstGeom>
          <a:noFill/>
          <a:ln/>
        </p:spPr>
        <p:txBody>
          <a:bodyPr wrap="square" lIns="0" tIns="0" rIns="0" bIns="0"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subscribeWithSelector</a:t>
            </a:r>
            <a:endParaRPr lang="en-US" sz="1400" dirty="0"/>
          </a:p>
        </p:txBody>
      </p:sp>
      <p:sp>
        <p:nvSpPr>
          <p:cNvPr id="12" name="Text 10"/>
          <p:cNvSpPr/>
          <p:nvPr/>
        </p:nvSpPr>
        <p:spPr>
          <a:xfrm>
            <a:off x="4846320" y="1691640"/>
            <a:ext cx="3657600" cy="27432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subscribe เฉพาะ slice นอก React</a:t>
            </a:r>
            <a:endParaRPr lang="en-US" sz="1100" dirty="0"/>
          </a:p>
        </p:txBody>
      </p:sp>
      <p:sp>
        <p:nvSpPr>
          <p:cNvPr id="13" name="Text 11"/>
          <p:cNvSpPr/>
          <p:nvPr/>
        </p:nvSpPr>
        <p:spPr>
          <a:xfrm>
            <a:off x="4846320" y="2011680"/>
            <a:ext cx="3657600" cy="1828800"/>
          </a:xfrm>
          <a:prstGeom prst="rect">
            <a:avLst/>
          </a:prstGeom>
          <a:solidFill>
            <a:srgbClr val="050B17"/>
          </a:solidFill>
          <a:ln/>
        </p:spPr>
        <p:txBody>
          <a:bodyPr wrap="square" lIns="0" tIns="0" rIns="0" bIns="0" rtlCol="0" anchor="ctr"/>
          <a:lstStyle/>
          <a:p>
            <a:pPr marL="0" indent="0">
              <a:buNone/>
            </a:pPr>
            <a:r>
              <a:rPr lang="en-US" sz="1000" dirty="0">
                <a:solidFill>
                  <a:srgbClr val="C7F9FF"/>
                </a:solidFill>
                <a:latin typeface="Consolas" pitchFamily="34" charset="0"/>
                <a:ea typeface="Consolas" pitchFamily="34" charset="-122"/>
                <a:cs typeface="Consolas" pitchFamily="34" charset="-120"/>
              </a:rPr>
              <a:t>import { subscribeWithSelector }</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from "zustand/middleware";</a:t>
            </a:r>
            <a:endParaRPr lang="en-US" sz="1000" dirty="0"/>
          </a:p>
          <a:p>
            <a:pPr marL="0" indent="0">
              <a:buNone/>
            </a:pP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const useStore = create(</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subscribeWithSelector((set) =&gt; ({...}))</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useStore.subscribe(</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(s) =&gt; s.count,</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  (count) =&gt; console.log(count)</a:t>
            </a:r>
            <a:endParaRPr lang="en-US" sz="1000" dirty="0"/>
          </a:p>
          <a:p>
            <a:pPr marL="0" indent="0">
              <a:buNone/>
            </a:pPr>
            <a:r>
              <a:rPr lang="en-US" sz="1000" dirty="0">
                <a:solidFill>
                  <a:srgbClr val="C7F9FF"/>
                </a:solidFill>
                <a:latin typeface="Consolas" pitchFamily="34" charset="0"/>
                <a:ea typeface="Consolas" pitchFamily="34" charset="-122"/>
                <a:cs typeface="Consolas" pitchFamily="34" charset="-120"/>
              </a:rPr>
              <a:t>);</a:t>
            </a:r>
            <a:endParaRPr lang="en-US" sz="1000" dirty="0"/>
          </a:p>
        </p:txBody>
      </p:sp>
      <p:sp>
        <p:nvSpPr>
          <p:cNvPr id="14" name="Shape 12"/>
          <p:cNvSpPr/>
          <p:nvPr/>
        </p:nvSpPr>
        <p:spPr>
          <a:xfrm>
            <a:off x="457200" y="4023360"/>
            <a:ext cx="8229600" cy="777240"/>
          </a:xfrm>
          <a:prstGeom prst="rect">
            <a:avLst/>
          </a:prstGeom>
          <a:solidFill>
            <a:srgbClr val="132238"/>
          </a:solidFill>
          <a:ln w="12700">
            <a:solidFill>
              <a:srgbClr val="F472B6"/>
            </a:solidFill>
            <a:prstDash val="solid"/>
          </a:ln>
        </p:spPr>
      </p:sp>
      <p:sp>
        <p:nvSpPr>
          <p:cNvPr id="15" name="Text 13"/>
          <p:cNvSpPr/>
          <p:nvPr/>
        </p:nvSpPr>
        <p:spPr>
          <a:xfrm>
            <a:off x="594360" y="4069080"/>
            <a:ext cx="7955280" cy="228600"/>
          </a:xfrm>
          <a:prstGeom prst="rect">
            <a:avLst/>
          </a:prstGeom>
          <a:noFill/>
          <a:ln/>
        </p:spPr>
        <p:txBody>
          <a:bodyPr wrap="square" lIns="0" tIns="0" rIns="0" bIns="0" rtlCol="0" anchor="ctr"/>
          <a:lstStyle/>
          <a:p>
            <a:pPr marL="0" indent="0">
              <a:buNone/>
            </a:pPr>
            <a:r>
              <a:rPr lang="en-US" sz="1100" b="1" dirty="0">
                <a:solidFill>
                  <a:srgbClr val="F472B6"/>
                </a:solidFill>
                <a:latin typeface="Calibri" pitchFamily="34" charset="0"/>
                <a:ea typeface="Calibri" pitchFamily="34" charset="-122"/>
                <a:cs typeface="Calibri" pitchFamily="34" charset="-120"/>
              </a:rPr>
              <a:t>⚠ Pitfalls / ข้อควรระวัง</a:t>
            </a:r>
            <a:endParaRPr lang="en-US" sz="1100" dirty="0"/>
          </a:p>
        </p:txBody>
      </p:sp>
      <p:sp>
        <p:nvSpPr>
          <p:cNvPr id="16" name="Text 14"/>
          <p:cNvSpPr/>
          <p:nvPr/>
        </p:nvSpPr>
        <p:spPr>
          <a:xfrm>
            <a:off x="594360" y="4297680"/>
            <a:ext cx="7955280" cy="457200"/>
          </a:xfrm>
          <a:prstGeom prst="rect">
            <a:avLst/>
          </a:prstGeom>
          <a:noFill/>
          <a:ln/>
        </p:spPr>
        <p:txBody>
          <a:bodyPr wrap="square" lIns="0" tIns="0" rIns="0" bIns="0" rtlCol="0" anchor="ctr"/>
          <a:lstStyle/>
          <a:p>
            <a:pPr marL="342900" indent="-342900">
              <a:buSzPct val="100000"/>
              <a:buChar char="•"/>
            </a:pPr>
            <a:r>
              <a:rPr lang="en-US" sz="1000" dirty="0">
                <a:solidFill>
                  <a:srgbClr val="E2E8F0"/>
                </a:solidFill>
                <a:latin typeface="Calibri" pitchFamily="34" charset="0"/>
                <a:ea typeface="Calibri" pitchFamily="34" charset="-122"/>
                <a:cs typeface="Calibri" pitchFamily="34" charset="-120"/>
              </a:rPr>
              <a:t>อย่าใช้ immer ทุก store เป็น default — เพิ่ม bundle และ overhead เล็กน้อย; ใช้เมื่อ nested state ลึกจริง</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24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SSR / Next.js — Hydration Pitfalls</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persist + localStorage ↔ server rendering ไม่ตรงกัน</a:t>
            </a:r>
            <a:endParaRPr lang="en-US" sz="1300" dirty="0"/>
          </a:p>
        </p:txBody>
      </p:sp>
      <p:sp>
        <p:nvSpPr>
          <p:cNvPr id="6" name="Text 4"/>
          <p:cNvSpPr/>
          <p:nvPr/>
        </p:nvSpPr>
        <p:spPr>
          <a:xfrm>
            <a:off x="457200" y="1325880"/>
            <a:ext cx="429768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Server ไม่มี localStorage → render ด้วยค่า default</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Client mount → rehydrate จาก storage → state เปลี่ยน</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ผล: HTML server ≠ client → hydration mismatch warning</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แก้ด้วย skipHydration + เรียก rehydrate() ฝั่ง client</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หรือใช้ useEffect + state flag กัน render ก่อน hydrate</a:t>
            </a:r>
            <a:endParaRPr lang="en-US" sz="1400" dirty="0"/>
          </a:p>
        </p:txBody>
      </p:sp>
      <p:sp>
        <p:nvSpPr>
          <p:cNvPr id="7" name="Shape 5"/>
          <p:cNvSpPr/>
          <p:nvPr/>
        </p:nvSpPr>
        <p:spPr>
          <a:xfrm>
            <a:off x="4754880" y="1325880"/>
            <a:ext cx="4023360" cy="3200400"/>
          </a:xfrm>
          <a:prstGeom prst="rect">
            <a:avLst/>
          </a:prstGeom>
          <a:solidFill>
            <a:srgbClr val="050B17"/>
          </a:solidFill>
          <a:ln w="12700">
            <a:solidFill>
              <a:srgbClr val="1B2C47"/>
            </a:solidFill>
            <a:prstDash val="solid"/>
          </a:ln>
        </p:spPr>
      </p:sp>
      <p:sp>
        <p:nvSpPr>
          <p:cNvPr id="8" name="Shape 6"/>
          <p:cNvSpPr/>
          <p:nvPr/>
        </p:nvSpPr>
        <p:spPr>
          <a:xfrm>
            <a:off x="4754880" y="1325880"/>
            <a:ext cx="4023360" cy="228600"/>
          </a:xfrm>
          <a:prstGeom prst="rect">
            <a:avLst/>
          </a:prstGeom>
          <a:solidFill>
            <a:srgbClr val="1B2C47"/>
          </a:solidFill>
          <a:ln/>
        </p:spPr>
      </p:sp>
      <p:sp>
        <p:nvSpPr>
          <p:cNvPr id="9" name="Shape 7"/>
          <p:cNvSpPr/>
          <p:nvPr/>
        </p:nvSpPr>
        <p:spPr>
          <a:xfrm>
            <a:off x="4846320" y="1389888"/>
            <a:ext cx="100584" cy="100584"/>
          </a:xfrm>
          <a:prstGeom prst="ellipse">
            <a:avLst/>
          </a:prstGeom>
          <a:solidFill>
            <a:srgbClr val="F87171"/>
          </a:solidFill>
          <a:ln/>
        </p:spPr>
      </p:sp>
      <p:sp>
        <p:nvSpPr>
          <p:cNvPr id="10" name="Shape 8"/>
          <p:cNvSpPr/>
          <p:nvPr/>
        </p:nvSpPr>
        <p:spPr>
          <a:xfrm>
            <a:off x="5010912" y="1389888"/>
            <a:ext cx="100584" cy="100584"/>
          </a:xfrm>
          <a:prstGeom prst="ellipse">
            <a:avLst/>
          </a:prstGeom>
          <a:solidFill>
            <a:srgbClr val="FBBF24"/>
          </a:solidFill>
          <a:ln/>
        </p:spPr>
      </p:sp>
      <p:sp>
        <p:nvSpPr>
          <p:cNvPr id="11" name="Shape 9"/>
          <p:cNvSpPr/>
          <p:nvPr/>
        </p:nvSpPr>
        <p:spPr>
          <a:xfrm>
            <a:off x="5175504" y="1389888"/>
            <a:ext cx="100584" cy="100584"/>
          </a:xfrm>
          <a:prstGeom prst="ellipse">
            <a:avLst/>
          </a:prstGeom>
          <a:solidFill>
            <a:srgbClr val="34D399"/>
          </a:solidFill>
          <a:ln/>
        </p:spPr>
      </p:sp>
      <p:sp>
        <p:nvSpPr>
          <p:cNvPr id="12" name="Text 10"/>
          <p:cNvSpPr/>
          <p:nvPr/>
        </p:nvSpPr>
        <p:spPr>
          <a:xfrm>
            <a:off x="7680960" y="1344168"/>
            <a:ext cx="1005840" cy="192024"/>
          </a:xfrm>
          <a:prstGeom prst="rect">
            <a:avLst/>
          </a:prstGeom>
          <a:noFill/>
          <a:ln/>
        </p:spPr>
        <p:txBody>
          <a:bodyPr wrap="square" lIns="0" tIns="0" rIns="0" bIns="0" rtlCol="0" anchor="ctr"/>
          <a:lstStyle/>
          <a:p>
            <a:pPr marL="0" indent="0" algn="r">
              <a:buNone/>
            </a:pPr>
            <a:r>
              <a:rPr lang="en-US" sz="800" dirty="0">
                <a:solidFill>
                  <a:srgbClr val="94A3B8"/>
                </a:solidFill>
                <a:latin typeface="Consolas" pitchFamily="34" charset="0"/>
                <a:ea typeface="Consolas" pitchFamily="34" charset="-122"/>
                <a:cs typeface="Consolas" pitchFamily="34" charset="-120"/>
              </a:rPr>
              <a:t>javascript</a:t>
            </a:r>
            <a:endParaRPr lang="en-US" sz="800" dirty="0"/>
          </a:p>
        </p:txBody>
      </p:sp>
      <p:sp>
        <p:nvSpPr>
          <p:cNvPr id="13" name="Text 11"/>
          <p:cNvSpPr/>
          <p:nvPr/>
        </p:nvSpPr>
        <p:spPr>
          <a:xfrm>
            <a:off x="4892040" y="1618488"/>
            <a:ext cx="3749040" cy="2834640"/>
          </a:xfrm>
          <a:prstGeom prst="rect">
            <a:avLst/>
          </a:prstGeom>
          <a:noFill/>
          <a:ln/>
        </p:spPr>
        <p:txBody>
          <a:bodyPr wrap="square" lIns="0" tIns="0" rIns="0" bIns="0" rtlCol="0" anchor="t"/>
          <a:lstStyle/>
          <a:p>
            <a:pPr marL="0" indent="0">
              <a:buNone/>
            </a:pPr>
            <a:r>
              <a:rPr lang="en-US" sz="900" dirty="0">
                <a:solidFill>
                  <a:srgbClr val="C7F9FF"/>
                </a:solidFill>
                <a:latin typeface="Consolas" pitchFamily="34" charset="0"/>
                <a:ea typeface="Consolas" pitchFamily="34" charset="-122"/>
                <a:cs typeface="Consolas" pitchFamily="34" charset="-120"/>
              </a:rPr>
              <a:t>// 1) skipHydration: ปิด auto-rehydrate</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persist(init,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name: "prefs",</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skipHydration: true,</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2) เรียก rehydrate ฝั่ง client เท่านั้น</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"use client";</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useEffect(() =&gt;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usePrefsStore.persist.rehydrate();</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3) กัน flicker ระหว่างรอ rehydrate</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const hydrated = usePrefsStore(</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(s) =&gt; s._hasHydrated</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if (!hydrated) return &lt;Skeleton /&gt;;</a:t>
            </a:r>
            <a:endParaRPr lang="en-US" sz="900" dirty="0"/>
          </a:p>
        </p:txBody>
      </p:sp>
      <p:sp>
        <p:nvSpPr>
          <p:cNvPr id="14" name="Shape 12"/>
          <p:cNvSpPr/>
          <p:nvPr/>
        </p:nvSpPr>
        <p:spPr>
          <a:xfrm>
            <a:off x="457200" y="4023360"/>
            <a:ext cx="8229600" cy="777240"/>
          </a:xfrm>
          <a:prstGeom prst="rect">
            <a:avLst/>
          </a:prstGeom>
          <a:solidFill>
            <a:srgbClr val="132238"/>
          </a:solidFill>
          <a:ln w="12700">
            <a:solidFill>
              <a:srgbClr val="F472B6"/>
            </a:solidFill>
            <a:prstDash val="solid"/>
          </a:ln>
        </p:spPr>
      </p:sp>
      <p:sp>
        <p:nvSpPr>
          <p:cNvPr id="15" name="Text 13"/>
          <p:cNvSpPr/>
          <p:nvPr/>
        </p:nvSpPr>
        <p:spPr>
          <a:xfrm>
            <a:off x="594360" y="4069080"/>
            <a:ext cx="7955280" cy="228600"/>
          </a:xfrm>
          <a:prstGeom prst="rect">
            <a:avLst/>
          </a:prstGeom>
          <a:noFill/>
          <a:ln/>
        </p:spPr>
        <p:txBody>
          <a:bodyPr wrap="square" lIns="0" tIns="0" rIns="0" bIns="0" rtlCol="0" anchor="ctr"/>
          <a:lstStyle/>
          <a:p>
            <a:pPr marL="0" indent="0">
              <a:buNone/>
            </a:pPr>
            <a:r>
              <a:rPr lang="en-US" sz="1100" b="1" dirty="0">
                <a:solidFill>
                  <a:srgbClr val="F472B6"/>
                </a:solidFill>
                <a:latin typeface="Calibri" pitchFamily="34" charset="0"/>
                <a:ea typeface="Calibri" pitchFamily="34" charset="-122"/>
                <a:cs typeface="Calibri" pitchFamily="34" charset="-120"/>
              </a:rPr>
              <a:t>⚠ Pitfalls / ข้อควรระวัง</a:t>
            </a:r>
            <a:endParaRPr lang="en-US" sz="1100" dirty="0"/>
          </a:p>
        </p:txBody>
      </p:sp>
      <p:sp>
        <p:nvSpPr>
          <p:cNvPr id="16" name="Text 14"/>
          <p:cNvSpPr/>
          <p:nvPr/>
        </p:nvSpPr>
        <p:spPr>
          <a:xfrm>
            <a:off x="594360" y="4297680"/>
            <a:ext cx="7955280" cy="457200"/>
          </a:xfrm>
          <a:prstGeom prst="rect">
            <a:avLst/>
          </a:prstGeom>
          <a:noFill/>
          <a:ln/>
        </p:spPr>
        <p:txBody>
          <a:bodyPr wrap="square" lIns="0" tIns="0" rIns="0" bIns="0" rtlCol="0" anchor="ctr"/>
          <a:lstStyle/>
          <a:p>
            <a:pPr marL="342900" indent="-342900">
              <a:buSzPct val="100000"/>
              <a:buChar char="•"/>
            </a:pPr>
            <a:r>
              <a:rPr lang="en-US" sz="1000" dirty="0">
                <a:solidFill>
                  <a:srgbClr val="E2E8F0"/>
                </a:solidFill>
                <a:latin typeface="Calibri" pitchFamily="34" charset="0"/>
                <a:ea typeface="Calibri" pitchFamily="34" charset="-122"/>
                <a:cs typeface="Calibri" pitchFamily="34" charset="-120"/>
              </a:rPr>
              <a:t>ห้ามแชร์ store เดียวข้าม request บน server — leak ข้อมูลของ user คนอื่น</a:t>
            </a:r>
            <a:endParaRPr lang="en-US" sz="1000" dirty="0"/>
          </a:p>
          <a:p>
            <a:pPr marL="342900" indent="-342900">
              <a:buSzPct val="100000"/>
              <a:buChar char="•"/>
            </a:pPr>
            <a:r>
              <a:rPr lang="en-US" sz="1000" dirty="0">
                <a:solidFill>
                  <a:srgbClr val="E2E8F0"/>
                </a:solidFill>
                <a:latin typeface="Calibri" pitchFamily="34" charset="0"/>
                <a:ea typeface="Calibri" pitchFamily="34" charset="-122"/>
                <a:cs typeface="Calibri" pitchFamily="34" charset="-120"/>
              </a:rPr>
              <a:t>ใน Next.js App Router → สร้าง store ใน client component หรือผ่าน Context provider per-request</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25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Testing Strategy</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unit test store, mock service, async actions</a:t>
            </a:r>
            <a:endParaRPr lang="en-US" sz="1300" dirty="0"/>
          </a:p>
        </p:txBody>
      </p:sp>
      <p:sp>
        <p:nvSpPr>
          <p:cNvPr id="6" name="Text 4"/>
          <p:cNvSpPr/>
          <p:nvPr/>
        </p:nvSpPr>
        <p:spPr>
          <a:xfrm>
            <a:off x="457200" y="1325880"/>
            <a:ext cx="420624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Action เป็น pure function → test ง่ายที่สุด</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import store → call action → assert getState()</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reset state ใน beforeEach (เก็บ initial state)</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Mock service layer สำหรับ async action</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ทดสอบ middleware (persist) ด้วย mock storage</a:t>
            </a:r>
            <a:endParaRPr lang="en-US" sz="1400" dirty="0"/>
          </a:p>
        </p:txBody>
      </p:sp>
      <p:sp>
        <p:nvSpPr>
          <p:cNvPr id="7" name="Shape 5"/>
          <p:cNvSpPr/>
          <p:nvPr/>
        </p:nvSpPr>
        <p:spPr>
          <a:xfrm>
            <a:off x="4754880" y="1325880"/>
            <a:ext cx="4023360" cy="3200400"/>
          </a:xfrm>
          <a:prstGeom prst="rect">
            <a:avLst/>
          </a:prstGeom>
          <a:solidFill>
            <a:srgbClr val="050B17"/>
          </a:solidFill>
          <a:ln w="12700">
            <a:solidFill>
              <a:srgbClr val="1B2C47"/>
            </a:solidFill>
            <a:prstDash val="solid"/>
          </a:ln>
        </p:spPr>
      </p:sp>
      <p:sp>
        <p:nvSpPr>
          <p:cNvPr id="8" name="Shape 6"/>
          <p:cNvSpPr/>
          <p:nvPr/>
        </p:nvSpPr>
        <p:spPr>
          <a:xfrm>
            <a:off x="4754880" y="1325880"/>
            <a:ext cx="4023360" cy="228600"/>
          </a:xfrm>
          <a:prstGeom prst="rect">
            <a:avLst/>
          </a:prstGeom>
          <a:solidFill>
            <a:srgbClr val="1B2C47"/>
          </a:solidFill>
          <a:ln/>
        </p:spPr>
      </p:sp>
      <p:sp>
        <p:nvSpPr>
          <p:cNvPr id="9" name="Shape 7"/>
          <p:cNvSpPr/>
          <p:nvPr/>
        </p:nvSpPr>
        <p:spPr>
          <a:xfrm>
            <a:off x="4846320" y="1389888"/>
            <a:ext cx="100584" cy="100584"/>
          </a:xfrm>
          <a:prstGeom prst="ellipse">
            <a:avLst/>
          </a:prstGeom>
          <a:solidFill>
            <a:srgbClr val="F87171"/>
          </a:solidFill>
          <a:ln/>
        </p:spPr>
      </p:sp>
      <p:sp>
        <p:nvSpPr>
          <p:cNvPr id="10" name="Shape 8"/>
          <p:cNvSpPr/>
          <p:nvPr/>
        </p:nvSpPr>
        <p:spPr>
          <a:xfrm>
            <a:off x="5010912" y="1389888"/>
            <a:ext cx="100584" cy="100584"/>
          </a:xfrm>
          <a:prstGeom prst="ellipse">
            <a:avLst/>
          </a:prstGeom>
          <a:solidFill>
            <a:srgbClr val="FBBF24"/>
          </a:solidFill>
          <a:ln/>
        </p:spPr>
      </p:sp>
      <p:sp>
        <p:nvSpPr>
          <p:cNvPr id="11" name="Shape 9"/>
          <p:cNvSpPr/>
          <p:nvPr/>
        </p:nvSpPr>
        <p:spPr>
          <a:xfrm>
            <a:off x="5175504" y="1389888"/>
            <a:ext cx="100584" cy="100584"/>
          </a:xfrm>
          <a:prstGeom prst="ellipse">
            <a:avLst/>
          </a:prstGeom>
          <a:solidFill>
            <a:srgbClr val="34D399"/>
          </a:solidFill>
          <a:ln/>
        </p:spPr>
      </p:sp>
      <p:sp>
        <p:nvSpPr>
          <p:cNvPr id="12" name="Text 10"/>
          <p:cNvSpPr/>
          <p:nvPr/>
        </p:nvSpPr>
        <p:spPr>
          <a:xfrm>
            <a:off x="7680960" y="1344168"/>
            <a:ext cx="1005840" cy="192024"/>
          </a:xfrm>
          <a:prstGeom prst="rect">
            <a:avLst/>
          </a:prstGeom>
          <a:noFill/>
          <a:ln/>
        </p:spPr>
        <p:txBody>
          <a:bodyPr wrap="square" lIns="0" tIns="0" rIns="0" bIns="0" rtlCol="0" anchor="ctr"/>
          <a:lstStyle/>
          <a:p>
            <a:pPr marL="0" indent="0" algn="r">
              <a:buNone/>
            </a:pPr>
            <a:r>
              <a:rPr lang="en-US" sz="800" dirty="0">
                <a:solidFill>
                  <a:srgbClr val="94A3B8"/>
                </a:solidFill>
                <a:latin typeface="Consolas" pitchFamily="34" charset="0"/>
                <a:ea typeface="Consolas" pitchFamily="34" charset="-122"/>
                <a:cs typeface="Consolas" pitchFamily="34" charset="-120"/>
              </a:rPr>
              <a:t>javascript</a:t>
            </a:r>
            <a:endParaRPr lang="en-US" sz="800" dirty="0"/>
          </a:p>
        </p:txBody>
      </p:sp>
      <p:sp>
        <p:nvSpPr>
          <p:cNvPr id="13" name="Text 11"/>
          <p:cNvSpPr/>
          <p:nvPr/>
        </p:nvSpPr>
        <p:spPr>
          <a:xfrm>
            <a:off x="4892040" y="1618488"/>
            <a:ext cx="3749040" cy="2834640"/>
          </a:xfrm>
          <a:prstGeom prst="rect">
            <a:avLst/>
          </a:prstGeom>
          <a:noFill/>
          <a:ln/>
        </p:spPr>
        <p:txBody>
          <a:bodyPr wrap="square" lIns="0" tIns="0" rIns="0" bIns="0" rtlCol="0" anchor="t"/>
          <a:lstStyle/>
          <a:p>
            <a:pPr marL="0" indent="0">
              <a:buNone/>
            </a:pPr>
            <a:r>
              <a:rPr lang="en-US" sz="900" dirty="0">
                <a:solidFill>
                  <a:srgbClr val="C7F9FF"/>
                </a:solidFill>
                <a:latin typeface="Consolas" pitchFamily="34" charset="0"/>
                <a:ea typeface="Consolas" pitchFamily="34" charset="-122"/>
                <a:cs typeface="Consolas" pitchFamily="34" charset="-120"/>
              </a:rPr>
              <a:t>import { act } from "@testing-library/react";</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import { useCounterStore } from "./counter.store";</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const initial = useCounterStore.getState();</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beforeEach(() =&gt;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useCounterStore.setState(initial, true);</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test("inc เพิ่มทีละ 1", () =&gt;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act(() =&gt; useCounterStore.getState().inc());</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expect(useCounterStore.getState().count).toBe(1);</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test("fetchUser sets user", async () =&gt;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jest.spyOn(svc, "getUser").mockResolvedValue({id:1});</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await useUserStore.getState().fetchUser(1);</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expect(useUserStore.getState().user.id).toBe(1);</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a:t>
            </a:r>
            <a:endParaRPr lang="en-US" sz="900" dirty="0"/>
          </a:p>
        </p:txBody>
      </p:sp>
      <p:sp>
        <p:nvSpPr>
          <p:cNvPr id="14" name="Shape 12"/>
          <p:cNvSpPr/>
          <p:nvPr/>
        </p:nvSpPr>
        <p:spPr>
          <a:xfrm>
            <a:off x="457200" y="4023360"/>
            <a:ext cx="8229600" cy="777240"/>
          </a:xfrm>
          <a:prstGeom prst="rect">
            <a:avLst/>
          </a:prstGeom>
          <a:solidFill>
            <a:srgbClr val="132238"/>
          </a:solidFill>
          <a:ln w="12700">
            <a:solidFill>
              <a:srgbClr val="F472B6"/>
            </a:solidFill>
            <a:prstDash val="solid"/>
          </a:ln>
        </p:spPr>
      </p:sp>
      <p:sp>
        <p:nvSpPr>
          <p:cNvPr id="15" name="Text 13"/>
          <p:cNvSpPr/>
          <p:nvPr/>
        </p:nvSpPr>
        <p:spPr>
          <a:xfrm>
            <a:off x="594360" y="4069080"/>
            <a:ext cx="7955280" cy="228600"/>
          </a:xfrm>
          <a:prstGeom prst="rect">
            <a:avLst/>
          </a:prstGeom>
          <a:noFill/>
          <a:ln/>
        </p:spPr>
        <p:txBody>
          <a:bodyPr wrap="square" lIns="0" tIns="0" rIns="0" bIns="0" rtlCol="0" anchor="ctr"/>
          <a:lstStyle/>
          <a:p>
            <a:pPr marL="0" indent="0">
              <a:buNone/>
            </a:pPr>
            <a:r>
              <a:rPr lang="en-US" sz="1100" b="1" dirty="0">
                <a:solidFill>
                  <a:srgbClr val="F472B6"/>
                </a:solidFill>
                <a:latin typeface="Calibri" pitchFamily="34" charset="0"/>
                <a:ea typeface="Calibri" pitchFamily="34" charset="-122"/>
                <a:cs typeface="Calibri" pitchFamily="34" charset="-120"/>
              </a:rPr>
              <a:t>⚠ Pitfalls / ข้อควรระวัง</a:t>
            </a:r>
            <a:endParaRPr lang="en-US" sz="1100" dirty="0"/>
          </a:p>
        </p:txBody>
      </p:sp>
      <p:sp>
        <p:nvSpPr>
          <p:cNvPr id="16" name="Text 14"/>
          <p:cNvSpPr/>
          <p:nvPr/>
        </p:nvSpPr>
        <p:spPr>
          <a:xfrm>
            <a:off x="594360" y="4297680"/>
            <a:ext cx="7955280" cy="457200"/>
          </a:xfrm>
          <a:prstGeom prst="rect">
            <a:avLst/>
          </a:prstGeom>
          <a:noFill/>
          <a:ln/>
        </p:spPr>
        <p:txBody>
          <a:bodyPr wrap="square" lIns="0" tIns="0" rIns="0" bIns="0" rtlCol="0" anchor="ctr"/>
          <a:lstStyle/>
          <a:p>
            <a:pPr marL="342900" indent="-342900">
              <a:buSzPct val="100000"/>
              <a:buChar char="•"/>
            </a:pPr>
            <a:r>
              <a:rPr lang="en-US" sz="1000" dirty="0">
                <a:solidFill>
                  <a:srgbClr val="E2E8F0"/>
                </a:solidFill>
                <a:latin typeface="Calibri" pitchFamily="34" charset="0"/>
                <a:ea typeface="Calibri" pitchFamily="34" charset="-122"/>
                <a:cs typeface="Calibri" pitchFamily="34" charset="-120"/>
              </a:rPr>
              <a:t>อย่าลืม reset state ทุก test — Zustand store เป็น singleton ต่อ module</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1097280"/>
            <a:ext cx="3200400" cy="2743200"/>
          </a:xfrm>
          <a:prstGeom prst="rect">
            <a:avLst/>
          </a:prstGeom>
          <a:noFill/>
          <a:ln/>
        </p:spPr>
        <p:txBody>
          <a:bodyPr wrap="square" lIns="0" tIns="0" rIns="0" bIns="0" rtlCol="0" anchor="ctr"/>
          <a:lstStyle/>
          <a:p>
            <a:pPr marL="0" indent="0" algn="l">
              <a:buNone/>
            </a:pPr>
            <a:r>
              <a:rPr lang="en-US" sz="18000" b="1" dirty="0">
                <a:solidFill>
                  <a:srgbClr val="1B2C47"/>
                </a:solidFill>
                <a:latin typeface="Calibri" pitchFamily="34" charset="0"/>
                <a:ea typeface="Calibri" pitchFamily="34" charset="-122"/>
                <a:cs typeface="Calibri" pitchFamily="34" charset="-120"/>
              </a:rPr>
              <a:t>04</a:t>
            </a:r>
            <a:endParaRPr lang="en-US" sz="18000" dirty="0"/>
          </a:p>
        </p:txBody>
      </p:sp>
      <p:sp>
        <p:nvSpPr>
          <p:cNvPr id="3" name="Text 1"/>
          <p:cNvSpPr/>
          <p:nvPr/>
        </p:nvSpPr>
        <p:spPr>
          <a:xfrm>
            <a:off x="3657600" y="1828800"/>
            <a:ext cx="5120640" cy="822960"/>
          </a:xfrm>
          <a:prstGeom prst="rect">
            <a:avLst/>
          </a:prstGeom>
          <a:noFill/>
          <a:ln/>
        </p:spPr>
        <p:txBody>
          <a:bodyPr wrap="square" lIns="0" tIns="0" rIns="0" bIns="0" rtlCol="0" anchor="ctr"/>
          <a:lstStyle/>
          <a:p>
            <a:pPr marL="0" indent="0">
              <a:buNone/>
            </a:pPr>
            <a:r>
              <a:rPr lang="en-US" sz="3600" b="1" dirty="0">
                <a:solidFill>
                  <a:srgbClr val="E2E8F0"/>
                </a:solidFill>
                <a:latin typeface="Calibri" pitchFamily="34" charset="0"/>
                <a:ea typeface="Calibri" pitchFamily="34" charset="-122"/>
                <a:cs typeface="Calibri" pitchFamily="34" charset="-120"/>
              </a:rPr>
              <a:t>Workshop</a:t>
            </a:r>
            <a:endParaRPr lang="en-US" sz="3600" dirty="0"/>
          </a:p>
        </p:txBody>
      </p:sp>
      <p:sp>
        <p:nvSpPr>
          <p:cNvPr id="4" name="Text 2"/>
          <p:cNvSpPr/>
          <p:nvPr/>
        </p:nvSpPr>
        <p:spPr>
          <a:xfrm>
            <a:off x="3657600" y="2606040"/>
            <a:ext cx="5120640" cy="548640"/>
          </a:xfrm>
          <a:prstGeom prst="rect">
            <a:avLst/>
          </a:prstGeom>
          <a:noFill/>
          <a:ln/>
        </p:spPr>
        <p:txBody>
          <a:bodyPr wrap="square" lIns="0" tIns="0" rIns="0" bIns="0" rtlCol="0" anchor="ctr"/>
          <a:lstStyle/>
          <a:p>
            <a:pPr marL="0" indent="0">
              <a:buNone/>
            </a:pPr>
            <a:r>
              <a:rPr lang="en-US" sz="1600" dirty="0">
                <a:solidFill>
                  <a:srgbClr val="22D3EE"/>
                </a:solidFill>
                <a:latin typeface="Consolas" pitchFamily="34" charset="0"/>
                <a:ea typeface="Consolas" pitchFamily="34" charset="-122"/>
                <a:cs typeface="Consolas" pitchFamily="34" charset="-120"/>
              </a:rPr>
              <a:t>Mini App: Todo + Filter + Theme + Auth Mock</a:t>
            </a:r>
            <a:endParaRPr lang="en-US" sz="1600" dirty="0"/>
          </a:p>
        </p:txBody>
      </p:sp>
      <p:sp>
        <p:nvSpPr>
          <p:cNvPr id="5" name="Shape 3"/>
          <p:cNvSpPr/>
          <p:nvPr/>
        </p:nvSpPr>
        <p:spPr>
          <a:xfrm>
            <a:off x="3657600" y="3200400"/>
            <a:ext cx="548640" cy="73152"/>
          </a:xfrm>
          <a:prstGeom prst="rect">
            <a:avLst/>
          </a:prstGeom>
          <a:solidFill>
            <a:srgbClr val="A3E635"/>
          </a:solidFill>
          <a:ln/>
        </p:spPr>
      </p:sp>
      <p:sp>
        <p:nvSpPr>
          <p:cNvPr id="6" name="Text 4"/>
          <p:cNvSpPr/>
          <p:nvPr/>
        </p:nvSpPr>
        <p:spPr>
          <a:xfrm>
            <a:off x="365760" y="4846320"/>
            <a:ext cx="54864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27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Step 1 — Setup project</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Vite + React + Zustand</a:t>
            </a:r>
            <a:endParaRPr lang="en-US" sz="1300" dirty="0"/>
          </a:p>
        </p:txBody>
      </p:sp>
      <p:sp>
        <p:nvSpPr>
          <p:cNvPr id="6" name="Text 4"/>
          <p:cNvSpPr/>
          <p:nvPr/>
        </p:nvSpPr>
        <p:spPr>
          <a:xfrm>
            <a:off x="457200" y="1325880"/>
            <a:ext cx="420624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สร้างโปรเจกต์ Vite React</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ติดตั้ง zustand</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สร้างโฟลเดอร์ src/stores</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สร้าง src/services/auth.ts (mock)</a:t>
            </a:r>
            <a:endParaRPr lang="en-US" sz="1400" dirty="0"/>
          </a:p>
        </p:txBody>
      </p:sp>
      <p:sp>
        <p:nvSpPr>
          <p:cNvPr id="7" name="Shape 5"/>
          <p:cNvSpPr/>
          <p:nvPr/>
        </p:nvSpPr>
        <p:spPr>
          <a:xfrm>
            <a:off x="4754880" y="1325880"/>
            <a:ext cx="4023360" cy="3200400"/>
          </a:xfrm>
          <a:prstGeom prst="rect">
            <a:avLst/>
          </a:prstGeom>
          <a:solidFill>
            <a:srgbClr val="050B17"/>
          </a:solidFill>
          <a:ln w="12700">
            <a:solidFill>
              <a:srgbClr val="1B2C47"/>
            </a:solidFill>
            <a:prstDash val="solid"/>
          </a:ln>
        </p:spPr>
      </p:sp>
      <p:sp>
        <p:nvSpPr>
          <p:cNvPr id="8" name="Shape 6"/>
          <p:cNvSpPr/>
          <p:nvPr/>
        </p:nvSpPr>
        <p:spPr>
          <a:xfrm>
            <a:off x="4754880" y="1325880"/>
            <a:ext cx="4023360" cy="228600"/>
          </a:xfrm>
          <a:prstGeom prst="rect">
            <a:avLst/>
          </a:prstGeom>
          <a:solidFill>
            <a:srgbClr val="1B2C47"/>
          </a:solidFill>
          <a:ln/>
        </p:spPr>
      </p:sp>
      <p:sp>
        <p:nvSpPr>
          <p:cNvPr id="9" name="Shape 7"/>
          <p:cNvSpPr/>
          <p:nvPr/>
        </p:nvSpPr>
        <p:spPr>
          <a:xfrm>
            <a:off x="4846320" y="1389888"/>
            <a:ext cx="100584" cy="100584"/>
          </a:xfrm>
          <a:prstGeom prst="ellipse">
            <a:avLst/>
          </a:prstGeom>
          <a:solidFill>
            <a:srgbClr val="F87171"/>
          </a:solidFill>
          <a:ln/>
        </p:spPr>
      </p:sp>
      <p:sp>
        <p:nvSpPr>
          <p:cNvPr id="10" name="Shape 8"/>
          <p:cNvSpPr/>
          <p:nvPr/>
        </p:nvSpPr>
        <p:spPr>
          <a:xfrm>
            <a:off x="5010912" y="1389888"/>
            <a:ext cx="100584" cy="100584"/>
          </a:xfrm>
          <a:prstGeom prst="ellipse">
            <a:avLst/>
          </a:prstGeom>
          <a:solidFill>
            <a:srgbClr val="FBBF24"/>
          </a:solidFill>
          <a:ln/>
        </p:spPr>
      </p:sp>
      <p:sp>
        <p:nvSpPr>
          <p:cNvPr id="11" name="Shape 9"/>
          <p:cNvSpPr/>
          <p:nvPr/>
        </p:nvSpPr>
        <p:spPr>
          <a:xfrm>
            <a:off x="5175504" y="1389888"/>
            <a:ext cx="100584" cy="100584"/>
          </a:xfrm>
          <a:prstGeom prst="ellipse">
            <a:avLst/>
          </a:prstGeom>
          <a:solidFill>
            <a:srgbClr val="34D399"/>
          </a:solidFill>
          <a:ln/>
        </p:spPr>
      </p:sp>
      <p:sp>
        <p:nvSpPr>
          <p:cNvPr id="12" name="Text 10"/>
          <p:cNvSpPr/>
          <p:nvPr/>
        </p:nvSpPr>
        <p:spPr>
          <a:xfrm>
            <a:off x="7680960" y="1344168"/>
            <a:ext cx="1005840" cy="192024"/>
          </a:xfrm>
          <a:prstGeom prst="rect">
            <a:avLst/>
          </a:prstGeom>
          <a:noFill/>
          <a:ln/>
        </p:spPr>
        <p:txBody>
          <a:bodyPr wrap="square" lIns="0" tIns="0" rIns="0" bIns="0" rtlCol="0" anchor="ctr"/>
          <a:lstStyle/>
          <a:p>
            <a:pPr marL="0" indent="0" algn="r">
              <a:buNone/>
            </a:pPr>
            <a:r>
              <a:rPr lang="en-US" sz="800" dirty="0">
                <a:solidFill>
                  <a:srgbClr val="94A3B8"/>
                </a:solidFill>
                <a:latin typeface="Consolas" pitchFamily="34" charset="0"/>
                <a:ea typeface="Consolas" pitchFamily="34" charset="-122"/>
                <a:cs typeface="Consolas" pitchFamily="34" charset="-120"/>
              </a:rPr>
              <a:t>bash</a:t>
            </a:r>
            <a:endParaRPr lang="en-US" sz="800" dirty="0"/>
          </a:p>
        </p:txBody>
      </p:sp>
      <p:sp>
        <p:nvSpPr>
          <p:cNvPr id="13" name="Text 11"/>
          <p:cNvSpPr/>
          <p:nvPr/>
        </p:nvSpPr>
        <p:spPr>
          <a:xfrm>
            <a:off x="4892040" y="1618488"/>
            <a:ext cx="3749040" cy="2834640"/>
          </a:xfrm>
          <a:prstGeom prst="rect">
            <a:avLst/>
          </a:prstGeom>
          <a:noFill/>
          <a:ln/>
        </p:spPr>
        <p:txBody>
          <a:bodyPr wrap="square" lIns="0" tIns="0" rIns="0" bIns="0" rtlCol="0" anchor="t"/>
          <a:lstStyle/>
          <a:p>
            <a:pPr marL="0" indent="0">
              <a:buNone/>
            </a:pPr>
            <a:r>
              <a:rPr lang="en-US" sz="1100" dirty="0">
                <a:solidFill>
                  <a:srgbClr val="C7F9FF"/>
                </a:solidFill>
                <a:latin typeface="Consolas" pitchFamily="34" charset="0"/>
                <a:ea typeface="Consolas" pitchFamily="34" charset="-122"/>
                <a:cs typeface="Consolas" pitchFamily="34" charset="-120"/>
              </a:rPr>
              <a:t># create project</a:t>
            </a: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npm create vite@latest zustand-mini -- \</a:t>
            </a: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  --template react</a:t>
            </a:r>
            <a:endParaRPr lang="en-US" sz="1100" dirty="0"/>
          </a:p>
          <a:p>
            <a:pPr marL="0" indent="0">
              <a:buNone/>
            </a:pP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cd zustand-mini</a:t>
            </a: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npm install</a:t>
            </a: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npm install zustand</a:t>
            </a:r>
            <a:endParaRPr lang="en-US" sz="1100" dirty="0"/>
          </a:p>
          <a:p>
            <a:pPr marL="0" indent="0">
              <a:buNone/>
            </a:pP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 โฟลเดอร์</a:t>
            </a: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mkdir -p src/stores src/services</a:t>
            </a: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touch src/stores/todos.store.js</a:t>
            </a: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touch src/stores/prefs.store.js</a:t>
            </a: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touch src/stores/auth.store.js</a:t>
            </a: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touch src/services/auth.js</a:t>
            </a:r>
            <a:endParaRPr lang="en-US" sz="1100" dirty="0"/>
          </a:p>
          <a:p>
            <a:pPr marL="0" indent="0">
              <a:buNone/>
            </a:pPr>
            <a:endParaRPr lang="en-US" sz="1100" dirty="0"/>
          </a:p>
          <a:p>
            <a:pPr marL="0" indent="0">
              <a:buNone/>
            </a:pPr>
            <a:r>
              <a:rPr lang="en-US" sz="1100" dirty="0">
                <a:solidFill>
                  <a:srgbClr val="C7F9FF"/>
                </a:solidFill>
                <a:latin typeface="Consolas" pitchFamily="34" charset="0"/>
                <a:ea typeface="Consolas" pitchFamily="34" charset="-122"/>
                <a:cs typeface="Consolas" pitchFamily="34" charset="-120"/>
              </a:rPr>
              <a:t>npm run dev</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28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Step 2 — Todo store</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เพิ่ม / ลบ / toggle todos</a:t>
            </a:r>
            <a:endParaRPr lang="en-US" sz="1300" dirty="0"/>
          </a:p>
        </p:txBody>
      </p:sp>
      <p:sp>
        <p:nvSpPr>
          <p:cNvPr id="6" name="Shape 4"/>
          <p:cNvSpPr/>
          <p:nvPr/>
        </p:nvSpPr>
        <p:spPr>
          <a:xfrm>
            <a:off x="457200" y="1325880"/>
            <a:ext cx="4754880" cy="3383280"/>
          </a:xfrm>
          <a:prstGeom prst="rect">
            <a:avLst/>
          </a:prstGeom>
          <a:solidFill>
            <a:srgbClr val="050B17"/>
          </a:solidFill>
          <a:ln w="12700">
            <a:solidFill>
              <a:srgbClr val="1B2C47"/>
            </a:solidFill>
            <a:prstDash val="solid"/>
          </a:ln>
        </p:spPr>
      </p:sp>
      <p:sp>
        <p:nvSpPr>
          <p:cNvPr id="7" name="Shape 5"/>
          <p:cNvSpPr/>
          <p:nvPr/>
        </p:nvSpPr>
        <p:spPr>
          <a:xfrm>
            <a:off x="457200" y="1325880"/>
            <a:ext cx="4754880" cy="228600"/>
          </a:xfrm>
          <a:prstGeom prst="rect">
            <a:avLst/>
          </a:prstGeom>
          <a:solidFill>
            <a:srgbClr val="1B2C47"/>
          </a:solidFill>
          <a:ln/>
        </p:spPr>
      </p:sp>
      <p:sp>
        <p:nvSpPr>
          <p:cNvPr id="8" name="Shape 6"/>
          <p:cNvSpPr/>
          <p:nvPr/>
        </p:nvSpPr>
        <p:spPr>
          <a:xfrm>
            <a:off x="548640" y="1389888"/>
            <a:ext cx="100584" cy="100584"/>
          </a:xfrm>
          <a:prstGeom prst="ellipse">
            <a:avLst/>
          </a:prstGeom>
          <a:solidFill>
            <a:srgbClr val="F87171"/>
          </a:solidFill>
          <a:ln/>
        </p:spPr>
      </p:sp>
      <p:sp>
        <p:nvSpPr>
          <p:cNvPr id="9" name="Shape 7"/>
          <p:cNvSpPr/>
          <p:nvPr/>
        </p:nvSpPr>
        <p:spPr>
          <a:xfrm>
            <a:off x="713232" y="1389888"/>
            <a:ext cx="100584" cy="100584"/>
          </a:xfrm>
          <a:prstGeom prst="ellipse">
            <a:avLst/>
          </a:prstGeom>
          <a:solidFill>
            <a:srgbClr val="FBBF24"/>
          </a:solidFill>
          <a:ln/>
        </p:spPr>
      </p:sp>
      <p:sp>
        <p:nvSpPr>
          <p:cNvPr id="10" name="Shape 8"/>
          <p:cNvSpPr/>
          <p:nvPr/>
        </p:nvSpPr>
        <p:spPr>
          <a:xfrm>
            <a:off x="877824" y="1389888"/>
            <a:ext cx="100584" cy="100584"/>
          </a:xfrm>
          <a:prstGeom prst="ellipse">
            <a:avLst/>
          </a:prstGeom>
          <a:solidFill>
            <a:srgbClr val="34D399"/>
          </a:solidFill>
          <a:ln/>
        </p:spPr>
      </p:sp>
      <p:sp>
        <p:nvSpPr>
          <p:cNvPr id="11" name="Text 9"/>
          <p:cNvSpPr/>
          <p:nvPr/>
        </p:nvSpPr>
        <p:spPr>
          <a:xfrm>
            <a:off x="4114800" y="1344168"/>
            <a:ext cx="1005840" cy="192024"/>
          </a:xfrm>
          <a:prstGeom prst="rect">
            <a:avLst/>
          </a:prstGeom>
          <a:noFill/>
          <a:ln/>
        </p:spPr>
        <p:txBody>
          <a:bodyPr wrap="square" lIns="0" tIns="0" rIns="0" bIns="0" rtlCol="0" anchor="ctr"/>
          <a:lstStyle/>
          <a:p>
            <a:pPr marL="0" indent="0" algn="r">
              <a:buNone/>
            </a:pPr>
            <a:r>
              <a:rPr lang="en-US" sz="800" dirty="0">
                <a:solidFill>
                  <a:srgbClr val="94A3B8"/>
                </a:solidFill>
                <a:latin typeface="Consolas" pitchFamily="34" charset="0"/>
                <a:ea typeface="Consolas" pitchFamily="34" charset="-122"/>
                <a:cs typeface="Consolas" pitchFamily="34" charset="-120"/>
              </a:rPr>
              <a:t>javascript</a:t>
            </a:r>
            <a:endParaRPr lang="en-US" sz="800" dirty="0"/>
          </a:p>
        </p:txBody>
      </p:sp>
      <p:sp>
        <p:nvSpPr>
          <p:cNvPr id="12" name="Text 10"/>
          <p:cNvSpPr/>
          <p:nvPr/>
        </p:nvSpPr>
        <p:spPr>
          <a:xfrm>
            <a:off x="594360" y="1618488"/>
            <a:ext cx="4480560" cy="3017520"/>
          </a:xfrm>
          <a:prstGeom prst="rect">
            <a:avLst/>
          </a:prstGeom>
          <a:noFill/>
          <a:ln/>
        </p:spPr>
        <p:txBody>
          <a:bodyPr wrap="square" lIns="0" tIns="0" rIns="0" bIns="0" rtlCol="0" anchor="t"/>
          <a:lstStyle/>
          <a:p>
            <a:pPr marL="0" indent="0">
              <a:buNone/>
            </a:pPr>
            <a:r>
              <a:rPr lang="en-US" sz="900" dirty="0">
                <a:solidFill>
                  <a:srgbClr val="C7F9FF"/>
                </a:solidFill>
                <a:latin typeface="Consolas" pitchFamily="34" charset="0"/>
                <a:ea typeface="Consolas" pitchFamily="34" charset="-122"/>
                <a:cs typeface="Consolas" pitchFamily="34" charset="-120"/>
              </a:rPr>
              <a:t>// src/stores/todos.store.js</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import { create } from "zustand";</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let nextId = 1;</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export const useTodosStore = create((set, get) =&gt;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todos: [],   // { id, text, done }</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add: (text) =&gt; set((s) =&gt;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todos: [...s.todos, { id: nextId++, text, done: false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toggle: (id) =&gt; set((s) =&gt;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todos: s.todos.map(t =&gt;</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t.id === id ? { ...t, done: !t.done } : t</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remove: (id) =&gt; set((s) =&gt;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todos: s.todos.filter(t =&gt; t.id !== id)</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clearDone: () =&gt; set((s) =&gt;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todos: s.todos.filter(t =&gt; !t.done)</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a:t>
            </a:r>
            <a:endParaRPr lang="en-US" sz="900" dirty="0"/>
          </a:p>
        </p:txBody>
      </p:sp>
      <p:sp>
        <p:nvSpPr>
          <p:cNvPr id="13" name="Text 11"/>
          <p:cNvSpPr/>
          <p:nvPr/>
        </p:nvSpPr>
        <p:spPr>
          <a:xfrm>
            <a:off x="5486400" y="1325880"/>
            <a:ext cx="3291840" cy="3200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1 store ต่อ 1 domain — todos แยก</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แต่ละ action return reference ใหม่ (immutable)</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id สร้างใน module scope (mock, ไม่ persist)</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ใน production ใช้ uuid / id จาก backend</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Component: useTodosStore(s =&gt; s.todos)</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29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Step 3 — Filter (all / active / done)</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Derived state ผ่าน selector</a:t>
            </a:r>
            <a:endParaRPr lang="en-US" sz="1300" dirty="0"/>
          </a:p>
        </p:txBody>
      </p:sp>
      <p:sp>
        <p:nvSpPr>
          <p:cNvPr id="6" name="Shape 4"/>
          <p:cNvSpPr/>
          <p:nvPr/>
        </p:nvSpPr>
        <p:spPr>
          <a:xfrm>
            <a:off x="457200" y="1325880"/>
            <a:ext cx="4937760" cy="3200400"/>
          </a:xfrm>
          <a:prstGeom prst="rect">
            <a:avLst/>
          </a:prstGeom>
          <a:solidFill>
            <a:srgbClr val="050B17"/>
          </a:solidFill>
          <a:ln w="12700">
            <a:solidFill>
              <a:srgbClr val="1B2C47"/>
            </a:solidFill>
            <a:prstDash val="solid"/>
          </a:ln>
        </p:spPr>
      </p:sp>
      <p:sp>
        <p:nvSpPr>
          <p:cNvPr id="7" name="Shape 5"/>
          <p:cNvSpPr/>
          <p:nvPr/>
        </p:nvSpPr>
        <p:spPr>
          <a:xfrm>
            <a:off x="457200" y="1325880"/>
            <a:ext cx="4937760" cy="228600"/>
          </a:xfrm>
          <a:prstGeom prst="rect">
            <a:avLst/>
          </a:prstGeom>
          <a:solidFill>
            <a:srgbClr val="1B2C47"/>
          </a:solidFill>
          <a:ln/>
        </p:spPr>
      </p:sp>
      <p:sp>
        <p:nvSpPr>
          <p:cNvPr id="8" name="Shape 6"/>
          <p:cNvSpPr/>
          <p:nvPr/>
        </p:nvSpPr>
        <p:spPr>
          <a:xfrm>
            <a:off x="548640" y="1389888"/>
            <a:ext cx="100584" cy="100584"/>
          </a:xfrm>
          <a:prstGeom prst="ellipse">
            <a:avLst/>
          </a:prstGeom>
          <a:solidFill>
            <a:srgbClr val="F87171"/>
          </a:solidFill>
          <a:ln/>
        </p:spPr>
      </p:sp>
      <p:sp>
        <p:nvSpPr>
          <p:cNvPr id="9" name="Shape 7"/>
          <p:cNvSpPr/>
          <p:nvPr/>
        </p:nvSpPr>
        <p:spPr>
          <a:xfrm>
            <a:off x="713232" y="1389888"/>
            <a:ext cx="100584" cy="100584"/>
          </a:xfrm>
          <a:prstGeom prst="ellipse">
            <a:avLst/>
          </a:prstGeom>
          <a:solidFill>
            <a:srgbClr val="FBBF24"/>
          </a:solidFill>
          <a:ln/>
        </p:spPr>
      </p:sp>
      <p:sp>
        <p:nvSpPr>
          <p:cNvPr id="10" name="Shape 8"/>
          <p:cNvSpPr/>
          <p:nvPr/>
        </p:nvSpPr>
        <p:spPr>
          <a:xfrm>
            <a:off x="877824" y="1389888"/>
            <a:ext cx="100584" cy="100584"/>
          </a:xfrm>
          <a:prstGeom prst="ellipse">
            <a:avLst/>
          </a:prstGeom>
          <a:solidFill>
            <a:srgbClr val="34D399"/>
          </a:solidFill>
          <a:ln/>
        </p:spPr>
      </p:sp>
      <p:sp>
        <p:nvSpPr>
          <p:cNvPr id="11" name="Text 9"/>
          <p:cNvSpPr/>
          <p:nvPr/>
        </p:nvSpPr>
        <p:spPr>
          <a:xfrm>
            <a:off x="4297680" y="1344168"/>
            <a:ext cx="1005840" cy="192024"/>
          </a:xfrm>
          <a:prstGeom prst="rect">
            <a:avLst/>
          </a:prstGeom>
          <a:noFill/>
          <a:ln/>
        </p:spPr>
        <p:txBody>
          <a:bodyPr wrap="square" lIns="0" tIns="0" rIns="0" bIns="0" rtlCol="0" anchor="ctr"/>
          <a:lstStyle/>
          <a:p>
            <a:pPr marL="0" indent="0" algn="r">
              <a:buNone/>
            </a:pPr>
            <a:r>
              <a:rPr lang="en-US" sz="800" dirty="0">
                <a:solidFill>
                  <a:srgbClr val="94A3B8"/>
                </a:solidFill>
                <a:latin typeface="Consolas" pitchFamily="34" charset="0"/>
                <a:ea typeface="Consolas" pitchFamily="34" charset="-122"/>
                <a:cs typeface="Consolas" pitchFamily="34" charset="-120"/>
              </a:rPr>
              <a:t>javascript</a:t>
            </a:r>
            <a:endParaRPr lang="en-US" sz="800" dirty="0"/>
          </a:p>
        </p:txBody>
      </p:sp>
      <p:sp>
        <p:nvSpPr>
          <p:cNvPr id="12" name="Text 10"/>
          <p:cNvSpPr/>
          <p:nvPr/>
        </p:nvSpPr>
        <p:spPr>
          <a:xfrm>
            <a:off x="594360" y="1618488"/>
            <a:ext cx="4663440" cy="2834640"/>
          </a:xfrm>
          <a:prstGeom prst="rect">
            <a:avLst/>
          </a:prstGeom>
          <a:noFill/>
          <a:ln/>
        </p:spPr>
        <p:txBody>
          <a:bodyPr wrap="square" lIns="0" tIns="0" rIns="0" bIns="0" rtlCol="0" anchor="t"/>
          <a:lstStyle/>
          <a:p>
            <a:pPr marL="0" indent="0">
              <a:buNone/>
            </a:pPr>
            <a:r>
              <a:rPr lang="en-US" sz="900" dirty="0">
                <a:solidFill>
                  <a:srgbClr val="C7F9FF"/>
                </a:solidFill>
                <a:latin typeface="Consolas" pitchFamily="34" charset="0"/>
                <a:ea typeface="Consolas" pitchFamily="34" charset="-122"/>
                <a:cs typeface="Consolas" pitchFamily="34" charset="-120"/>
              </a:rPr>
              <a:t>// เพิ่มใน todos.store.js</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filter: "all",                          // 'all' | 'active' | 'done'</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setFilter: (f) =&gt; set({ filter: f }),</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selector แบบ derived (ไม่เก็บใน state)</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export const selectVisibleTodos = (s) =&gt;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switch (s.filter)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case "active": return s.todos.filter(t =&gt; !t.done);</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case "done":   return s.todos.filter(t =&gt;  t.done);</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default:       return s.todos;</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ใน component: ใช้ useShallow ป้องกัน reference ใหม่</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import { useShallow } from "zustand/react/shallow";</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const todos  = useTodosStore(useShallow(selectVisibleTodos));</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const filter = useTodosStore(s =&gt; s.filter);</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const setFilter = useTodosStore(s =&gt; s.setFilter);</a:t>
            </a:r>
            <a:endParaRPr lang="en-US" sz="900" dirty="0"/>
          </a:p>
        </p:txBody>
      </p:sp>
      <p:sp>
        <p:nvSpPr>
          <p:cNvPr id="13" name="Text 11"/>
          <p:cNvSpPr/>
          <p:nvPr/>
        </p:nvSpPr>
        <p:spPr>
          <a:xfrm>
            <a:off x="5486400" y="1325880"/>
            <a:ext cx="3291840" cy="3200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Filter state เก็บใน store เดียวกับ todos</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Derived list คำนวณใน selector — ไม่ persist</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selector return array ใหม่ → ห่อด้วย useShallow</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ทำให้ list re-render เฉพาะตอนข้อมูลเปลี่ยนจริง</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30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Step 4 — Theme + persist</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เก็บ theme ข้าม reload</a:t>
            </a:r>
            <a:endParaRPr lang="en-US" sz="1300" dirty="0"/>
          </a:p>
        </p:txBody>
      </p:sp>
      <p:sp>
        <p:nvSpPr>
          <p:cNvPr id="6" name="Shape 4"/>
          <p:cNvSpPr/>
          <p:nvPr/>
        </p:nvSpPr>
        <p:spPr>
          <a:xfrm>
            <a:off x="457200" y="1325880"/>
            <a:ext cx="4937760" cy="3200400"/>
          </a:xfrm>
          <a:prstGeom prst="rect">
            <a:avLst/>
          </a:prstGeom>
          <a:solidFill>
            <a:srgbClr val="050B17"/>
          </a:solidFill>
          <a:ln w="12700">
            <a:solidFill>
              <a:srgbClr val="1B2C47"/>
            </a:solidFill>
            <a:prstDash val="solid"/>
          </a:ln>
        </p:spPr>
      </p:sp>
      <p:sp>
        <p:nvSpPr>
          <p:cNvPr id="7" name="Shape 5"/>
          <p:cNvSpPr/>
          <p:nvPr/>
        </p:nvSpPr>
        <p:spPr>
          <a:xfrm>
            <a:off x="457200" y="1325880"/>
            <a:ext cx="4937760" cy="228600"/>
          </a:xfrm>
          <a:prstGeom prst="rect">
            <a:avLst/>
          </a:prstGeom>
          <a:solidFill>
            <a:srgbClr val="1B2C47"/>
          </a:solidFill>
          <a:ln/>
        </p:spPr>
      </p:sp>
      <p:sp>
        <p:nvSpPr>
          <p:cNvPr id="8" name="Shape 6"/>
          <p:cNvSpPr/>
          <p:nvPr/>
        </p:nvSpPr>
        <p:spPr>
          <a:xfrm>
            <a:off x="548640" y="1389888"/>
            <a:ext cx="100584" cy="100584"/>
          </a:xfrm>
          <a:prstGeom prst="ellipse">
            <a:avLst/>
          </a:prstGeom>
          <a:solidFill>
            <a:srgbClr val="F87171"/>
          </a:solidFill>
          <a:ln/>
        </p:spPr>
      </p:sp>
      <p:sp>
        <p:nvSpPr>
          <p:cNvPr id="9" name="Shape 7"/>
          <p:cNvSpPr/>
          <p:nvPr/>
        </p:nvSpPr>
        <p:spPr>
          <a:xfrm>
            <a:off x="713232" y="1389888"/>
            <a:ext cx="100584" cy="100584"/>
          </a:xfrm>
          <a:prstGeom prst="ellipse">
            <a:avLst/>
          </a:prstGeom>
          <a:solidFill>
            <a:srgbClr val="FBBF24"/>
          </a:solidFill>
          <a:ln/>
        </p:spPr>
      </p:sp>
      <p:sp>
        <p:nvSpPr>
          <p:cNvPr id="10" name="Shape 8"/>
          <p:cNvSpPr/>
          <p:nvPr/>
        </p:nvSpPr>
        <p:spPr>
          <a:xfrm>
            <a:off x="877824" y="1389888"/>
            <a:ext cx="100584" cy="100584"/>
          </a:xfrm>
          <a:prstGeom prst="ellipse">
            <a:avLst/>
          </a:prstGeom>
          <a:solidFill>
            <a:srgbClr val="34D399"/>
          </a:solidFill>
          <a:ln/>
        </p:spPr>
      </p:sp>
      <p:sp>
        <p:nvSpPr>
          <p:cNvPr id="11" name="Text 9"/>
          <p:cNvSpPr/>
          <p:nvPr/>
        </p:nvSpPr>
        <p:spPr>
          <a:xfrm>
            <a:off x="4297680" y="1344168"/>
            <a:ext cx="1005840" cy="192024"/>
          </a:xfrm>
          <a:prstGeom prst="rect">
            <a:avLst/>
          </a:prstGeom>
          <a:noFill/>
          <a:ln/>
        </p:spPr>
        <p:txBody>
          <a:bodyPr wrap="square" lIns="0" tIns="0" rIns="0" bIns="0" rtlCol="0" anchor="ctr"/>
          <a:lstStyle/>
          <a:p>
            <a:pPr marL="0" indent="0" algn="r">
              <a:buNone/>
            </a:pPr>
            <a:r>
              <a:rPr lang="en-US" sz="800" dirty="0">
                <a:solidFill>
                  <a:srgbClr val="94A3B8"/>
                </a:solidFill>
                <a:latin typeface="Consolas" pitchFamily="34" charset="0"/>
                <a:ea typeface="Consolas" pitchFamily="34" charset="-122"/>
                <a:cs typeface="Consolas" pitchFamily="34" charset="-120"/>
              </a:rPr>
              <a:t>javascript</a:t>
            </a:r>
            <a:endParaRPr lang="en-US" sz="800" dirty="0"/>
          </a:p>
        </p:txBody>
      </p:sp>
      <p:sp>
        <p:nvSpPr>
          <p:cNvPr id="12" name="Text 10"/>
          <p:cNvSpPr/>
          <p:nvPr/>
        </p:nvSpPr>
        <p:spPr>
          <a:xfrm>
            <a:off x="594360" y="1618488"/>
            <a:ext cx="4663440" cy="2834640"/>
          </a:xfrm>
          <a:prstGeom prst="rect">
            <a:avLst/>
          </a:prstGeom>
          <a:noFill/>
          <a:ln/>
        </p:spPr>
        <p:txBody>
          <a:bodyPr wrap="square" lIns="0" tIns="0" rIns="0" bIns="0" rtlCol="0" anchor="t"/>
          <a:lstStyle/>
          <a:p>
            <a:pPr marL="0" indent="0">
              <a:buNone/>
            </a:pPr>
            <a:r>
              <a:rPr lang="en-US" sz="900" dirty="0">
                <a:solidFill>
                  <a:srgbClr val="C7F9FF"/>
                </a:solidFill>
                <a:latin typeface="Consolas" pitchFamily="34" charset="0"/>
                <a:ea typeface="Consolas" pitchFamily="34" charset="-122"/>
                <a:cs typeface="Consolas" pitchFamily="34" charset="-120"/>
              </a:rPr>
              <a:t>// src/stores/prefs.store.js</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import { create } from "zustand";</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import { persist, createJSONStorage } from "zustand/middleware";</a:t>
            </a:r>
            <a:endParaRPr lang="en-US" sz="900" dirty="0"/>
          </a:p>
          <a:p>
            <a:pPr marL="0" indent="0">
              <a:buNone/>
            </a:pP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export const usePrefsStore = create(</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persist(</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(set) =&gt;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theme: "light",                   // 'light' | 'dark'</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setTheme: (theme) =&gt; set({ theme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toggleTheme: () =&gt; set((s) =&gt;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theme: s.theme === "light" ? "dark" : "light"</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name: "prefs",</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storage: createJSONStorage(() =&gt; localStorage),</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partialize: (s) =&gt; ({ theme: s.theme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version: 1,</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  )</a:t>
            </a:r>
            <a:endParaRPr lang="en-US" sz="900" dirty="0"/>
          </a:p>
          <a:p>
            <a:pPr marL="0" indent="0">
              <a:buNone/>
            </a:pPr>
            <a:r>
              <a:rPr lang="en-US" sz="900" dirty="0">
                <a:solidFill>
                  <a:srgbClr val="C7F9FF"/>
                </a:solidFill>
                <a:latin typeface="Consolas" pitchFamily="34" charset="0"/>
                <a:ea typeface="Consolas" pitchFamily="34" charset="-122"/>
                <a:cs typeface="Consolas" pitchFamily="34" charset="-120"/>
              </a:rPr>
              <a:t>);</a:t>
            </a:r>
            <a:endParaRPr lang="en-US" sz="900" dirty="0"/>
          </a:p>
        </p:txBody>
      </p:sp>
      <p:sp>
        <p:nvSpPr>
          <p:cNvPr id="13" name="Text 11"/>
          <p:cNvSpPr/>
          <p:nvPr/>
        </p:nvSpPr>
        <p:spPr>
          <a:xfrm>
            <a:off x="5486400" y="1325880"/>
            <a:ext cx="3291840" cy="3200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ใช้ persist + localStorage</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partialize เก็บเฉพาะ theme</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version: 1 → เผื่อ migrate ในอนาคต</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Component: ใส่ class 'dark' บน &lt;html&gt;</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ทดสอบ: refresh แล้ว theme คงอยู่</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31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Step 5 — Auth mock + service layer</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Async action + loading/error</a:t>
            </a:r>
            <a:endParaRPr lang="en-US" sz="1300" dirty="0"/>
          </a:p>
        </p:txBody>
      </p:sp>
      <p:sp>
        <p:nvSpPr>
          <p:cNvPr id="6" name="Shape 4"/>
          <p:cNvSpPr/>
          <p:nvPr/>
        </p:nvSpPr>
        <p:spPr>
          <a:xfrm>
            <a:off x="457200" y="1325880"/>
            <a:ext cx="4937760" cy="3200400"/>
          </a:xfrm>
          <a:prstGeom prst="rect">
            <a:avLst/>
          </a:prstGeom>
          <a:solidFill>
            <a:srgbClr val="050B17"/>
          </a:solidFill>
          <a:ln w="12700">
            <a:solidFill>
              <a:srgbClr val="1B2C47"/>
            </a:solidFill>
            <a:prstDash val="solid"/>
          </a:ln>
        </p:spPr>
      </p:sp>
      <p:sp>
        <p:nvSpPr>
          <p:cNvPr id="7" name="Shape 5"/>
          <p:cNvSpPr/>
          <p:nvPr/>
        </p:nvSpPr>
        <p:spPr>
          <a:xfrm>
            <a:off x="457200" y="1325880"/>
            <a:ext cx="4937760" cy="228600"/>
          </a:xfrm>
          <a:prstGeom prst="rect">
            <a:avLst/>
          </a:prstGeom>
          <a:solidFill>
            <a:srgbClr val="1B2C47"/>
          </a:solidFill>
          <a:ln/>
        </p:spPr>
      </p:sp>
      <p:sp>
        <p:nvSpPr>
          <p:cNvPr id="8" name="Shape 6"/>
          <p:cNvSpPr/>
          <p:nvPr/>
        </p:nvSpPr>
        <p:spPr>
          <a:xfrm>
            <a:off x="548640" y="1389888"/>
            <a:ext cx="100584" cy="100584"/>
          </a:xfrm>
          <a:prstGeom prst="ellipse">
            <a:avLst/>
          </a:prstGeom>
          <a:solidFill>
            <a:srgbClr val="F87171"/>
          </a:solidFill>
          <a:ln/>
        </p:spPr>
      </p:sp>
      <p:sp>
        <p:nvSpPr>
          <p:cNvPr id="9" name="Shape 7"/>
          <p:cNvSpPr/>
          <p:nvPr/>
        </p:nvSpPr>
        <p:spPr>
          <a:xfrm>
            <a:off x="713232" y="1389888"/>
            <a:ext cx="100584" cy="100584"/>
          </a:xfrm>
          <a:prstGeom prst="ellipse">
            <a:avLst/>
          </a:prstGeom>
          <a:solidFill>
            <a:srgbClr val="FBBF24"/>
          </a:solidFill>
          <a:ln/>
        </p:spPr>
      </p:sp>
      <p:sp>
        <p:nvSpPr>
          <p:cNvPr id="10" name="Shape 8"/>
          <p:cNvSpPr/>
          <p:nvPr/>
        </p:nvSpPr>
        <p:spPr>
          <a:xfrm>
            <a:off x="877824" y="1389888"/>
            <a:ext cx="100584" cy="100584"/>
          </a:xfrm>
          <a:prstGeom prst="ellipse">
            <a:avLst/>
          </a:prstGeom>
          <a:solidFill>
            <a:srgbClr val="34D399"/>
          </a:solidFill>
          <a:ln/>
        </p:spPr>
      </p:sp>
      <p:sp>
        <p:nvSpPr>
          <p:cNvPr id="11" name="Text 9"/>
          <p:cNvSpPr/>
          <p:nvPr/>
        </p:nvSpPr>
        <p:spPr>
          <a:xfrm>
            <a:off x="4297680" y="1344168"/>
            <a:ext cx="1005840" cy="192024"/>
          </a:xfrm>
          <a:prstGeom prst="rect">
            <a:avLst/>
          </a:prstGeom>
          <a:noFill/>
          <a:ln/>
        </p:spPr>
        <p:txBody>
          <a:bodyPr wrap="square" lIns="0" tIns="0" rIns="0" bIns="0" rtlCol="0" anchor="ctr"/>
          <a:lstStyle/>
          <a:p>
            <a:pPr marL="0" indent="0" algn="r">
              <a:buNone/>
            </a:pPr>
            <a:r>
              <a:rPr lang="en-US" sz="800" dirty="0">
                <a:solidFill>
                  <a:srgbClr val="94A3B8"/>
                </a:solidFill>
                <a:latin typeface="Consolas" pitchFamily="34" charset="0"/>
                <a:ea typeface="Consolas" pitchFamily="34" charset="-122"/>
                <a:cs typeface="Consolas" pitchFamily="34" charset="-120"/>
              </a:rPr>
              <a:t>javascript</a:t>
            </a:r>
            <a:endParaRPr lang="en-US" sz="800" dirty="0"/>
          </a:p>
        </p:txBody>
      </p:sp>
      <p:sp>
        <p:nvSpPr>
          <p:cNvPr id="12" name="Text 10"/>
          <p:cNvSpPr/>
          <p:nvPr/>
        </p:nvSpPr>
        <p:spPr>
          <a:xfrm>
            <a:off x="594360" y="1618488"/>
            <a:ext cx="4663440" cy="2834640"/>
          </a:xfrm>
          <a:prstGeom prst="rect">
            <a:avLst/>
          </a:prstGeom>
          <a:noFill/>
          <a:ln/>
        </p:spPr>
        <p:txBody>
          <a:bodyPr wrap="square" lIns="0" tIns="0" rIns="0" bIns="0" rtlCol="0" anchor="t"/>
          <a:lstStyle/>
          <a:p>
            <a:pPr marL="0" indent="0">
              <a:buNone/>
            </a:pPr>
            <a:r>
              <a:rPr lang="en-US" sz="800" dirty="0">
                <a:solidFill>
                  <a:srgbClr val="C7F9FF"/>
                </a:solidFill>
                <a:latin typeface="Consolas" pitchFamily="34" charset="0"/>
                <a:ea typeface="Consolas" pitchFamily="34" charset="-122"/>
                <a:cs typeface="Consolas" pitchFamily="34" charset="-120"/>
              </a:rPr>
              <a:t>// src/services/auth.js</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export async function login(email, password)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await new Promise(r =&gt; setTimeout(r, 600));</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if (email === "demo@x.io" &amp;&amp; password === "1234")</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return { id: 1, name: "Demo User", email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throw new Error("Invalid credentials");</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a:t>
            </a:r>
            <a:endParaRPr lang="en-US" sz="800" dirty="0"/>
          </a:p>
          <a:p>
            <a:pPr marL="0" indent="0">
              <a:buNone/>
            </a:pP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src/stores/auth.store.js</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import { create } from "zustand";</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import * as authSvc from "@/services/auth";</a:t>
            </a:r>
            <a:endParaRPr lang="en-US" sz="800" dirty="0"/>
          </a:p>
          <a:p>
            <a:pPr marL="0" indent="0">
              <a:buNone/>
            </a:pP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export const useAuthStore = create((set, get) =&gt;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user: null, loading: false, error: null,</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login: async (email, password) =&gt;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if (get().loading) return;</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set({ loading: true, error: null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try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const user = await authSvc.login(email, password);</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set({ user, loading: false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 catch (e)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set({ error: e.message, loading: false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logout: () =&gt; set({ user: null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a:t>
            </a:r>
            <a:endParaRPr lang="en-US" sz="800" dirty="0"/>
          </a:p>
        </p:txBody>
      </p:sp>
      <p:sp>
        <p:nvSpPr>
          <p:cNvPr id="13" name="Text 11"/>
          <p:cNvSpPr/>
          <p:nvPr/>
        </p:nvSpPr>
        <p:spPr>
          <a:xfrm>
            <a:off x="5486400" y="1325880"/>
            <a:ext cx="3291840" cy="3200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Service layer แยก fetch logic</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Store ไม่รู้รายละเอียด API</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track loading + error แบบ explicit</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ป้องกัน double-submit ด้วย get().loading</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Test ง่าย: mock authSvc.login</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32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Step 6 — Selectors + devtools</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Performance + debugging</a:t>
            </a:r>
            <a:endParaRPr lang="en-US" sz="1300" dirty="0"/>
          </a:p>
        </p:txBody>
      </p:sp>
      <p:sp>
        <p:nvSpPr>
          <p:cNvPr id="6" name="Shape 4"/>
          <p:cNvSpPr/>
          <p:nvPr/>
        </p:nvSpPr>
        <p:spPr>
          <a:xfrm>
            <a:off x="457200" y="1325880"/>
            <a:ext cx="4937760" cy="3200400"/>
          </a:xfrm>
          <a:prstGeom prst="rect">
            <a:avLst/>
          </a:prstGeom>
          <a:solidFill>
            <a:srgbClr val="050B17"/>
          </a:solidFill>
          <a:ln w="12700">
            <a:solidFill>
              <a:srgbClr val="1B2C47"/>
            </a:solidFill>
            <a:prstDash val="solid"/>
          </a:ln>
        </p:spPr>
      </p:sp>
      <p:sp>
        <p:nvSpPr>
          <p:cNvPr id="7" name="Shape 5"/>
          <p:cNvSpPr/>
          <p:nvPr/>
        </p:nvSpPr>
        <p:spPr>
          <a:xfrm>
            <a:off x="457200" y="1325880"/>
            <a:ext cx="4937760" cy="228600"/>
          </a:xfrm>
          <a:prstGeom prst="rect">
            <a:avLst/>
          </a:prstGeom>
          <a:solidFill>
            <a:srgbClr val="1B2C47"/>
          </a:solidFill>
          <a:ln/>
        </p:spPr>
      </p:sp>
      <p:sp>
        <p:nvSpPr>
          <p:cNvPr id="8" name="Shape 6"/>
          <p:cNvSpPr/>
          <p:nvPr/>
        </p:nvSpPr>
        <p:spPr>
          <a:xfrm>
            <a:off x="548640" y="1389888"/>
            <a:ext cx="100584" cy="100584"/>
          </a:xfrm>
          <a:prstGeom prst="ellipse">
            <a:avLst/>
          </a:prstGeom>
          <a:solidFill>
            <a:srgbClr val="F87171"/>
          </a:solidFill>
          <a:ln/>
        </p:spPr>
      </p:sp>
      <p:sp>
        <p:nvSpPr>
          <p:cNvPr id="9" name="Shape 7"/>
          <p:cNvSpPr/>
          <p:nvPr/>
        </p:nvSpPr>
        <p:spPr>
          <a:xfrm>
            <a:off x="713232" y="1389888"/>
            <a:ext cx="100584" cy="100584"/>
          </a:xfrm>
          <a:prstGeom prst="ellipse">
            <a:avLst/>
          </a:prstGeom>
          <a:solidFill>
            <a:srgbClr val="FBBF24"/>
          </a:solidFill>
          <a:ln/>
        </p:spPr>
      </p:sp>
      <p:sp>
        <p:nvSpPr>
          <p:cNvPr id="10" name="Shape 8"/>
          <p:cNvSpPr/>
          <p:nvPr/>
        </p:nvSpPr>
        <p:spPr>
          <a:xfrm>
            <a:off x="877824" y="1389888"/>
            <a:ext cx="100584" cy="100584"/>
          </a:xfrm>
          <a:prstGeom prst="ellipse">
            <a:avLst/>
          </a:prstGeom>
          <a:solidFill>
            <a:srgbClr val="34D399"/>
          </a:solidFill>
          <a:ln/>
        </p:spPr>
      </p:sp>
      <p:sp>
        <p:nvSpPr>
          <p:cNvPr id="11" name="Text 9"/>
          <p:cNvSpPr/>
          <p:nvPr/>
        </p:nvSpPr>
        <p:spPr>
          <a:xfrm>
            <a:off x="4297680" y="1344168"/>
            <a:ext cx="1005840" cy="192024"/>
          </a:xfrm>
          <a:prstGeom prst="rect">
            <a:avLst/>
          </a:prstGeom>
          <a:noFill/>
          <a:ln/>
        </p:spPr>
        <p:txBody>
          <a:bodyPr wrap="square" lIns="0" tIns="0" rIns="0" bIns="0" rtlCol="0" anchor="ctr"/>
          <a:lstStyle/>
          <a:p>
            <a:pPr marL="0" indent="0" algn="r">
              <a:buNone/>
            </a:pPr>
            <a:r>
              <a:rPr lang="en-US" sz="800" dirty="0">
                <a:solidFill>
                  <a:srgbClr val="94A3B8"/>
                </a:solidFill>
                <a:latin typeface="Consolas" pitchFamily="34" charset="0"/>
                <a:ea typeface="Consolas" pitchFamily="34" charset="-122"/>
                <a:cs typeface="Consolas" pitchFamily="34" charset="-120"/>
              </a:rPr>
              <a:t>javascript</a:t>
            </a:r>
            <a:endParaRPr lang="en-US" sz="800" dirty="0"/>
          </a:p>
        </p:txBody>
      </p:sp>
      <p:sp>
        <p:nvSpPr>
          <p:cNvPr id="12" name="Text 10"/>
          <p:cNvSpPr/>
          <p:nvPr/>
        </p:nvSpPr>
        <p:spPr>
          <a:xfrm>
            <a:off x="594360" y="1618488"/>
            <a:ext cx="4663440" cy="2834640"/>
          </a:xfrm>
          <a:prstGeom prst="rect">
            <a:avLst/>
          </a:prstGeom>
          <a:noFill/>
          <a:ln/>
        </p:spPr>
        <p:txBody>
          <a:bodyPr wrap="square" lIns="0" tIns="0" rIns="0" bIns="0" rtlCol="0" anchor="t"/>
          <a:lstStyle/>
          <a:p>
            <a:pPr marL="0" indent="0">
              <a:buNone/>
            </a:pPr>
            <a:r>
              <a:rPr lang="en-US" sz="800" dirty="0">
                <a:solidFill>
                  <a:srgbClr val="C7F9FF"/>
                </a:solidFill>
                <a:latin typeface="Consolas" pitchFamily="34" charset="0"/>
                <a:ea typeface="Consolas" pitchFamily="34" charset="-122"/>
                <a:cs typeface="Consolas" pitchFamily="34" charset="-120"/>
              </a:rPr>
              <a:t>// แก้ auth.store.js เพิ่ม devtools</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import { devtools } from "zustand/middleware";</a:t>
            </a:r>
            <a:endParaRPr lang="en-US" sz="800" dirty="0"/>
          </a:p>
          <a:p>
            <a:pPr marL="0" indent="0">
              <a:buNone/>
            </a:pP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export const useAuthStore = create(</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devtools(</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(set, get) =&gt; ({ /* ...เหมือนเดิม...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login: async (email, password) =&gt;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set({ loading: true }, false, "auth/loginStart");</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try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const user = await authSvc.login(email, password);</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set({ user, loading: false }, false, "auth/loginOk");</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 catch (e)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set({ error: e.message, loading: false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false, "auth/loginErr");</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 name: "auth", enabled: import.meta.env.DEV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a:t>
            </a:r>
            <a:endParaRPr lang="en-US" sz="800" dirty="0"/>
          </a:p>
          <a:p>
            <a:pPr marL="0" indent="0">
              <a:buNone/>
            </a:pP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Component: ดึงทีละค่า</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const user    = useAuthStore(s =&gt; s.user);</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const loading = useAuthStore(s =&gt; s.loading);</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const login   = useAuthStore(s =&gt; s.login);</a:t>
            </a:r>
            <a:endParaRPr lang="en-US" sz="800" dirty="0"/>
          </a:p>
        </p:txBody>
      </p:sp>
      <p:sp>
        <p:nvSpPr>
          <p:cNvPr id="13" name="Text 11"/>
          <p:cNvSpPr/>
          <p:nvPr/>
        </p:nvSpPr>
        <p:spPr>
          <a:xfrm>
            <a:off x="5486400" y="1325880"/>
            <a:ext cx="3291840" cy="3200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เปิด Redux DevTools ในเบราว์เซอร์</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เห็นทุก action: loginStart / Ok / Err</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Time travel ย้อน state ได้</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ใช้ per-value selector ทุกที่</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เปิดเฉพาะ DEV ผ่าน enabled flag</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33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Challenge + เฉลย</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ลองทำเองก่อนดูเฉลย</a:t>
            </a:r>
            <a:endParaRPr lang="en-US" sz="1300" dirty="0"/>
          </a:p>
        </p:txBody>
      </p:sp>
      <p:sp>
        <p:nvSpPr>
          <p:cNvPr id="6" name="Shape 4"/>
          <p:cNvSpPr/>
          <p:nvPr/>
        </p:nvSpPr>
        <p:spPr>
          <a:xfrm>
            <a:off x="457200" y="1280160"/>
            <a:ext cx="4114800" cy="3291840"/>
          </a:xfrm>
          <a:prstGeom prst="roundRect">
            <a:avLst>
              <a:gd name="adj" fmla="val 2778"/>
            </a:avLst>
          </a:prstGeom>
          <a:solidFill>
            <a:srgbClr val="132238"/>
          </a:solidFill>
          <a:ln w="19050">
            <a:solidFill>
              <a:srgbClr val="F472B6"/>
            </a:solidFill>
            <a:prstDash val="solid"/>
          </a:ln>
        </p:spPr>
      </p:sp>
      <p:sp>
        <p:nvSpPr>
          <p:cNvPr id="7" name="Text 5"/>
          <p:cNvSpPr/>
          <p:nvPr/>
        </p:nvSpPr>
        <p:spPr>
          <a:xfrm>
            <a:off x="640080" y="1371600"/>
            <a:ext cx="3749040" cy="365760"/>
          </a:xfrm>
          <a:prstGeom prst="rect">
            <a:avLst/>
          </a:prstGeom>
          <a:noFill/>
          <a:ln/>
        </p:spPr>
        <p:txBody>
          <a:bodyPr wrap="square" lIns="0" tIns="0" rIns="0" bIns="0" rtlCol="0" anchor="ctr"/>
          <a:lstStyle/>
          <a:p>
            <a:pPr marL="0" indent="0">
              <a:buNone/>
            </a:pPr>
            <a:r>
              <a:rPr lang="en-US" sz="1400" b="1" dirty="0">
                <a:solidFill>
                  <a:srgbClr val="F472B6"/>
                </a:solidFill>
                <a:latin typeface="Calibri" pitchFamily="34" charset="0"/>
                <a:ea typeface="Calibri" pitchFamily="34" charset="-122"/>
                <a:cs typeface="Calibri" pitchFamily="34" charset="-120"/>
              </a:rPr>
              <a:t>🧩 Challenge</a:t>
            </a:r>
            <a:endParaRPr lang="en-US" sz="1400" dirty="0"/>
          </a:p>
        </p:txBody>
      </p:sp>
      <p:sp>
        <p:nvSpPr>
          <p:cNvPr id="8" name="Text 6"/>
          <p:cNvSpPr/>
          <p:nvPr/>
        </p:nvSpPr>
        <p:spPr>
          <a:xfrm>
            <a:off x="640080" y="1783080"/>
            <a:ext cx="3749040" cy="27432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เพิ่ม per-user todos: ผูก todos กับ user ที่ login</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Logout แล้ว todos ของ user นั้นต้องไม่ถูกเคลียร์</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Login กลับมาเห็น todos เดิม</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persist todos ลง localStorage แยก per user</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เพิ่ม version + migrate (เผื่อ schema เปลี่ยน)</a:t>
            </a:r>
            <a:endParaRPr lang="en-US" sz="1100" dirty="0"/>
          </a:p>
        </p:txBody>
      </p:sp>
      <p:sp>
        <p:nvSpPr>
          <p:cNvPr id="9" name="Shape 7"/>
          <p:cNvSpPr/>
          <p:nvPr/>
        </p:nvSpPr>
        <p:spPr>
          <a:xfrm>
            <a:off x="4754880" y="1280160"/>
            <a:ext cx="4023360" cy="3291840"/>
          </a:xfrm>
          <a:prstGeom prst="rect">
            <a:avLst/>
          </a:prstGeom>
          <a:solidFill>
            <a:srgbClr val="050B17"/>
          </a:solidFill>
          <a:ln w="12700">
            <a:solidFill>
              <a:srgbClr val="1B2C47"/>
            </a:solidFill>
            <a:prstDash val="solid"/>
          </a:ln>
        </p:spPr>
      </p:sp>
      <p:sp>
        <p:nvSpPr>
          <p:cNvPr id="10" name="Shape 8"/>
          <p:cNvSpPr/>
          <p:nvPr/>
        </p:nvSpPr>
        <p:spPr>
          <a:xfrm>
            <a:off x="4754880" y="1280160"/>
            <a:ext cx="4023360" cy="228600"/>
          </a:xfrm>
          <a:prstGeom prst="rect">
            <a:avLst/>
          </a:prstGeom>
          <a:solidFill>
            <a:srgbClr val="1B2C47"/>
          </a:solidFill>
          <a:ln/>
        </p:spPr>
      </p:sp>
      <p:sp>
        <p:nvSpPr>
          <p:cNvPr id="11" name="Shape 9"/>
          <p:cNvSpPr/>
          <p:nvPr/>
        </p:nvSpPr>
        <p:spPr>
          <a:xfrm>
            <a:off x="4846320" y="1344168"/>
            <a:ext cx="100584" cy="100584"/>
          </a:xfrm>
          <a:prstGeom prst="ellipse">
            <a:avLst/>
          </a:prstGeom>
          <a:solidFill>
            <a:srgbClr val="F87171"/>
          </a:solidFill>
          <a:ln/>
        </p:spPr>
      </p:sp>
      <p:sp>
        <p:nvSpPr>
          <p:cNvPr id="12" name="Shape 10"/>
          <p:cNvSpPr/>
          <p:nvPr/>
        </p:nvSpPr>
        <p:spPr>
          <a:xfrm>
            <a:off x="5010912" y="1344168"/>
            <a:ext cx="100584" cy="100584"/>
          </a:xfrm>
          <a:prstGeom prst="ellipse">
            <a:avLst/>
          </a:prstGeom>
          <a:solidFill>
            <a:srgbClr val="FBBF24"/>
          </a:solidFill>
          <a:ln/>
        </p:spPr>
      </p:sp>
      <p:sp>
        <p:nvSpPr>
          <p:cNvPr id="13" name="Shape 11"/>
          <p:cNvSpPr/>
          <p:nvPr/>
        </p:nvSpPr>
        <p:spPr>
          <a:xfrm>
            <a:off x="5175504" y="1344168"/>
            <a:ext cx="100584" cy="100584"/>
          </a:xfrm>
          <a:prstGeom prst="ellipse">
            <a:avLst/>
          </a:prstGeom>
          <a:solidFill>
            <a:srgbClr val="34D399"/>
          </a:solidFill>
          <a:ln/>
        </p:spPr>
      </p:sp>
      <p:sp>
        <p:nvSpPr>
          <p:cNvPr id="14" name="Text 12"/>
          <p:cNvSpPr/>
          <p:nvPr/>
        </p:nvSpPr>
        <p:spPr>
          <a:xfrm>
            <a:off x="7680960" y="1298448"/>
            <a:ext cx="1005840" cy="192024"/>
          </a:xfrm>
          <a:prstGeom prst="rect">
            <a:avLst/>
          </a:prstGeom>
          <a:noFill/>
          <a:ln/>
        </p:spPr>
        <p:txBody>
          <a:bodyPr wrap="square" lIns="0" tIns="0" rIns="0" bIns="0" rtlCol="0" anchor="ctr"/>
          <a:lstStyle/>
          <a:p>
            <a:pPr marL="0" indent="0" algn="r">
              <a:buNone/>
            </a:pPr>
            <a:r>
              <a:rPr lang="en-US" sz="800" dirty="0">
                <a:solidFill>
                  <a:srgbClr val="94A3B8"/>
                </a:solidFill>
                <a:latin typeface="Consolas" pitchFamily="34" charset="0"/>
                <a:ea typeface="Consolas" pitchFamily="34" charset="-122"/>
                <a:cs typeface="Consolas" pitchFamily="34" charset="-120"/>
              </a:rPr>
              <a:t>javascript</a:t>
            </a:r>
            <a:endParaRPr lang="en-US" sz="800" dirty="0"/>
          </a:p>
        </p:txBody>
      </p:sp>
      <p:sp>
        <p:nvSpPr>
          <p:cNvPr id="15" name="Text 13"/>
          <p:cNvSpPr/>
          <p:nvPr/>
        </p:nvSpPr>
        <p:spPr>
          <a:xfrm>
            <a:off x="4892040" y="1572768"/>
            <a:ext cx="3749040" cy="2926080"/>
          </a:xfrm>
          <a:prstGeom prst="rect">
            <a:avLst/>
          </a:prstGeom>
          <a:noFill/>
          <a:ln/>
        </p:spPr>
        <p:txBody>
          <a:bodyPr wrap="square" lIns="0" tIns="0" rIns="0" bIns="0" rtlCol="0" anchor="t"/>
          <a:lstStyle/>
          <a:p>
            <a:pPr marL="0" indent="0">
              <a:buNone/>
            </a:pPr>
            <a:r>
              <a:rPr lang="en-US" sz="800" dirty="0">
                <a:solidFill>
                  <a:srgbClr val="C7F9FF"/>
                </a:solidFill>
                <a:latin typeface="Consolas" pitchFamily="34" charset="0"/>
                <a:ea typeface="Consolas" pitchFamily="34" charset="-122"/>
                <a:cs typeface="Consolas" pitchFamily="34" charset="-120"/>
              </a:rPr>
              <a:t>// แนวเฉลย — partialize + key dynamic</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persist(</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(set, get) =&gt;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byUser: {},   // { [userId]: Todo[]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add: (uid, text) =&gt; set((s) =&gt;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byUser: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...s.byUser,</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[uid]: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...(s.byUser[uid] ??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 id: nextId++, text, done: false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 selector: list ของ user ปัจจุบัน</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name: "todos-by-user",</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version: 1,</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migrate: (persisted, v) =&gt;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if (v === 0) return { byUser: {}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return persisted;</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partialize: (s) =&gt; ({ byUser: s.byUser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  }</a:t>
            </a:r>
            <a:endParaRPr lang="en-US" sz="800" dirty="0"/>
          </a:p>
          <a:p>
            <a:pPr marL="0" indent="0">
              <a:buNone/>
            </a:pPr>
            <a:r>
              <a:rPr lang="en-US" sz="800" dirty="0">
                <a:solidFill>
                  <a:srgbClr val="C7F9FF"/>
                </a:solidFill>
                <a:latin typeface="Consolas" pitchFamily="34" charset="0"/>
                <a:ea typeface="Consolas" pitchFamily="34" charset="-122"/>
                <a:cs typeface="Consolas" pitchFamily="34" charset="-120"/>
              </a:rPr>
              <a:t>)</a:t>
            </a:r>
            <a:endParaRPr lang="en-US" sz="800" dirty="0"/>
          </a:p>
        </p:txBody>
      </p:sp>
      <p:sp>
        <p:nvSpPr>
          <p:cNvPr id="16" name="Shape 14"/>
          <p:cNvSpPr/>
          <p:nvPr/>
        </p:nvSpPr>
        <p:spPr>
          <a:xfrm>
            <a:off x="457200" y="4023360"/>
            <a:ext cx="8229600" cy="777240"/>
          </a:xfrm>
          <a:prstGeom prst="rect">
            <a:avLst/>
          </a:prstGeom>
          <a:solidFill>
            <a:srgbClr val="132238"/>
          </a:solidFill>
          <a:ln w="12700">
            <a:solidFill>
              <a:srgbClr val="F472B6"/>
            </a:solidFill>
            <a:prstDash val="solid"/>
          </a:ln>
        </p:spPr>
      </p:sp>
      <p:sp>
        <p:nvSpPr>
          <p:cNvPr id="17" name="Text 15"/>
          <p:cNvSpPr/>
          <p:nvPr/>
        </p:nvSpPr>
        <p:spPr>
          <a:xfrm>
            <a:off x="594360" y="4069080"/>
            <a:ext cx="7955280" cy="228600"/>
          </a:xfrm>
          <a:prstGeom prst="rect">
            <a:avLst/>
          </a:prstGeom>
          <a:noFill/>
          <a:ln/>
        </p:spPr>
        <p:txBody>
          <a:bodyPr wrap="square" lIns="0" tIns="0" rIns="0" bIns="0" rtlCol="0" anchor="ctr"/>
          <a:lstStyle/>
          <a:p>
            <a:pPr marL="0" indent="0">
              <a:buNone/>
            </a:pPr>
            <a:r>
              <a:rPr lang="en-US" sz="1100" b="1" dirty="0">
                <a:solidFill>
                  <a:srgbClr val="F472B6"/>
                </a:solidFill>
                <a:latin typeface="Calibri" pitchFamily="34" charset="0"/>
                <a:ea typeface="Calibri" pitchFamily="34" charset="-122"/>
                <a:cs typeface="Calibri" pitchFamily="34" charset="-120"/>
              </a:rPr>
              <a:t>⚠ Pitfalls / ข้อควรระวัง</a:t>
            </a:r>
            <a:endParaRPr lang="en-US" sz="1100" dirty="0"/>
          </a:p>
        </p:txBody>
      </p:sp>
      <p:sp>
        <p:nvSpPr>
          <p:cNvPr id="18" name="Text 16"/>
          <p:cNvSpPr/>
          <p:nvPr/>
        </p:nvSpPr>
        <p:spPr>
          <a:xfrm>
            <a:off x="594360" y="4297680"/>
            <a:ext cx="7955280" cy="457200"/>
          </a:xfrm>
          <a:prstGeom prst="rect">
            <a:avLst/>
          </a:prstGeom>
          <a:noFill/>
          <a:ln/>
        </p:spPr>
        <p:txBody>
          <a:bodyPr wrap="square" lIns="0" tIns="0" rIns="0" bIns="0" rtlCol="0" anchor="ctr"/>
          <a:lstStyle/>
          <a:p>
            <a:pPr marL="342900" indent="-342900">
              <a:buSzPct val="100000"/>
              <a:buChar char="•"/>
            </a:pPr>
            <a:r>
              <a:rPr lang="en-US" sz="1000" dirty="0">
                <a:solidFill>
                  <a:srgbClr val="E2E8F0"/>
                </a:solidFill>
                <a:latin typeface="Calibri" pitchFamily="34" charset="0"/>
                <a:ea typeface="Calibri" pitchFamily="34" charset="-122"/>
                <a:cs typeface="Calibri" pitchFamily="34" charset="-120"/>
              </a:rPr>
              <a:t>ระวัง: localStorage มี quota ~5MB; ถ้าผู้ใช้มี todos จำนวนมาก ให้ย้ายไป IndexedDB</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4846320"/>
            <a:ext cx="5486400" cy="22860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Zustand · 0 → 1 → Production</a:t>
            </a:r>
            <a:endParaRPr lang="en-US" sz="900" dirty="0"/>
          </a:p>
        </p:txBody>
      </p:sp>
      <p:sp>
        <p:nvSpPr>
          <p:cNvPr id="3" name="Text 1"/>
          <p:cNvSpPr/>
          <p:nvPr/>
        </p:nvSpPr>
        <p:spPr>
          <a:xfrm>
            <a:off x="7498080" y="4846320"/>
            <a:ext cx="128016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34 / 35</a:t>
            </a:r>
            <a:endParaRPr lang="en-US" sz="900" dirty="0"/>
          </a:p>
        </p:txBody>
      </p:sp>
      <p:sp>
        <p:nvSpPr>
          <p:cNvPr id="4" name="Text 2"/>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E2E8F0"/>
                </a:solidFill>
                <a:latin typeface="Calibri" pitchFamily="34" charset="0"/>
                <a:ea typeface="Calibri" pitchFamily="34" charset="-122"/>
                <a:cs typeface="Calibri" pitchFamily="34" charset="-120"/>
              </a:rPr>
              <a:t>Production Checklist</a:t>
            </a:r>
            <a:endParaRPr lang="en-US" sz="28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22D3EE"/>
                </a:solidFill>
                <a:latin typeface="Consolas" pitchFamily="34" charset="0"/>
                <a:ea typeface="Consolas" pitchFamily="34" charset="-122"/>
                <a:cs typeface="Consolas" pitchFamily="34" charset="-120"/>
              </a:rPr>
              <a:t>ก่อน merge → ก่อน release</a:t>
            </a:r>
            <a:endParaRPr lang="en-US" sz="1300" dirty="0"/>
          </a:p>
        </p:txBody>
      </p:sp>
      <p:sp>
        <p:nvSpPr>
          <p:cNvPr id="6" name="Shape 4"/>
          <p:cNvSpPr/>
          <p:nvPr/>
        </p:nvSpPr>
        <p:spPr>
          <a:xfrm>
            <a:off x="457200" y="1280160"/>
            <a:ext cx="4023360" cy="1417320"/>
          </a:xfrm>
          <a:prstGeom prst="roundRect">
            <a:avLst>
              <a:gd name="adj" fmla="val 5161"/>
            </a:avLst>
          </a:prstGeom>
          <a:solidFill>
            <a:srgbClr val="132238"/>
          </a:solidFill>
          <a:ln w="15240">
            <a:solidFill>
              <a:srgbClr val="22D3EE"/>
            </a:solidFill>
            <a:prstDash val="solid"/>
          </a:ln>
        </p:spPr>
      </p:sp>
      <p:sp>
        <p:nvSpPr>
          <p:cNvPr id="7" name="Text 5"/>
          <p:cNvSpPr/>
          <p:nvPr/>
        </p:nvSpPr>
        <p:spPr>
          <a:xfrm>
            <a:off x="594360" y="1325880"/>
            <a:ext cx="3749040" cy="292608"/>
          </a:xfrm>
          <a:prstGeom prst="rect">
            <a:avLst/>
          </a:prstGeom>
          <a:noFill/>
          <a:ln/>
        </p:spPr>
        <p:txBody>
          <a:bodyPr wrap="square" lIns="0" tIns="0" rIns="0" bIns="0" rtlCol="0" anchor="ctr"/>
          <a:lstStyle/>
          <a:p>
            <a:pPr marL="0" indent="0">
              <a:buNone/>
            </a:pPr>
            <a:r>
              <a:rPr lang="en-US" sz="1300" b="1" dirty="0">
                <a:solidFill>
                  <a:srgbClr val="22D3EE"/>
                </a:solidFill>
                <a:latin typeface="Calibri" pitchFamily="34" charset="0"/>
                <a:ea typeface="Calibri" pitchFamily="34" charset="-122"/>
                <a:cs typeface="Calibri" pitchFamily="34" charset="-120"/>
              </a:rPr>
              <a:t>Design</a:t>
            </a:r>
            <a:endParaRPr lang="en-US" sz="1300" dirty="0"/>
          </a:p>
        </p:txBody>
      </p:sp>
      <p:sp>
        <p:nvSpPr>
          <p:cNvPr id="8" name="Text 6"/>
          <p:cNvSpPr/>
          <p:nvPr/>
        </p:nvSpPr>
        <p:spPr>
          <a:xfrm>
            <a:off x="594360" y="1645920"/>
            <a:ext cx="3749040" cy="1005840"/>
          </a:xfrm>
          <a:prstGeom prst="rect">
            <a:avLst/>
          </a:prstGeom>
          <a:noFill/>
          <a:ln/>
        </p:spPr>
        <p:txBody>
          <a:bodyPr wrap="square" lIns="0" tIns="0" rIns="0" bIns="0" rtlCol="0" anchor="ctr"/>
          <a:lstStyle/>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แยก store ตาม domain</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ไม่เก็บ derived state</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ไม่ยัด local UI state เข้า global</a:t>
            </a:r>
            <a:endParaRPr lang="en-US" sz="1050" dirty="0"/>
          </a:p>
        </p:txBody>
      </p:sp>
      <p:sp>
        <p:nvSpPr>
          <p:cNvPr id="9" name="Shape 7"/>
          <p:cNvSpPr/>
          <p:nvPr/>
        </p:nvSpPr>
        <p:spPr>
          <a:xfrm>
            <a:off x="4617720" y="1280160"/>
            <a:ext cx="4023360" cy="1417320"/>
          </a:xfrm>
          <a:prstGeom prst="roundRect">
            <a:avLst>
              <a:gd name="adj" fmla="val 5161"/>
            </a:avLst>
          </a:prstGeom>
          <a:solidFill>
            <a:srgbClr val="132238"/>
          </a:solidFill>
          <a:ln w="15240">
            <a:solidFill>
              <a:srgbClr val="A3E635"/>
            </a:solidFill>
            <a:prstDash val="solid"/>
          </a:ln>
        </p:spPr>
      </p:sp>
      <p:sp>
        <p:nvSpPr>
          <p:cNvPr id="10" name="Text 8"/>
          <p:cNvSpPr/>
          <p:nvPr/>
        </p:nvSpPr>
        <p:spPr>
          <a:xfrm>
            <a:off x="4754880" y="1325880"/>
            <a:ext cx="3749040" cy="292608"/>
          </a:xfrm>
          <a:prstGeom prst="rect">
            <a:avLst/>
          </a:prstGeom>
          <a:noFill/>
          <a:ln/>
        </p:spPr>
        <p:txBody>
          <a:bodyPr wrap="square" lIns="0" tIns="0" rIns="0" bIns="0" rtlCol="0" anchor="ctr"/>
          <a:lstStyle/>
          <a:p>
            <a:pPr marL="0" indent="0">
              <a:buNone/>
            </a:pPr>
            <a:r>
              <a:rPr lang="en-US" sz="1300" b="1" dirty="0">
                <a:solidFill>
                  <a:srgbClr val="A3E635"/>
                </a:solidFill>
                <a:latin typeface="Calibri" pitchFamily="34" charset="0"/>
                <a:ea typeface="Calibri" pitchFamily="34" charset="-122"/>
                <a:cs typeface="Calibri" pitchFamily="34" charset="-120"/>
              </a:rPr>
              <a:t>Performance</a:t>
            </a:r>
            <a:endParaRPr lang="en-US" sz="1300" dirty="0"/>
          </a:p>
        </p:txBody>
      </p:sp>
      <p:sp>
        <p:nvSpPr>
          <p:cNvPr id="11" name="Text 9"/>
          <p:cNvSpPr/>
          <p:nvPr/>
        </p:nvSpPr>
        <p:spPr>
          <a:xfrm>
            <a:off x="4754880" y="1645920"/>
            <a:ext cx="3749040" cy="1005840"/>
          </a:xfrm>
          <a:prstGeom prst="rect">
            <a:avLst/>
          </a:prstGeom>
          <a:noFill/>
          <a:ln/>
        </p:spPr>
        <p:txBody>
          <a:bodyPr wrap="square" lIns="0" tIns="0" rIns="0" bIns="0" rtlCol="0" anchor="ctr"/>
          <a:lstStyle/>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Selector แบบ per-value หรือ useShallow</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ไม่สร้าง object ใหม่ใน selector</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หลีกเลี่ยง heavy compute ใน selector</a:t>
            </a:r>
            <a:endParaRPr lang="en-US" sz="1050" dirty="0"/>
          </a:p>
        </p:txBody>
      </p:sp>
      <p:sp>
        <p:nvSpPr>
          <p:cNvPr id="12" name="Shape 10"/>
          <p:cNvSpPr/>
          <p:nvPr/>
        </p:nvSpPr>
        <p:spPr>
          <a:xfrm>
            <a:off x="457200" y="2834640"/>
            <a:ext cx="4023360" cy="1417320"/>
          </a:xfrm>
          <a:prstGeom prst="roundRect">
            <a:avLst>
              <a:gd name="adj" fmla="val 5161"/>
            </a:avLst>
          </a:prstGeom>
          <a:solidFill>
            <a:srgbClr val="132238"/>
          </a:solidFill>
          <a:ln w="15240">
            <a:solidFill>
              <a:srgbClr val="F472B6"/>
            </a:solidFill>
            <a:prstDash val="solid"/>
          </a:ln>
        </p:spPr>
      </p:sp>
      <p:sp>
        <p:nvSpPr>
          <p:cNvPr id="13" name="Text 11"/>
          <p:cNvSpPr/>
          <p:nvPr/>
        </p:nvSpPr>
        <p:spPr>
          <a:xfrm>
            <a:off x="594360" y="2880360"/>
            <a:ext cx="3749040" cy="292608"/>
          </a:xfrm>
          <a:prstGeom prst="rect">
            <a:avLst/>
          </a:prstGeom>
          <a:noFill/>
          <a:ln/>
        </p:spPr>
        <p:txBody>
          <a:bodyPr wrap="square" lIns="0" tIns="0" rIns="0" bIns="0" rtlCol="0" anchor="ctr"/>
          <a:lstStyle/>
          <a:p>
            <a:pPr marL="0" indent="0">
              <a:buNone/>
            </a:pPr>
            <a:r>
              <a:rPr lang="en-US" sz="1300" b="1" dirty="0">
                <a:solidFill>
                  <a:srgbClr val="F472B6"/>
                </a:solidFill>
                <a:latin typeface="Calibri" pitchFamily="34" charset="0"/>
                <a:ea typeface="Calibri" pitchFamily="34" charset="-122"/>
                <a:cs typeface="Calibri" pitchFamily="34" charset="-120"/>
              </a:rPr>
              <a:t>Persistence</a:t>
            </a:r>
            <a:endParaRPr lang="en-US" sz="1300" dirty="0"/>
          </a:p>
        </p:txBody>
      </p:sp>
      <p:sp>
        <p:nvSpPr>
          <p:cNvPr id="14" name="Text 12"/>
          <p:cNvSpPr/>
          <p:nvPr/>
        </p:nvSpPr>
        <p:spPr>
          <a:xfrm>
            <a:off x="594360" y="3200400"/>
            <a:ext cx="3749040" cy="1005840"/>
          </a:xfrm>
          <a:prstGeom prst="rect">
            <a:avLst/>
          </a:prstGeom>
          <a:noFill/>
          <a:ln/>
        </p:spPr>
        <p:txBody>
          <a:bodyPr wrap="square" lIns="0" tIns="0" rIns="0" bIns="0" rtlCol="0" anchor="ctr"/>
          <a:lstStyle/>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partialize เลือก field ชัดเจน</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version + migrate พร้อม</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ไม่ persist token / password ดิบ</a:t>
            </a:r>
            <a:endParaRPr lang="en-US" sz="1050" dirty="0"/>
          </a:p>
        </p:txBody>
      </p:sp>
      <p:sp>
        <p:nvSpPr>
          <p:cNvPr id="15" name="Shape 13"/>
          <p:cNvSpPr/>
          <p:nvPr/>
        </p:nvSpPr>
        <p:spPr>
          <a:xfrm>
            <a:off x="4617720" y="2834640"/>
            <a:ext cx="4023360" cy="1417320"/>
          </a:xfrm>
          <a:prstGeom prst="roundRect">
            <a:avLst>
              <a:gd name="adj" fmla="val 5161"/>
            </a:avLst>
          </a:prstGeom>
          <a:solidFill>
            <a:srgbClr val="132238"/>
          </a:solidFill>
          <a:ln w="15240">
            <a:solidFill>
              <a:srgbClr val="F59E0B"/>
            </a:solidFill>
            <a:prstDash val="solid"/>
          </a:ln>
        </p:spPr>
      </p:sp>
      <p:sp>
        <p:nvSpPr>
          <p:cNvPr id="16" name="Text 14"/>
          <p:cNvSpPr/>
          <p:nvPr/>
        </p:nvSpPr>
        <p:spPr>
          <a:xfrm>
            <a:off x="4754880" y="2880360"/>
            <a:ext cx="3749040" cy="292608"/>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Debugging / SSR / Test</a:t>
            </a:r>
            <a:endParaRPr lang="en-US" sz="1300" dirty="0"/>
          </a:p>
        </p:txBody>
      </p:sp>
      <p:sp>
        <p:nvSpPr>
          <p:cNvPr id="17" name="Text 15"/>
          <p:cNvSpPr/>
          <p:nvPr/>
        </p:nvSpPr>
        <p:spPr>
          <a:xfrm>
            <a:off x="4754880" y="3200400"/>
            <a:ext cx="3749040" cy="1005840"/>
          </a:xfrm>
          <a:prstGeom prst="rect">
            <a:avLst/>
          </a:prstGeom>
          <a:noFill/>
          <a:ln/>
        </p:spPr>
        <p:txBody>
          <a:bodyPr wrap="square" lIns="0" tIns="0" rIns="0" bIns="0" rtlCol="0" anchor="ctr"/>
          <a:lstStyle/>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devtools เปิดเฉพาะ DEV</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skipHydration + per-request store ใน Next.js</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Unit test action + reset state ทุก test</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1371600"/>
            <a:ext cx="8229600" cy="1280160"/>
          </a:xfrm>
          <a:prstGeom prst="rect">
            <a:avLst/>
          </a:prstGeom>
          <a:noFill/>
          <a:ln/>
        </p:spPr>
        <p:txBody>
          <a:bodyPr wrap="square" lIns="0" tIns="0" rIns="0" bIns="0" rtlCol="0" anchor="ctr"/>
          <a:lstStyle/>
          <a:p>
            <a:pPr marL="0" indent="0" algn="ctr">
              <a:buNone/>
            </a:pPr>
            <a:r>
              <a:rPr lang="en-US" sz="9600" b="1" dirty="0">
                <a:solidFill>
                  <a:srgbClr val="E2E8F0"/>
                </a:solidFill>
                <a:latin typeface="Calibri" pitchFamily="34" charset="0"/>
                <a:ea typeface="Calibri" pitchFamily="34" charset="-122"/>
                <a:cs typeface="Calibri" pitchFamily="34" charset="-120"/>
              </a:rPr>
              <a:t>Q &amp; A</a:t>
            </a:r>
            <a:endParaRPr lang="en-US" sz="9600" dirty="0"/>
          </a:p>
        </p:txBody>
      </p:sp>
      <p:sp>
        <p:nvSpPr>
          <p:cNvPr id="3" name="Text 1"/>
          <p:cNvSpPr/>
          <p:nvPr/>
        </p:nvSpPr>
        <p:spPr>
          <a:xfrm>
            <a:off x="457200" y="2697480"/>
            <a:ext cx="8229600" cy="457200"/>
          </a:xfrm>
          <a:prstGeom prst="rect">
            <a:avLst/>
          </a:prstGeom>
          <a:noFill/>
          <a:ln/>
        </p:spPr>
        <p:txBody>
          <a:bodyPr wrap="square" lIns="0" tIns="0" rIns="0" bIns="0" rtlCol="0" anchor="ctr"/>
          <a:lstStyle/>
          <a:p>
            <a:pPr marL="0" indent="0" algn="ctr">
              <a:buNone/>
            </a:pPr>
            <a:r>
              <a:rPr lang="en-US" sz="1600" dirty="0">
                <a:solidFill>
                  <a:srgbClr val="22D3EE"/>
                </a:solidFill>
                <a:latin typeface="Consolas" pitchFamily="34" charset="0"/>
                <a:ea typeface="Consolas" pitchFamily="34" charset="-122"/>
                <a:cs typeface="Consolas" pitchFamily="34" charset="-120"/>
              </a:rPr>
              <a:t>ถามได้ทุกเรื่องเกี่ยวกับ Zustand · React · State Management</a:t>
            </a:r>
            <a:endParaRPr lang="en-US" sz="1600" dirty="0"/>
          </a:p>
        </p:txBody>
      </p:sp>
      <p:sp>
        <p:nvSpPr>
          <p:cNvPr id="4" name="Shape 2"/>
          <p:cNvSpPr/>
          <p:nvPr/>
        </p:nvSpPr>
        <p:spPr>
          <a:xfrm>
            <a:off x="457200" y="3383280"/>
            <a:ext cx="548640" cy="54864"/>
          </a:xfrm>
          <a:prstGeom prst="rect">
            <a:avLst/>
          </a:prstGeom>
          <a:solidFill>
            <a:srgbClr val="A3E635"/>
          </a:solidFill>
          <a:ln/>
        </p:spPr>
      </p:sp>
      <p:sp>
        <p:nvSpPr>
          <p:cNvPr id="5" name="Text 3"/>
          <p:cNvSpPr/>
          <p:nvPr/>
        </p:nvSpPr>
        <p:spPr>
          <a:xfrm>
            <a:off x="457200" y="3474720"/>
            <a:ext cx="8229600" cy="320040"/>
          </a:xfrm>
          <a:prstGeom prst="rect">
            <a:avLst/>
          </a:prstGeom>
          <a:noFill/>
          <a:ln/>
        </p:spPr>
        <p:txBody>
          <a:bodyPr wrap="square" lIns="0" tIns="0" rIns="0" bIns="0" rtlCol="0" anchor="ctr"/>
          <a:lstStyle/>
          <a:p>
            <a:pPr marL="0" indent="0" algn="ctr">
              <a:buNone/>
            </a:pPr>
            <a:r>
              <a:rPr lang="en-US" sz="1400" b="1" dirty="0">
                <a:solidFill>
                  <a:srgbClr val="A3E635"/>
                </a:solidFill>
                <a:latin typeface="Calibri" pitchFamily="34" charset="0"/>
                <a:ea typeface="Calibri" pitchFamily="34" charset="-122"/>
                <a:cs typeface="Calibri" pitchFamily="34" charset="-120"/>
              </a:rPr>
              <a:t>Resources</a:t>
            </a:r>
            <a:endParaRPr lang="en-US" sz="1400" dirty="0"/>
          </a:p>
        </p:txBody>
      </p:sp>
      <p:sp>
        <p:nvSpPr>
          <p:cNvPr id="6" name="Text 4"/>
          <p:cNvSpPr/>
          <p:nvPr/>
        </p:nvSpPr>
        <p:spPr>
          <a:xfrm>
            <a:off x="457200" y="3840480"/>
            <a:ext cx="2743200" cy="274320"/>
          </a:xfrm>
          <a:prstGeom prst="rect">
            <a:avLst/>
          </a:prstGeom>
          <a:noFill/>
          <a:ln/>
        </p:spPr>
        <p:txBody>
          <a:bodyPr wrap="square" lIns="0" tIns="0" rIns="0" bIns="0" rtlCol="0" anchor="ctr"/>
          <a:lstStyle/>
          <a:p>
            <a:pPr marL="0" indent="0" algn="ctr">
              <a:buNone/>
            </a:pPr>
            <a:r>
              <a:rPr lang="en-US" sz="1200" dirty="0">
                <a:solidFill>
                  <a:srgbClr val="E2E8F0"/>
                </a:solidFill>
                <a:latin typeface="Consolas" pitchFamily="34" charset="0"/>
                <a:ea typeface="Consolas" pitchFamily="34" charset="-122"/>
                <a:cs typeface="Consolas" pitchFamily="34" charset="-120"/>
              </a:rPr>
              <a:t>github.com/pmndrs/zustand</a:t>
            </a:r>
            <a:endParaRPr lang="en-US" sz="1200" dirty="0"/>
          </a:p>
        </p:txBody>
      </p:sp>
      <p:sp>
        <p:nvSpPr>
          <p:cNvPr id="7" name="Text 5"/>
          <p:cNvSpPr/>
          <p:nvPr/>
        </p:nvSpPr>
        <p:spPr>
          <a:xfrm>
            <a:off x="3200400" y="3840480"/>
            <a:ext cx="2743200" cy="274320"/>
          </a:xfrm>
          <a:prstGeom prst="rect">
            <a:avLst/>
          </a:prstGeom>
          <a:noFill/>
          <a:ln/>
        </p:spPr>
        <p:txBody>
          <a:bodyPr wrap="square" lIns="0" tIns="0" rIns="0" bIns="0" rtlCol="0" anchor="ctr"/>
          <a:lstStyle/>
          <a:p>
            <a:pPr marL="0" indent="0" algn="ctr">
              <a:buNone/>
            </a:pPr>
            <a:r>
              <a:rPr lang="en-US" sz="1200" dirty="0">
                <a:solidFill>
                  <a:srgbClr val="E2E8F0"/>
                </a:solidFill>
                <a:latin typeface="Consolas" pitchFamily="34" charset="0"/>
                <a:ea typeface="Consolas" pitchFamily="34" charset="-122"/>
                <a:cs typeface="Consolas" pitchFamily="34" charset="-120"/>
              </a:rPr>
              <a:t>zustand.docs.pmnd.rs</a:t>
            </a:r>
            <a:endParaRPr lang="en-US" sz="1200" dirty="0"/>
          </a:p>
        </p:txBody>
      </p:sp>
      <p:sp>
        <p:nvSpPr>
          <p:cNvPr id="8" name="Text 6"/>
          <p:cNvSpPr/>
          <p:nvPr/>
        </p:nvSpPr>
        <p:spPr>
          <a:xfrm>
            <a:off x="5943600" y="3840480"/>
            <a:ext cx="2743200" cy="274320"/>
          </a:xfrm>
          <a:prstGeom prst="rect">
            <a:avLst/>
          </a:prstGeom>
          <a:noFill/>
          <a:ln/>
        </p:spPr>
        <p:txBody>
          <a:bodyPr wrap="square" lIns="0" tIns="0" rIns="0" bIns="0" rtlCol="0" anchor="ctr"/>
          <a:lstStyle/>
          <a:p>
            <a:pPr marL="0" indent="0" algn="ctr">
              <a:buNone/>
            </a:pPr>
            <a:r>
              <a:rPr lang="en-US" sz="1200" dirty="0">
                <a:solidFill>
                  <a:srgbClr val="E2E8F0"/>
                </a:solidFill>
                <a:latin typeface="Consolas" pitchFamily="34" charset="0"/>
                <a:ea typeface="Consolas" pitchFamily="34" charset="-122"/>
                <a:cs typeface="Consolas" pitchFamily="34" charset="-120"/>
              </a:rPr>
              <a:t>Redux DevTools Extension</a:t>
            </a:r>
            <a:endParaRPr lang="en-US" sz="1200" dirty="0"/>
          </a:p>
        </p:txBody>
      </p:sp>
      <p:sp>
        <p:nvSpPr>
          <p:cNvPr id="9" name="Text 7"/>
          <p:cNvSpPr/>
          <p:nvPr/>
        </p:nvSpPr>
        <p:spPr>
          <a:xfrm>
            <a:off x="457200" y="4389120"/>
            <a:ext cx="8229600" cy="365760"/>
          </a:xfrm>
          <a:prstGeom prst="rect">
            <a:avLst/>
          </a:prstGeom>
          <a:noFill/>
          <a:ln/>
        </p:spPr>
        <p:txBody>
          <a:bodyPr wrap="square" lIns="0" tIns="0" rIns="0" bIns="0" rtlCol="0" anchor="ctr"/>
          <a:lstStyle/>
          <a:p>
            <a:pPr marL="0" indent="0" algn="ctr">
              <a:buNone/>
            </a:pPr>
            <a:r>
              <a:rPr lang="en-US" sz="1800" i="1" dirty="0">
                <a:solidFill>
                  <a:srgbClr val="94A3B8"/>
                </a:solidFill>
                <a:latin typeface="Calibri" pitchFamily="34" charset="0"/>
                <a:ea typeface="Calibri" pitchFamily="34" charset="-122"/>
                <a:cs typeface="Calibri" pitchFamily="34" charset="-120"/>
              </a:rPr>
              <a:t>Thank you! 🚀</a:t>
            </a:r>
            <a:endParaRPr lang="en-US" sz="1800" dirty="0"/>
          </a:p>
        </p:txBody>
      </p:sp>
      <p:sp>
        <p:nvSpPr>
          <p:cNvPr id="10" name="Text 8"/>
          <p:cNvSpPr/>
          <p:nvPr/>
        </p:nvSpPr>
        <p:spPr>
          <a:xfrm>
            <a:off x="457200" y="4846320"/>
            <a:ext cx="8229600" cy="228600"/>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Zustand · 0 → 1 → Production · v1.0 ·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On-screen Show (16:9)</PresentationFormat>
  <Paragraphs>0</Paragraphs>
  <Slides>35</Slides>
  <Notes>35</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2026-05-07T04:28:28Z</dcterms:created>
  <dcterms:modified xsi:type="dcterms:W3CDTF">2026-05-07T06:20:12Z</dcterms:modified>
</cp:coreProperties>
</file>