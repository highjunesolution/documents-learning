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F031A-D308-6EB9-84C9-1172895688A9}" v="2" dt="2026-05-07T03:19:06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8F5F031A-D308-6EB9-84C9-1172895688A9}"/>
    <pc:docChg chg="mod addSld delSld modSld addMainMaster delMainMaster modNotesMaster">
      <pc:chgData name="D1I2 Jirayu S.Kaw" userId="S::300260129@th.maxxis.com::f59d7631-84c6-4c5a-a848-622dc00af3ab" providerId="AD" clId="Web-{8F5F031A-D308-6EB9-84C9-1172895688A9}" dt="2026-05-07T03:19:06.162" v="1"/>
      <pc:docMkLst>
        <pc:docMk/>
      </pc:docMkLst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2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3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4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5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6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7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8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89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0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1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2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3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4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5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6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7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8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299"/>
        </pc:sldMkLst>
      </pc:sldChg>
      <pc:sldChg chg="ad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0" sldId="300"/>
        </pc:sldMkLst>
      </pc:sldChg>
      <pc:sldChg chg="del replId">
        <pc:chgData name="D1I2 Jirayu S.Kaw" userId="S::300260129@th.maxxis.com::f59d7631-84c6-4c5a-a848-622dc00af3ab" providerId="AD" clId="Web-{8F5F031A-D308-6EB9-84C9-1172895688A9}" dt="2026-05-07T03:19:06.162" v="1"/>
        <pc:sldMkLst>
          <pc:docMk/>
          <pc:sldMk cId="109857222" sldId="301"/>
        </pc:sldMkLst>
      </pc:sldChg>
      <pc:sldMasterChg chg="add addSldLayout">
        <pc:chgData name="D1I2 Jirayu S.Kaw" userId="S::300260129@th.maxxis.com::f59d7631-84c6-4c5a-a848-622dc00af3ab" providerId="AD" clId="Web-{8F5F031A-D308-6EB9-84C9-1172895688A9}" dt="2026-05-07T03:19:06.162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8F5F031A-D308-6EB9-84C9-1172895688A9}" dt="2026-05-07T03:19:06.162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8F5F031A-D308-6EB9-84C9-1172895688A9}" dt="2026-05-07T03:19:06.162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EED22-D5D8-4567-AFBA-1085CF6D1A7A}" type="datetimeFigureOut"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5466F-F631-48FF-8B93-30AEF029ED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6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828800"/>
            <a:ext cx="3657600" cy="3657600"/>
          </a:xfrm>
          <a:prstGeom prst="ellipse">
            <a:avLst/>
          </a:prstGeom>
          <a:solidFill>
            <a:srgbClr val="2496ED">
              <a:alpha val="30000"/>
            </a:srgbClr>
          </a:solidFill>
          <a:ln w="12700">
            <a:solidFill>
              <a:srgbClr val="2496E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68880"/>
            <a:ext cx="2048256" cy="704088"/>
          </a:xfrm>
          <a:prstGeom prst="roundRect">
            <a:avLst>
              <a:gd name="adj" fmla="val 36364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770632" y="2532888"/>
            <a:ext cx="448056" cy="576072"/>
          </a:xfrm>
          <a:prstGeom prst="rtTriangl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0592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6495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2067" y="20592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2067" y="16495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1718" y="20592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1718" y="16495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2067" y="1636776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4829" y="2622499"/>
            <a:ext cx="128016" cy="128016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4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C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คู่มือเรียนรู้ Docker ตั้งแต่พื้นฐานจนใช้งานจริงสำหรับทีม IT &amp; Developer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943600"/>
            <a:ext cx="457200" cy="36576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/ Developer Training Series  ·  45 Slides  ·  Beginner → Advanced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คืออะไร?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Docker = </a:t>
            </a:r>
            <a:r>
              <a:rPr lang="en-US" sz="1800" dirty="0">
                <a:solidFill>
                  <a:srgbClr val="0B1B2B"/>
                </a:solidFill>
              </a:rPr>
              <a:t>เครื่องมือสำหรับ "แพ็ค" application พร้อมทุกสิ่งที่ต้องใช้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0B1B2B"/>
                </a:solidFill>
              </a:rPr>
              <a:t>(code, library, dependency, config) ลงในกล่องเดียวที่เรียกว่า </a:t>
            </a:r>
            <a:r>
              <a:rPr lang="en-US" sz="1600" b="1" dirty="0">
                <a:solidFill>
                  <a:srgbClr val="2496ED"/>
                </a:solidFill>
              </a:rPr>
              <a:t>Container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เปรียบเทียบง่ายๆ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1B2B"/>
                </a:solidFill>
              </a:rPr>
              <a:t>ส่งของทางเรือ → ใช้ "ตู้คอนเทนเนอร์" มาตรฐาน ขนของอะไรก็ได้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1B2B"/>
                </a:solidFill>
              </a:rPr>
              <a:t>Docker → ใช้ "กล่องสำเร็จรูป" รัน app อะไรก็ได้บนเครื่องไหนก็ได้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1B2B"/>
                </a:solidFill>
              </a:rPr>
              <a:t>เปิดกล่องแล้วใช้งานได้เลย ไม่ต้องตั้งค่าใหม่ทุกครั้ง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1B2B"/>
                </a:solidFill>
              </a:rPr>
              <a:t>กล่องเดียวกันรันเหมือนกัน บน laptop / server / cloud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64592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3774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30175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5BB0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(Node)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36576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82C5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657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42976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A8D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Env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49377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C8E2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Dependencies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</a:rPr>
              <a:t>รันได้ทุกที่ที่มี Docker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Docker?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1F1"/>
          </a:solidFill>
          <a:ln w="12700">
            <a:solidFill>
              <a:srgbClr val="F4C7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4B4B"/>
                </a:solidFill>
              </a:rPr>
              <a:t>❌ ปัญหาแบบเดิม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machine!"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ติดตั้ง dependency ยาก, version เพี้ยน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Setup server ใหม่ใช้เวลาเป็นชั่วโมง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Dev / Staging / Prod ไม่เหมือนกัน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870"/>
                </a:solidFill>
              </a:rPr>
              <a:t>✅ ทางออกของ Docker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"ทำงานเหมือนกันทุกเครื่อง"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Build ครั้งเดียว รันได้ทุกที่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Setup ใหม่ภายในไม่กี่วินาที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สิ่งแวดล้อมเหมือนกันตั้งแต่ Dev → Prod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5 ข้อดีหลัก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รันได้ทุกที่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61488" y="4114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61488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🔁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761488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52928" y="5349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สภาพแวดล้อมเหมือนกัน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65776" y="4114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65776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065776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57216" y="5349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เร็วในไม่กี่วินาที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70064" y="4114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70064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370064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61504" y="5349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แยกแต่ละ app ไม่ชนกัน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74352" y="4114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74352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674352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65792" y="5349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resource น้อยกว่า VM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45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Virtual Machine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C"/>
                </a:solidFill>
              </a:rPr>
              <a:t>Virtual Machine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03520" cy="457200"/>
          </a:xfrm>
          <a:prstGeom prst="rect">
            <a:avLst/>
          </a:prstGeom>
          <a:solidFill>
            <a:srgbClr val="FFE4E4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| App B | App 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303520" cy="457200"/>
          </a:xfrm>
          <a:prstGeom prst="rect">
            <a:avLst/>
          </a:prstGeom>
          <a:solidFill>
            <a:srgbClr val="FFEFD5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Bins/Libs   |   Bins/Libs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03520" cy="457200"/>
          </a:xfrm>
          <a:prstGeom prst="rect">
            <a:avLst/>
          </a:prstGeom>
          <a:solidFill>
            <a:srgbClr val="FFF7C2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 |  Guest OS  |  Guest 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303520" cy="457200"/>
          </a:xfrm>
          <a:prstGeom prst="rect">
            <a:avLst/>
          </a:prstGeom>
          <a:solidFill>
            <a:srgbClr val="D6E5F7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03520" cy="457200"/>
          </a:xfrm>
          <a:prstGeom prst="rect">
            <a:avLst/>
          </a:prstGeom>
          <a:solidFill>
            <a:srgbClr val="C8E2F9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30352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(Hardware)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96ED"/>
                </a:solidFill>
              </a:rPr>
              <a:t>Docker Container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53035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| App B | App 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5303520" cy="457200"/>
          </a:xfrm>
          <a:prstGeom prst="rect">
            <a:avLst/>
          </a:prstGeom>
          <a:solidFill>
            <a:srgbClr val="BAE6FD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Bins/Libs (per container)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5303520" cy="457200"/>
          </a:xfrm>
          <a:prstGeom prst="rect">
            <a:avLst/>
          </a:prstGeom>
          <a:solidFill>
            <a:srgbClr val="2496ED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474720"/>
            <a:ext cx="5303520" cy="457200"/>
          </a:xfrm>
          <a:prstGeom prst="rect">
            <a:avLst/>
          </a:prstGeom>
          <a:solidFill>
            <a:srgbClr val="C8E2F9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977640"/>
            <a:ext cx="530352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BCD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(Hardware)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29200"/>
          <a:ext cx="11064240" cy="1563624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เปรียบเทียบ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ขนาด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(มี Guest 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(แชร์ Kernel)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 Boot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นาที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วินาที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เต็มรูปแบบ (แยก 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 (เบากว่า)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ใช้มาก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ใช้น้อย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3F8C"/>
                </a:solidFill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💻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2B"/>
                </a:solidFill>
              </a:rPr>
              <a:t>Docker CLI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</a:rPr>
              <a:t>ผู้ใช้พิมพ์คำสั่งเพื่อสั่งงาน Daemon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292608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4096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096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8448" y="4096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43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nginx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nginx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16459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DOCKER HOST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224028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 Daemon (dockerd)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2971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F8C"/>
                </a:solidFill>
              </a:rPr>
              <a:t>Images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337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📀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F8C"/>
                </a:solidFill>
              </a:rPr>
              <a:t>Containers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337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34840" y="4023360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434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</a:rPr>
              <a:t>จัดการ Image + Container + Network + Volume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16459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3F8C"/>
                </a:solidFill>
              </a:rPr>
              <a:t>REGISTRY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☁️</a:t>
            </a:r>
            <a:endParaRPr lang="en-US" sz="5000" dirty="0"/>
          </a:p>
        </p:txBody>
      </p:sp>
      <p:sp>
        <p:nvSpPr>
          <p:cNvPr id="33" name="Text 31"/>
          <p:cNvSpPr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2B"/>
                </a:solidFill>
              </a:rPr>
              <a:t>Docker Registry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21040" y="3383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</a:rPr>
              <a:t>เก็บ Image กลาง เช่น Docker Hub, ACR, ECR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B1B2B"/>
                </a:solidFill>
              </a:rPr>
              <a:t>docker.io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B1B2B"/>
                </a:solidFill>
              </a:rPr>
              <a:t>Azure Container Registry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B1B2B"/>
                </a:solidFill>
              </a:rPr>
              <a:t>AWS ECR / GCR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0" y="3383280"/>
            <a:ext cx="411480" cy="274320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3383280"/>
            <a:ext cx="411480" cy="274320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3F8C"/>
                </a:solidFill>
              </a:rPr>
              <a:t>CLI ส่งคำสั่ง → Daemon ทำงาน → ดึง/ส่ง image จาก Registry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45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คำศัพท์สำคัญที่ต้องรู้จัก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Image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แบบพิมพ์ของ container — read-only template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916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1323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Container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instance ที่รันอยู่จริงจาก Image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Dockerfile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ไฟล์สูตรสำหรับ build Image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2743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Volume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ที่เก็บข้อมูลถาวร — ไม่หายเมื่อ container ถูกลบ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611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3703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Network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ตัวเชื่อม container ให้คุยกันได้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611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32320" y="3703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8C"/>
                </a:solidFill>
              </a:rPr>
              <a:t>Registry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คลังกลางสำหรับเก็บ/แชร์ Image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572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554480" y="45720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Compose  </a:t>
            </a:r>
            <a:r>
              <a:rPr lang="en-US" sz="1400" dirty="0">
                <a:solidFill>
                  <a:srgbClr val="0B1B2B"/>
                </a:solidFill>
              </a:rPr>
              <a:t>เครื่องมือรันหลาย container พร้อมกัน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คืออะไร?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F8C"/>
                </a:solidFill>
              </a:rPr>
              <a:t>☁️ Docker Hub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B2B"/>
                </a:solidFill>
              </a:rPr>
              <a:t>Public Registry กลางของ Docker — มี image พร้อมใช้นับล้านตัว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hub.docker.com — ฟรี search + pull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Official Images: nginx, node, mysql, redis, postgres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Verified Publisher: image จากบริษัทที่เชื่อถือได้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Private Repository: เก็บ image ของทีมแบบ private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วิธี pull image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53035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22677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677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7728" y="22677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1460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ดึง image จาก Docker Hub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nginx:latest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node:20-alpine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ค้นหา image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search redis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</a:rPr>
              <a:t>Tag = เวอร์ชัน เช่น nginx:1.25, node:20-alpine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8463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7E0"/>
          </a:solidFill>
          <a:ln w="12700">
            <a:solidFill>
              <a:srgbClr val="F4D979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937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78040" y="48920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ระวัง! Image ที่ไม่ใช่ Official อาจมี vulnerability — ควรใช้ Official หรือ scan ก่อนใช้เสมอ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รู้จัก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Workflow Overview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93776" y="22860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93776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Write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D8F4"/>
                </a:solidFill>
              </a:rPr>
              <a:t>Dockerfile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3840480"/>
            <a:ext cx="1188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เขียนสูตร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200400"/>
            <a:ext cx="146304" cy="182880"/>
          </a:xfrm>
          <a:prstGeom prst="rightArrow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2860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2496ED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61488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61488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61488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D8F4"/>
                </a:solidFill>
              </a:rPr>
              <a:t>Image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18688" y="3840480"/>
            <a:ext cx="1188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73752" y="3200400"/>
            <a:ext cx="146304" cy="182880"/>
          </a:xfrm>
          <a:prstGeom prst="rightArrow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2860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Run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D8F4"/>
                </a:solidFill>
              </a:rPr>
              <a:t>Container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3840480"/>
            <a:ext cx="1188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41464" y="3200400"/>
            <a:ext cx="146304" cy="182880"/>
          </a:xfrm>
          <a:prstGeom prst="rightArrow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22860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2496ED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96912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296912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Push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96912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D8F4"/>
                </a:solidFill>
              </a:rPr>
              <a:t>Registry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112" y="3840480"/>
            <a:ext cx="1188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09176" y="3200400"/>
            <a:ext cx="146304" cy="182880"/>
          </a:xfrm>
          <a:prstGeom prst="rightArrow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64624" y="22860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564624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564624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Deploy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64624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D8F4"/>
                </a:solidFill>
              </a:rPr>
              <a:t>Production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021824" y="3840480"/>
            <a:ext cx="1188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64624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+ run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</a:rPr>
              <a:t>Cycle เดิม ทำซ้ำได้ทุกครั้งที่ release version ใหม่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371600" y="5349240"/>
            <a:ext cx="941832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36192" y="551383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37360" y="551383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38528" y="551383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480" y="57607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myapp:1.0 .   →   $ docker run -p 80:3000 myapp:1.0   →   $ docker push myapp:1.0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45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ติดตั้ง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28600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เวอร์ชันที่รองรับ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หมายเหตุ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🪟 Windows 10 / 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/ Ent / Edu (64-bit)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ขั้นต่ำ 4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x64 / ARM64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ต้องเปิด WSL2 + Virtualization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🍎 macOS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(Big Sur) ขึ้นไป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ขั้นต่ำ 4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/ Apple Silicon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 Docker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🐧 Linux Ubuntu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20.04 / 22.04 / 24.04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ขั้นต่ำ 2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x64 / ARM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ติดตั้งผ่าน apt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🐧 Linux RHEL/CentOS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RHEL 8+, Rocky 9+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ขั้นต่ำ 2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 dnf / yum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ที่แนะนำสำหรับใช้งานจริง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45720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</a:rPr>
              <a:t>RAM 8 GB+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สำหรับรัน DB + app พร้อมกัน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4754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3756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3756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</a:rPr>
              <a:t>CPU 4 cores+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2900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Multi-stage build เร็วขึ้น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754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1792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💽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21792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</a:rPr>
              <a:t>Disk 20 GB+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Image / Volume กินที่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98280" y="4754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09828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09828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C"/>
                </a:solidFill>
              </a:rPr>
              <a:t>Internet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8972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ใช้ pull image จาก Registry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45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ติดตั้ง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Docker Desktop บน Windows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Download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ดาวน์โหลดจาก docker.com/products/docker-desktop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240280"/>
            <a:ext cx="0" cy="118872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04872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359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Install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679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ดับเบิ้ลคลิก installer → ติ๊ก "Use WSL2"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953512"/>
            <a:ext cx="0" cy="118872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18104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0723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WSL2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3924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เปิด PowerShell (Admin):  wsl --install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666744"/>
            <a:ext cx="0" cy="118872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31336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7856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Restart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Restart เครื่องหลังติดตั้งเสร็จ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379976"/>
            <a:ext cx="0" cy="118872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544568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Sign 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818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เปิด Docker Desktop → login (optional)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093208"/>
            <a:ext cx="0" cy="118872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5212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ลองรัน docker --version ใน Terminal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1737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📷  Screenshot Placeholder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</a:rPr>
              <a:t>Docker Desktop Dashboard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269748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697480"/>
            <a:ext cx="4297680" cy="2286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2697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● ● ●  Docker Desktop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B870"/>
                </a:solidFill>
              </a:rPr>
              <a:t>✓ Engine running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คำสั่งเปิด WSL2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0" y="4526280"/>
            <a:ext cx="52120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46908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46908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67728" y="46908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(Run as Administrator)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wsl --install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wsl --set-default-version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docker --version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ติดตั้ง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Docker บน Linux (Ubuntu)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ติดตั้งทีละขั้น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2677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677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2677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0881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อัปเดต package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apt-get update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ติดตั้ง dependencies และ Docker Engine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apt-get install -y ca-certificates curl gnupg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-fsSL https://get.docker.com | sudo 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เพิ่ม user เข้า docker group (ไม่ต้องใช้ sudo ทุกครั้ง)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usermod -aG docker $USER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newgrp docker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เริ่มและเปิดอัตโนมัติเมื่อ boot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systemctl enable --now docker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4406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5440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5440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ตรวจสอบ:  docker run hello-world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54406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FF7E0"/>
          </a:solidFill>
          <a:ln w="12700">
            <a:solidFill>
              <a:srgbClr val="F4D979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5440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5440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ถ้า newgrp ไม่ work — logout/login แล้วลองใหม่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ติดตั้ง DOCKER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ตรวจสอบการติดตั้ง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10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10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810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--version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version 25.0.3, build 4debf41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</a:rPr>
              <a:t>ดูเวอร์ชันของ Docker Engine ที่ลงไว้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557784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810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810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1810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057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info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 0   Images: 0   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</a:rPr>
              <a:t>ดูข้อมูลโดยรวมของ Daemon (containers, images, storage)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Run hello-world ทดสอบครั้งแรก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471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0050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0050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40050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51960"/>
            <a:ext cx="10881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hello-world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find image 'hello-world:latest' locally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latest: Pulling from library/hello-world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Downloaded newer image for hello-world:latest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from Docker!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message shows that your installation appears to be working correctly.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คำสั่งพื้นฐานที่ต้องรู้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ใช้ทำอะไร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ตัวอย่าง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ดึง image จาก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pull nginx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สร้างและรัน container ใหม่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-d nginx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ดู container ที่กำลังรัน (-a = ทั้งหมด)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ps -a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หยุด container ที่กำลังรัน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stop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เริ่ม container ที่หยุดอยู่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start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ลบ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rm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ดูรายการ image บนเครื่อง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ลบ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rmi nginx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ดู log ของ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logs -f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รันคำสั่งใน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exec -it web 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96ED"/>
                </a:solidFill>
              </a:rPr>
              <a:t>💡 พิมพ์ docker &lt;command&gt; --help เพื่อดู option ทั้งหมด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WORKSHOP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Container แรกของคุณ — Nginx Web Server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CD8F4"/>
                </a:solidFill>
              </a:rPr>
              <a:t>เป้าหมาย: รัน Nginx ฟัง port 80 บนเครื่องของคุณ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1762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762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1762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80:80 --name web nginx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2004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Detached mode — รันเบื้องหลัง (ไม่ block terminal)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80:80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7033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Map port host:container — เปิด port 80 ของเครื่องไปที่ 80 ของ container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 web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42062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ตั้งชื่อ container ว่า "web" (แทน random name)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7091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ชื่อ image (Docker Hub) — ดึงอัตโนมัติถ้าไม่มี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</a:rPr>
              <a:t>ผลลัพธ์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7150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CD8F4"/>
                </a:solidFill>
              </a:rPr>
              <a:t>เปิด browser → http://localhost  เห็นหน้า Welcome to nginx!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CD8F4"/>
                </a:solidFill>
              </a:rPr>
              <a:t>docker ps → เห็น container ชื่อ web รันอยู่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8F4"/>
                </a:solidFill>
              </a:rPr>
              <a:t>HANDS-ON LAB · Docker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การจัดการ Container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45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▶️ start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 web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เริ่ม container ที่หยุดอยู่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645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⏸ stop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148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หยุดอย่างปลอดภัย (SIGTERM)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788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🔄 restart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restart web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หยุดแล้วเริ่มใหม่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788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🗑 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web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ลบ container (ต้องหยุดก่อน)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931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📜 logs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web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ดู log แบบ realtime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9319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393192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8C"/>
                </a:solidFill>
              </a:rPr>
              <a:t>🐚 exec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web sh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952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เข้า shell ใน container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001F4F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5212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</a:rPr>
              <a:t>💡 Tip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docker exec -it &lt;name&gt; bash  ใช้กับ image ที่มี bash, sh ใช้กับ alpine; -it = interactive + tty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การจัดการ Image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AF4FC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55648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55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ดึง image จาก registry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75564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node:20-alpine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2257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22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322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สร้าง image จาก Dockerfile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32257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myapp:1.0 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AF4FC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88950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9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28895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ตั้ง tag ให้ image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88950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myapp:1.0 user/myapp:1.0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92424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564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56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3456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ส่งขึ้น registry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45643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user/myapp:1.0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AF4FC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02336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23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4023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ดูรายการ image + ขนาด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40233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590288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28800" y="45902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ลบ image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459028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myapp:1.0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ตัวอย่าง output ของ docker images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56967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56967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4128" y="56967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   TAG          IMAGE ID       CREATED        SIZE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         1.0          a1b2c3d4e5f6   2 hours ago    142MB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 Dockerfile แรก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85216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10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10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810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486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(Node.js app)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เลือก base image (มี Node + Alpine Linux)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ตั้ง directory ที่ใช้ทำงานใน container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(1)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คัดลอก package.json ก่อน — ใช้ cache 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4747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ติดตั้ง dependency ตอน build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069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(2)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924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คัดลอก source code ที่เหลือ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ประกาศ port (เอกสาร — ไม่เปิดจริง)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52578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คำสั่งเริ่มต้นเมื่อ container ถูกรัน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60167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60167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" y="60167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263640"/>
            <a:ext cx="10881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myapp:1.0 .   &amp;&amp;   $ docker run -d -p 3000:3000 myapp:1.0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Best Practices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Multi-stage 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แยก build/runtime — image เล็กลงมาก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ลด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22860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รวม RUN หลาย step ให้เป็น chain ด้วย &amp;&amp;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154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.dockerignore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5661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กัน node_modules, .git, .env เข้าไปใน image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971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154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Alpine Base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5661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base image เล็ก (~5MB) เร็วและปลอดภัย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4434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ไม่ run as root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8463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ใช้ USER node — ลด attack surface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2519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526280"/>
            <a:ext cx="640080" cy="64008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4434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Pin Version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48463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ใช้ node:20.10-alpine ไม่ใช้ :latest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7E0"/>
          </a:solidFill>
          <a:ln w="12700">
            <a:solidFill>
              <a:srgbClr val="F4D979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⚠️ อย่าใส่ secret ลงใน image — ใช้ environment variable หรือ secret manager เท่านั้น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WORKSHOP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จาก Node.js + Express 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20"/>
                </a:solidFill>
              </a:rPr>
              <a:t>Dockerfile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85216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1305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1305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5486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"index.js"]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20"/>
                </a:solidFill>
              </a:rPr>
              <a:t>ขั้นตอนการ Build &amp; Run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521208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21305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1305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21305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377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image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express-app:1.0 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container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3000:3000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api express-app:1.0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41605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</a:rPr>
              <a:t>✅ ทดสอบ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BCD8F4"/>
                </a:solidFill>
              </a:rPr>
              <a:t>docker logs api → server listening on 3000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BCD8F4"/>
                </a:solidFill>
              </a:rPr>
              <a:t>curl http://localhost:3000 → ได้ JSON response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BCD8F4"/>
                </a:solidFill>
              </a:rPr>
              <a:t>docker images → เห็น express-app:1.0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8F4"/>
                </a:solidFill>
              </a:rPr>
              <a:t>HANDS-ON LAB · Docker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— เก็บข้อมูลถาวร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3657600" cy="64008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Named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Docker จัดการให้ — recommended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29184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2735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2735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32735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myvol:/data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</a:rPr>
              <a:t>ใช้เมื่อไหร่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Database, Production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691640"/>
            <a:ext cx="3657600" cy="64008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Bind Mount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ผูกกับ folder จริงบน host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329184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2735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2735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32735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./code:/app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</a:rPr>
              <a:t>ใช้เมื่อไหร่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Development (live reload)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21040" y="169164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1691640"/>
            <a:ext cx="3657600" cy="64008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4400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tmpfs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392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อยู่ใน RAM อย่างเดียว ไม่ถูกบันทึก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3108960"/>
            <a:ext cx="329184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68512" y="32735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32735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0848" y="32735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--tmpfs /tmp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0392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</a:rPr>
              <a:t>ใช้เมื่อไหร่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0" y="4343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B2B"/>
                </a:solidFill>
              </a:rPr>
              <a:t>Cache, secrets ชั่วคราว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598932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Container ⇄ Volume Mount Point ⇄ Host File System / Memory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013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70AAE0"/>
          </a:solidFill>
          <a:ln w="12700">
            <a:solidFill>
              <a:srgbClr val="70AA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Default — แต่ละ container แยกอยู่ใน virtual network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57860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78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ใช้ network ของ host โดยตรง (ไม่มี isolation)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558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9B9B9B"/>
          </a:solidFill>
          <a:ln w="12700">
            <a:solidFill>
              <a:srgbClr val="9B9B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55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ไม่มี network เลย — สำหรับ container ที่ไม่ต้องการเชื่อมต่อ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13308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33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4023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สร้างเอง — recommended สำหรับ Compose, แยก app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20"/>
                </a:solidFill>
              </a:rPr>
              <a:t>Custom Bridge Network: app-net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92440" y="274320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924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784080" y="274320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8408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cache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4114800"/>
            <a:ext cx="320040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126480" y="4297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CD8F4"/>
                </a:solidFill>
              </a:rPr>
              <a:t>เชื่อมกันด้วยชื่อ container เป็น hostname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754880"/>
            <a:ext cx="52120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4919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4919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4919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166360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create app-net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51023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51023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4128" y="51023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349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ใช้ custom network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--network app-net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app myapp:1.0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พื้นฐานการใช้งาน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Secrets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3 วิธีส่ง environment variable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1) ตัวเดียว — -e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633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633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2633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DB_HOST=db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PORT=3000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myapp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0574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2) จากไฟล์ — --env-file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246888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2633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633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2633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DB_HOST=db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--env-file .env myapp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20574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3) Docker Secret (Swarm)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246888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85632" y="2633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2633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2633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"pass" |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secret create db_pwd -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at /run/secrets/db_pwd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1F1"/>
          </a:solidFill>
          <a:ln w="12700">
            <a:solidFill>
              <a:srgbClr val="F4C7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4B4B"/>
                </a:solidFill>
              </a:rPr>
              <a:t>⚠️ ข้อควรระวังเรื่อง Secrets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452628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ห้าม! commit ไฟล์ .env ขึ้น Git — ใส่ใน .gitignore เสมอ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ห้าม! ใส่ secret ใน Dockerfile (FROM/RUN/ENV) — ติดอยู่ใน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ใช้ Secret Manager ใน Production: Azure Key Vault, AWS Secrets Manager, Vault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1B2B"/>
                </a:solidFill>
              </a:rPr>
              <a:t>ตรวจ image leak ด้วย docker history + scan tool ก่อน push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คืออะไร?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B2B"/>
                </a:solidFill>
              </a:rPr>
              <a:t>เครื่องมือสำหรับ "นิยาม + รันหลาย container" ด้วยไฟล์ YAML ไฟล์เดียว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1F1"/>
          </a:solidFill>
          <a:ln w="12700">
            <a:solidFill>
              <a:srgbClr val="F4C7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4B4B"/>
                </a:solidFill>
              </a:rPr>
              <a:t>❌ Without Compose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12064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53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953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2953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create app-net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volume create db-data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--network app-net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db-data:/var/lib/mysql ...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app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--network app-net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DB_HOST=db ...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ยาวมาก ลืมง่าย ทำซ้ำได้ยาก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870"/>
                </a:solidFill>
              </a:rPr>
              <a:t>✅ With Compose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788920"/>
            <a:ext cx="512064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953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2953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2953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20040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docker-compose.yml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mysql:8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คำสั่ง — ทุก container พร้อมใช้!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0350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ใช้เมื่อ: app มีหลายส่วน (frontend + backend + DB + cache)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docker-compose.yml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852160" cy="4663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105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105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8105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4864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["3000:3000"]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DB_HOST: db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 [app-net]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mysql:8.0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[db-data:/var/lib/mysql]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 { db-data: {} }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 { app-net: {}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เวอร์ชันของ Compose schema (3.9 ใหม่สุด)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1945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รายการ container ที่จะรัน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697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2697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สร้าง image จาก Dockerfile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32004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3200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ใช้ image สำเร็จรูป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70332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map host:container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2062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ENV variables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7091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709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4709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named volume / bind mount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52120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5212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เลือก network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57150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715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5715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ลำดับการ start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WORKSHOP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สำหรับ Node.js + SQL Server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85800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7190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190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7190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4922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./api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["3000:3000"]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DB_HOST: db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DB_USER: sa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DB_PASS_FILE: /run/secrets/db_pwd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mcr.microsoft.com/mssql/server:2022-latest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ACCEPT_EULA: "Y"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SA_PASSWORD: "YourStrong!Passw0rd"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[mssql-data:/var/opt/mssql]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["1433:1433"]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mssql-data: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build จาก ./api Dockerfile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4688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DB ขึ้นก่อน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32461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3337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mssql-data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volume เก็บ DB ถาวร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40233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port DB ของ SQL Server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5029200"/>
            <a:ext cx="42062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519379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519379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5008" y="519379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5440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logs -f api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8F4"/>
                </a:solidFill>
              </a:rPr>
              <a:t>HANDS-ON LAB · Docker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WORKSHOP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Full Stack: Nginx + Node + Prisma + SQL Server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reverse 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:80 →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2103120"/>
            <a:ext cx="685800" cy="182880"/>
          </a:xfrm>
          <a:prstGeom prst="rightArrow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Node + Express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+ Prisma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2103120"/>
            <a:ext cx="685800" cy="182880"/>
          </a:xfrm>
          <a:prstGeom prst="rightArrow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SQL Server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CD8F4"/>
                </a:solidFill>
              </a:rPr>
              <a:t>2022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24160" y="155448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42416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00"/>
                </a:solidFill>
              </a:rPr>
              <a:t>volumes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2416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B00"/>
                </a:solidFill>
              </a:rPr>
              <a:t>db-data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1B00"/>
                </a:solidFill>
              </a:rPr>
              <a:t>nginx-conf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1124712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1821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1821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31821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2900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  { image: nginx:1.25-alpine, ports: ["80:80"], depends_on: [api],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volumes: [./nginx.conf:/etc/nginx/nginx.conf:ro]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    { build: ./api, environment: { DATABASE_URL: "sqlserver://db:1433;..." },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depends_on: { db: { condition: service_healthy } }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     { image: mcr.microsoft.com/mssql/server:2022-latest,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environment: { ACCEPT_EULA: "Y", SA_PASSWORD: "..." },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volumes: [db-data:/var/opt/mssql],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healthcheck: { test: ["CMD", "/opt/mssql-tools/bin/sqlcmd", "..."] }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 { db-data: {} }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D8F4"/>
                </a:solidFill>
              </a:rPr>
              <a:t>HANDS-ON LAB · Docker Training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คำสั่ง Docker Compose ที่ใช้บ่อย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สร้าง + รัน services เบื้องหลัง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6459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951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หยุดและลบ container/network ทั้งหมด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6517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ดู log แบบ realtime ทุก 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6517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build image ใหม่ตาม Dockerfile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6576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🐚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api 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เข้า shell ใน service api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36576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restart service เดียว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6634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3444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ดูสถานะของแต่ละ service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6634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46634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9516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config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ตรวจ syntax ของ compose file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Profiles &amp; Override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Override 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</a:rPr>
              <a:t>Compose โหลด docker-compose.yml + docker-compose.override.yml อัตโนมัติ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48640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877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877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5877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docker-compose.override.yml (dev)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[./api:/app]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NODE_ENV: development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npm run dev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Profiles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</a:rPr>
              <a:t>รันบาง service เฉพาะตอนต้องการ เช่น tools,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48640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25877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5877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84848" y="25877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346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pgadmin: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dpage/pgadmin4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profiles: [tools]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--profile tools up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870"/>
                </a:solidFill>
              </a:rPr>
              <a:t>✅ แนวทางใช้งานจริง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docker-compose.yml = config กลาง (Production-like)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docker-compose.override.yml = dev เฉพาะเครื่อง (live reload)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docker-compose.prod.yml = ใช้กับ -f flag เมื่อขึ้น Production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&amp; Restart Policy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healthcheck — ตรวจว่า container พร้อมใช้งานจริง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22199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2199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22199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 "curl", "-f", "http://localhost:3000/health"]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30s   timeout: 5s   retries: 3   start_period: 20s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restart policy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ไม่ restart (default)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5532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96ED"/>
                </a:solidFill>
              </a:rPr>
              <a:t>ใช้กับ: ใช้กับ batch/cron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4434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44348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on-failure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restart เมื่อ exit code ≠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5532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96ED"/>
                </a:solidFill>
              </a:rPr>
              <a:t>ใช้กับ: worker, retry job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4348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restart เสมอ — แม้สั่ง stop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5532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96ED"/>
                </a:solidFill>
              </a:rPr>
              <a:t>ใช้กับ: service สำคัญ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44348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98280" y="44348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unless-stopped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3544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restart ยกเว้นถูกสั่ง stop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35440" y="5532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96ED"/>
                </a:solidFill>
              </a:rPr>
              <a:t>ใช้กับ: แนะนำสำหรับ Production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DOCKER COMPOSE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Best Practices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Pin Image Version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ใช้ mysql:8.0.36 ไม่ใช่ :latest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Named Volumes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ไม่ใช้ bind mount ใน Production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แยก Network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frontend / backend / data tier แยก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98280" y="1691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ห้าม Hardcode Secret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ใช้ env_file + secret manager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417320" y="406908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ใช้ healthcheck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depends_on ด้วย service_healthy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8862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406908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42900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Build แยก stage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7472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Multi-stage Dockerfile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8862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406908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30936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กำหนด resources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limits cpu/memory ทุก service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98280" y="38862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58400" y="406908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1897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C"/>
                </a:solidFill>
              </a:rPr>
              <a:t>Cleanup เป็นประจำ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B2B"/>
                </a:solidFill>
              </a:rPr>
              <a:t>docker system prune -a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vs Production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2245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ด้าน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4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mount: ./code:/app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volume เท่านั้น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on-failure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unless-stopped / always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build: . (build ทุกครั้ง)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image: registry/myapp:1.2.3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 / json-file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syslog / fluentd / centralized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ไม่จำกัด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limits CPU + memory เสมอ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Vars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file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manager / 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Reload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nodemon / 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build artifact ที่นิ่ง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Expose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เปิด DB ออก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เปิดเฉพาะ proxy/web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บังคับ — ทุก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 สำหรับ Production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1F1"/>
          </a:solidFill>
          <a:ln w="12700">
            <a:solidFill>
              <a:srgbClr val="F4C7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4B4B"/>
                </a:solidFill>
              </a:rPr>
              <a:t>ก่อน (Single-stage)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MB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dev tools + source + node_modules + cache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870"/>
                </a:solidFill>
              </a:rPr>
              <a:t>หลัง (Multi-stage + Alpine)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MB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เฉพาะ runtime + production dependencies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4712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36499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6499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36499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11880"/>
            <a:ext cx="10881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builder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 &amp;&amp; npm run build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runtime (เล็กกว่า 10x)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/app/dist ./dist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/app/node_modules ./node_modules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"dist/server.js"]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ไม่ run as root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ใน Dockerfile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Scan vulnerabilities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scout cves / trivy image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87452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Read-only FS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8972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--read-only + tmpfs สำหรับ /tmp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2900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Drop capabilities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--cap-drop=ALL --cap-add=NET_BIND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342900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492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ไม่เก็บ secret ใน image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manager + secret mount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75320" y="3429000"/>
            <a:ext cx="822960" cy="822960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8972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Pin base image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8972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node:20.10.0-alpine ไม่ใช้ latest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51023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51023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51023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ก่อน push ทุกครั้ง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scout cves myapp:1.2.3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trivy image --severity HIGH,CRITICAL myapp:1.2.3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2148840"/>
            <a:ext cx="457200" cy="182880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45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Logging Driver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2148840"/>
            <a:ext cx="457200" cy="182880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45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Centralized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Logging Drivers ที่นิยม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json-file (default) — เหมาะกับ dev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syslog / journald — Linux native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fluentd / gelf / awslogs —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splunk / loki — enterprise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Monitoring Stack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5204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520440"/>
            <a:ext cx="13716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F8C"/>
                </a:solidFill>
              </a:rPr>
              <a:t>Prometheus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</a:rPr>
              <a:t>scrape metrics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35204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0" y="3520440"/>
            <a:ext cx="13716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F8C"/>
                </a:solidFill>
              </a:rPr>
              <a:t>Grafana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2976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297680"/>
            <a:ext cx="137160" cy="6858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343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F8C"/>
                </a:solidFill>
              </a:rPr>
              <a:t>cAdvisor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</a:rPr>
              <a:t>container metrics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61120" y="42976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0" y="4297680"/>
            <a:ext cx="137160" cy="6858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4343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F8C"/>
                </a:solidFill>
              </a:rPr>
              <a:t>Alertmanager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</a:rPr>
              <a:t>แจ้งเตือน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551383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551383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551383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กำหนด logging driver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--log-driver=fluentd --log-opt fluentd-address=host:24224 myapp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B2B"/>
                </a:solidFill>
              </a:rPr>
              <a:t>จำกัด CPU / Memory ป้องกัน container ตัวเดียวล้ม host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1) Docker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633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33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633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\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--cpus="1.5" \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--memory="512m" \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--memory-swap="1g" \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myapp:1.0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2) Compose (deploy.resources)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4864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63347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63347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263347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8036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limits:    { cpus: "1.5", memory: 512M }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reservations: { cpus: "0.5", memory: 256M 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📌 แนวทางตั้งค่า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เริ่มจาก measure จริงด้วย docker stats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limits = ค่าสูงสุดที่ยอมให้ใช้  /  reservations = ค่าที่จองไว้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OOM Killer จะ kill process ถ้าใช้ memory เกิน limit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DB ควรตั้ง memory limit สูง + reservation พอเหมาะ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 ส่วนตัว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9164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Docker Hub Private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ง่ายสุด, ราคาถูก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hub.docker.com — paid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9164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2376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Azure Container Registry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integration กับ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myacr.azurecr.io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1089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AWS ECR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integration กับ AWS / EKS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1089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2376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Self-Hosted Registry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ฟรี ควบคุมเอง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registry:2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7823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7823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7823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สร้าง self-hosted registry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5000:5000 --name registry registry:2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tag + push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myapp:1.0 myreg.local:5000/myapp:1.0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myreg.local:5000/myapp:1.0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กับ Docker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Push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6332" y="2331720"/>
            <a:ext cx="128016" cy="164592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6459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2496ED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892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6612" y="2331720"/>
            <a:ext cx="128016" cy="164592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6459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+ scan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6892" y="2331720"/>
            <a:ext cx="128016" cy="164592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16459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2496ED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2694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77172" y="2331720"/>
            <a:ext cx="128016" cy="164592"/>
          </a:xfrm>
          <a:prstGeom prst="rightArrow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16459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0976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50976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0976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+ Run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ตัวอย่าง GitHub Actions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1124712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95935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" y="395935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.github/workflows/docker.yml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Build &amp; Push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[push]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docker/login-action@v3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username: ${{secrets.DH_USER}}, password: ${{secrets.DH_PWD}} }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user/myapp:${{github.sha}} 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user/myapp:${{github.sha}}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🔵🟢 Blue-Green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688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(v1.0 — live)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(v1.1 — staged)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Balancer / Reverse 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B2B"/>
                </a:solidFill>
              </a:rPr>
              <a:t>สลับ traffic ที่ Load Balancer ทันที — rollback ได้เร็ว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🔄 Rolling Update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468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2468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1FB8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v1.1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2468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0" y="2468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2496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</a:rPr>
              <a:t>Replica ×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749040"/>
            <a:ext cx="5212080" cy="320040"/>
          </a:xfrm>
          <a:prstGeom prst="rightArrow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49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ค่อยๆ replace ทีละ replica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160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1B2B"/>
                </a:solidFill>
              </a:rPr>
              <a:t>ใช้ทรัพยากรน้อยกว่า — แต่ rollback ช้ากว่า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</a:rPr>
              <a:t>เลือกอย่างไร?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Blue-Green = rollback เร็วที่สุด แต่ใช้ infra 2 เท่า  |  Rolling = ประหยัด แต่ rollback ค่อยๆ — เลือกตาม SLA และงบ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9164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Volume Backup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tar archive volume → คัดลอกเก็บ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69164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2376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Database Dump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mysqldump / pg_dump → object 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97180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Image Snapshot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docker commit + push to registry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97180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2376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8C"/>
                </a:solidFill>
              </a:rPr>
              <a:t>Off-site Storage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474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</a:rPr>
              <a:t>Azure Blob / S3 / Glacier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ตัวอย่าง backup volume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A30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782312"/>
            <a:ext cx="118872" cy="11887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782312"/>
            <a:ext cx="118872" cy="1188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" y="4782312"/>
            <a:ext cx="118872" cy="118872"/>
          </a:xfrm>
          <a:prstGeom prst="ellipse">
            <a:avLst/>
          </a:prstGeom>
          <a:solidFill>
            <a:srgbClr val="1FB870"/>
          </a:solidFill>
          <a:ln w="12700">
            <a:solidFill>
              <a:srgbClr val="1F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-v db-data:/data -v $(pwd):/backup alpine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 czf /backup/db-data-$(date +%F).tar.gz -C /data 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C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-v db-data:/data -v $(pwd):/backup alpine \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 xzf /backup/db-data-2026-05-07.tar.gz -C /data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vs Kubernetes (Overview)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8803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ด้าน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Swarm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(K8s)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ง่าย — 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ซับซ้อน — ต้อง config เยอะ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ต่ำ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สูงชัน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Auto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+ VPA + Cluster Autoscaler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เรียบง่าย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Ingress / NetworkPolicy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เล็ก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ใหญ่มาก (Helm, Operators, ฯลฯ)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ทีมเล็ก / โปรเจกต์ปานกลาง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 scale ใหญ่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870"/>
                </a:solidFill>
              </a:rPr>
              <a:t>📌 เลือกอย่างไร?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3492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Swarm: ทีมเล็ก, ใช้ Docker อยู่แล้ว, ต้องการ orchestration ง่ายๆ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K8s: ระบบขนาดใหญ่, multi-cloud, ต้องการ auto-scaling/observability ครบ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B2B"/>
                </a:solidFill>
              </a:rPr>
              <a:t>ก่อนถึงทั้งสอง: Compose ก็เพียงพอสำหรับ small/medium production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Production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Internet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0" cy="274320"/>
          </a:xfrm>
          <a:prstGeom prst="line">
            <a:avLst/>
          </a:prstGeom>
          <a:noFill/>
          <a:ln w="25400">
            <a:solidFill>
              <a:srgbClr val="003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514600"/>
            <a:ext cx="4297680" cy="640080"/>
          </a:xfrm>
          <a:prstGeom prst="roundRect">
            <a:avLst>
              <a:gd name="adj" fmla="val 8571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514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Nginx — Reverse Proxy + TLS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3154680"/>
            <a:ext cx="2560320" cy="365760"/>
          </a:xfrm>
          <a:prstGeom prst="line">
            <a:avLst/>
          </a:prstGeom>
          <a:noFill/>
          <a:ln w="19050">
            <a:solidFill>
              <a:srgbClr val="249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5204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api-1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3154680"/>
            <a:ext cx="274320" cy="365760"/>
          </a:xfrm>
          <a:prstGeom prst="line">
            <a:avLst/>
          </a:prstGeom>
          <a:noFill/>
          <a:ln w="19050">
            <a:solidFill>
              <a:srgbClr val="2496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5204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api-2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154680"/>
            <a:ext cx="2011680" cy="365760"/>
          </a:xfrm>
          <a:prstGeom prst="line">
            <a:avLst/>
          </a:prstGeom>
          <a:noFill/>
          <a:ln w="19050">
            <a:solidFill>
              <a:srgbClr val="249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35204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api-3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160520"/>
            <a:ext cx="0" cy="27432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43484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434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  SQL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+ Replica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43484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434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Redis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Cache / Session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44348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</a:rPr>
              <a:t>💾 Volumes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</a:rPr>
              <a:t>backed 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514600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F8C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📊 Prometheus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📈 Grafana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🚨 Alertmgr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</a:rPr>
              <a:t>📜 Loki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CI/CD Pipeline → Build → Push to ACR → Deploy → Health Check → Rolling Update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ปัญหาที่พบบ่อย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Container ไม่ start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&lt;c&gt;  →  ดู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ตรวจ CMD / ENV / dependency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9164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Port Conflict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1488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port already allocated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เปลี่ยน host port หรือ kill process เดิม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004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Volume Permission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 (rw)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1000:1000 /path  หรือ user: "1000"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20040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004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Image Pull Error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36576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 / not found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 + ตรวจชื่อ image:tag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70916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4300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Out of Disk Space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space left on device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 -a --volumes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7091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709160"/>
            <a:ext cx="548640" cy="1371600"/>
          </a:xfrm>
          <a:prstGeom prst="rect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70916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🐌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0372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Slow Build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invalidate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เรียงลำดับ COPY ให้ leverage cache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สรุป &amp; 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Command Cheat Sheet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IMAGE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pull &lt;image&gt;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build -t name:tag 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tag src dest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push &lt;image&gt;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rmi &lt;image&gt;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69164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6916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CONTAINER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run -d -p 80:80 &lt;img&gt;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ps  /  docker ps -a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stop / start / restart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rm &lt;name&gt;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logs -f &lt;name&gt;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exec -it &lt;name&gt; 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COMPOSE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up -d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down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logs -f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build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compose exec &lt;s&gt; 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98280" y="169164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98280" y="1691640"/>
            <a:ext cx="2743200" cy="45720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SYSTEM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3544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info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stats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3544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system df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354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system prune -a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volume ls / prune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docker network 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สรุป &amp; 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ZERO TO PRODUCTION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&amp; Resources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Learning Path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78608" y="2331720"/>
            <a:ext cx="192024" cy="0"/>
          </a:xfrm>
          <a:prstGeom prst="line">
            <a:avLst/>
          </a:prstGeom>
          <a:noFill/>
          <a:ln w="25400">
            <a:solidFill>
              <a:srgbClr val="003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0328" y="2331720"/>
            <a:ext cx="192024" cy="0"/>
          </a:xfrm>
          <a:prstGeom prst="line">
            <a:avLst/>
          </a:prstGeom>
          <a:noFill/>
          <a:ln w="25400">
            <a:solidFill>
              <a:srgbClr val="003F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2048" y="2331720"/>
            <a:ext cx="192024" cy="0"/>
          </a:xfrm>
          <a:prstGeom prst="line">
            <a:avLst/>
          </a:prstGeom>
          <a:noFill/>
          <a:ln w="25400">
            <a:solidFill>
              <a:srgbClr val="003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73768" y="2331720"/>
            <a:ext cx="192024" cy="0"/>
          </a:xfrm>
          <a:prstGeom prst="line">
            <a:avLst/>
          </a:prstGeom>
          <a:noFill/>
          <a:ln w="25400">
            <a:solidFill>
              <a:srgbClr val="003F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8C"/>
                </a:solidFill>
              </a:rPr>
              <a:t>Resources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291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4173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Docker Official Docs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docs.docker.com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34840" y="3291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578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Docker 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hub.docker.com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2918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75320" y="3291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09828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Play with Docker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9828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labs.play-with-docker.com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46634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1732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Docker Deep Dive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5257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หนังสือโดย Nigel Poulton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6634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34840" y="46634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25780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Docker Mastery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5257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Bret Fisher (Udemy)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46634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4FC"/>
          </a:solidFill>
          <a:ln w="12700">
            <a:solidFill>
              <a:srgbClr val="BCD8F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46634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🛠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09828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8C"/>
                </a:solidFill>
              </a:rPr>
              <a:t>Awesome Docker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098280" y="5257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github.com/veggiemonk/awesome-docker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AF4FC"/>
          </a:solidFill>
          <a:ln w="12700">
            <a:solidFill>
              <a:srgbClr val="EAF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Training ·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457200"/>
            <a:ext cx="2743200" cy="2743200"/>
          </a:xfrm>
          <a:prstGeom prst="ellipse">
            <a:avLst/>
          </a:prstGeom>
          <a:solidFill>
            <a:srgbClr val="2496ED">
              <a:alpha val="40000"/>
            </a:srgbClr>
          </a:solidFill>
          <a:ln w="12700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2011680"/>
            <a:ext cx="2048256" cy="704088"/>
          </a:xfrm>
          <a:prstGeom prst="roundRect">
            <a:avLst>
              <a:gd name="adj" fmla="val 36364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296912" y="2075688"/>
            <a:ext cx="448056" cy="576072"/>
          </a:xfrm>
          <a:prstGeom prst="rtTriangl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68696" y="16020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68696" y="11923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78347" y="16020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8347" y="11923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7998" y="1602029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7998" y="1192378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78347" y="1179576"/>
            <a:ext cx="358445" cy="358445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71109" y="2165299"/>
            <a:ext cx="128016" cy="128016"/>
          </a:xfrm>
          <a:prstGeom prst="ellipse">
            <a:avLst/>
          </a:prstGeom>
          <a:solidFill>
            <a:srgbClr val="003F8C"/>
          </a:solidFill>
          <a:ln w="12700">
            <a:solidFill>
              <a:srgbClr val="003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029200" y="4846320"/>
            <a:ext cx="210312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CD8F4"/>
                </a:solidFill>
              </a:rPr>
              <a:t>Happy Containerizing 🐳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0" y="5577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001F4F"/>
          </a:solidFill>
          <a:ln w="12700">
            <a:solidFill>
              <a:srgbClr val="2496ED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0" y="55778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it-training@company.com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CD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#docker-help · 🌐 wiki/docker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2026-05-07T01:39:29Z</dcterms:created>
  <dcterms:modified xsi:type="dcterms:W3CDTF">2026-05-07T03:19:27Z</dcterms:modified>
</cp:coreProperties>
</file>