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F72B7-67AF-C292-44CD-C020FDDE5F4F}" v="2" dt="2026-04-24T04:42:55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0CEF72B7-67AF-C292-44CD-C020FDDE5F4F}"/>
    <pc:docChg chg="mod addSld delSld modSld addMainMaster delMainMaster modNotesMaster setSldSz">
      <pc:chgData name="D1I2 Jirayu S.Kaw" userId="S::300260129@th.maxxis.com::f59d7631-84c6-4c5a-a848-622dc00af3ab" providerId="AD" clId="Web-{0CEF72B7-67AF-C292-44CD-C020FDDE5F4F}" dt="2026-04-24T04:42:55.833" v="1"/>
      <pc:docMkLst>
        <pc:docMk/>
      </pc:docMkLst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8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79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81"/>
        </pc:sldMkLst>
      </pc:sldChg>
      <pc:sldChg chg="ad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0" sldId="282"/>
        </pc:sldMkLst>
      </pc:sldChg>
      <pc:sldChg chg="del replId">
        <pc:chgData name="D1I2 Jirayu S.Kaw" userId="S::300260129@th.maxxis.com::f59d7631-84c6-4c5a-a848-622dc00af3ab" providerId="AD" clId="Web-{0CEF72B7-67AF-C292-44CD-C020FDDE5F4F}" dt="2026-04-24T04:42:55.833" v="1"/>
        <pc:sldMkLst>
          <pc:docMk/>
          <pc:sldMk cId="109857222" sldId="283"/>
        </pc:sldMkLst>
      </pc:sldChg>
      <pc:sldMasterChg chg="add addSldLayout">
        <pc:chgData name="D1I2 Jirayu S.Kaw" userId="S::300260129@th.maxxis.com::f59d7631-84c6-4c5a-a848-622dc00af3ab" providerId="AD" clId="Web-{0CEF72B7-67AF-C292-44CD-C020FDDE5F4F}" dt="2026-04-24T04:42:55.833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0CEF72B7-67AF-C292-44CD-C020FDDE5F4F}" dt="2026-04-24T04:42:55.833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0CEF72B7-67AF-C292-44CD-C020FDDE5F4F}" dt="2026-04-24T04:42:55.833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flat">
              <a:solidFill>
                <a:srgbClr val="58A6F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8A6FF"/>
              </a:solidFill>
              <a:ln w="9525" cap="flat">
                <a:solidFill>
                  <a:srgbClr val="58A6F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12000</c:v>
                </c:pt>
                <c:pt idx="1">
                  <c:v>18000</c:v>
                </c:pt>
                <c:pt idx="2">
                  <c:v>15000</c:v>
                </c:pt>
                <c:pt idx="3">
                  <c:v>22000</c:v>
                </c:pt>
                <c:pt idx="4">
                  <c:v>19000</c:v>
                </c:pt>
                <c:pt idx="5">
                  <c:v>25000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A45-4FAE-A884-D35C5DDF1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1020</c:v>
                </c:pt>
                <c:pt idx="2">
                  <c:v>1150</c:v>
                </c:pt>
                <c:pt idx="3">
                  <c:v>1340</c:v>
                </c:pt>
                <c:pt idx="4">
                  <c:v>1580</c:v>
                </c:pt>
                <c:pt idx="5">
                  <c:v>1847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8D-4803-996F-53F4D318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8A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0F-4A05-B187-C6238BF093A6}"/>
              </c:ext>
            </c:extLst>
          </c:dPt>
          <c:dPt>
            <c:idx val="1"/>
            <c:bubble3D val="0"/>
            <c:spPr>
              <a:solidFill>
                <a:srgbClr val="BC8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0F-4A05-B187-C6238BF093A6}"/>
              </c:ext>
            </c:extLst>
          </c:dPt>
          <c:dPt>
            <c:idx val="2"/>
            <c:bubble3D val="0"/>
            <c:spPr>
              <a:solidFill>
                <a:srgbClr val="39D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0F-4A05-B187-C6238BF093A6}"/>
              </c:ext>
            </c:extLst>
          </c:dPt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Service</c:v>
                </c:pt>
                <c:pt idx="2">
                  <c:v>Subscription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0F-4A05-B187-C6238BF093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AE079-D161-4583-9DF1-AA6122940F4B}" type="datetimeFigureOut"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FABE8-4BD0-4FF5-8B0E-2B67551CD2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0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914400"/>
            <a:ext cx="3291840" cy="3291840"/>
          </a:xfrm>
          <a:prstGeom prst="ellipse">
            <a:avLst/>
          </a:prstGeom>
          <a:solidFill>
            <a:srgbClr val="BC8CFF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3716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การสร้าง Dashboard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 Chart.js + Node.js API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+ Production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Frontend / Fullstack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ภาพรวมสถาปัตยกรรม: Frontend ↔ Backend ↔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03120" cy="2011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103120" cy="36576"/>
          </a:xfrm>
          <a:prstGeom prst="rect">
            <a:avLst/>
          </a:prstGeom>
          <a:solidFill>
            <a:srgbClr val="39D2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5176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2286000"/>
            <a:ext cx="109728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1" name="Text 8"/>
          <p:cNvSpPr/>
          <p:nvPr/>
        </p:nvSpPr>
        <p:spPr>
          <a:xfrm>
            <a:off x="35204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88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1463040"/>
            <a:ext cx="2103120" cy="2011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0" y="1463040"/>
            <a:ext cx="2103120" cy="36576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5216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852160" y="2286000"/>
            <a:ext cx="10972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5"/>
          <p:cNvSpPr/>
          <p:nvPr/>
        </p:nvSpPr>
        <p:spPr>
          <a:xfrm>
            <a:off x="67208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883E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766560" y="1463040"/>
            <a:ext cx="2103120" cy="2011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66560" y="1463040"/>
            <a:ext cx="2103120" cy="36576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6916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6656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76656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Bar / Pie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 Client  →  API  →  JSON  →  Chart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640" y="4297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ส่ง request ไปยัง API ผ่าน fetch()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ประมวลผลและส่ง JSON response กลับ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รับข้อมูลและ render กราฟบนหน้าเว็บ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API (Node.js)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route: /api/sales — return JSON data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560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 API endpoint สำหรับข้อมูลยอดขาย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app.get("/api/sales", (req, res)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date: "2026-01", total: 12000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date: "2026-02", total: 18000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date: "2026-03", total: 15000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date: "2026-04", total: 22000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60020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Express.js สร้าง REST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/api/sales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เป็น JSON Array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object มี date และ total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พร้อมเชื่อมต่อจาก Frontend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สามารถเชื่อมต่อ Database จริงได้ (MongoDB, MySQL)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middleware สำหรับ authentication ได้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จาก 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fetch() + async/await ดึงข้อมูลจาก API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3774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ดึงข้อมูลจาก API ด้วย async/await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loadSalesData()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fetch("/api/sales")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res.json()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[{ date: "2026-01", total: 12000 }, ...]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377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39D2E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6002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เขียนโค้ด asynchronous แบบอ่านง่าย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สำหรับ HTTP request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.json()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response เป็น JavaScript object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async/await แทน .then() chain เพื่อความอ่านง่าย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ควรเพิ่ม try/catch สำหรับ error handling ในงานจริง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Data → Chart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JSON data เป็น labels และ datasets สำหรับ Chart.js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0116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แปลงข้อมูล JSON เป็นรูปแบบที่ Chart.js ต้องการ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labels = data.map(d =&gt; d.date)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["2026-01", "2026-02", "2026-03", ...]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values = data.map(d =&gt; d.total)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[12000, 18000, 15000, ...]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011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19202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  .map()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labels[]  +  values[]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↓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Dataset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= แกน X ของกราฟ (วันที่, เดือน, หมวดหมู่)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= แกน Y ของกราฟ (ตัวเลข, จำนวน, ยอดเงิน)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Array.map() เป็นวิธีมาตรฐานในการ transform ข้อมูล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Chart พื้นฐาน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Line Chart จากข้อมูลที่ map แล้ว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743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 Line Chart พื้นฐาน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Chart(ctx,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"line",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labels,          // แกน 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datasets: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label: "Sales",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data: values,  // แกน 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borderColor: "#58A6FF",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tension: 0.4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7432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โครงสร้างหลัก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— ประเภทกราฟ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data.labels — ค่าแกน X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data.datasets — ชุดข้อมูล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borderColor — สีเส้นกราฟ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— ความโค้งของเส้น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เจาะลึกโครงสร้าง Chart.js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ส่วนหลัก: type, data, options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2560320" cy="27432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2651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ประเภทกราฟ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pie,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doughnut, radar,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bubble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29000" y="1371600"/>
            <a:ext cx="2560320" cy="27432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29000" y="137160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290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611880" y="2651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ข้อมูลกราฟ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labels[]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datasets[]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data, label, color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309360" y="1371600"/>
            <a:ext cx="2560320" cy="27432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09360" y="1371600"/>
            <a:ext cx="2560320" cy="36576"/>
          </a:xfrm>
          <a:prstGeom prst="rect">
            <a:avLst/>
          </a:prstGeom>
          <a:solidFill>
            <a:srgbClr val="00FF8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5544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92240" y="2651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การปรับแต่ง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plugins, scales,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interaction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สำคัญที่สุด!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options คือหัวใจของการ customize — จะเจาะลึกในสไลด์ถัดไป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เบื้องต้น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การตั้งค่าพื้นฐานของ Chart.js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8046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ปรับขนาดตาม container อัตโนมัติ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240280"/>
            <a:ext cx="80467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maintainAspectRatio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 chart เต็มพื้นที่ container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108960"/>
            <a:ext cx="80467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3474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xAxisKey, yAxisKey }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key ในข้อมูลสำหรับแต่ละแกน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977640"/>
            <a:ext cx="8046720" cy="36576"/>
          </a:xfrm>
          <a:prstGeom prst="rect">
            <a:avLst/>
          </a:prstGeom>
          <a:solidFill>
            <a:srgbClr val="39D2E0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performance เมื่อข้อมูลเรียงแล้ว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legend, title, tooltip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ปรับแต่ง UI elements ของกราฟ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926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ตั้งค่า plugins สำหรับ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plugins: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legend: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display: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position: "top"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display: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text: "Sales Report",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color: "#E6EDF3"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tooltip: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enabled: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mode: "index"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926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แสดงคำอธิบายสี/ชื่อ dataset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ชื่อกราฟด้านบน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tooltip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แสดงรายละเอียดเมื่อ hover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(แกน X/Y)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ควบคุมแกน, grid lines, และ ticks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30175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ตั้งค่าแกน X และ 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beginAtZero: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color: "#8B949E",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callback: (v) =&gt; v.toLocaleString() + " ฿"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color: "rgba(139,148,158,0.15)"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ticks: { color: "#8B949E"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grid: { display: false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3017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beginAtZero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เริ่มแกน Y จาก 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ปรับสี, format ตัวเลข, font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 grid สีอ่อน / ซ่อน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ค่าที่แสดง (เช่น + สกุลเงิน)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ควบคุมพฤติกรรมเมื่อผู้ใช้ hover และ click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8046720" cy="36576"/>
          </a:xfrm>
          <a:prstGeom prst="rect">
            <a:avLst/>
          </a:prstGeom>
          <a:solidFill>
            <a:srgbClr val="39D2E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'index'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tooltip ทุก dataset ในแกน X เดียวกัน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240280"/>
            <a:ext cx="8046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'nearest'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tooltip จุดที่ใกล้เคอร์เซอร์ที่สุด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108960"/>
            <a:ext cx="80467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intersect: false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84048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 hover ตรงจุดก็แสดง tooltip ได้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977640"/>
            <a:ext cx="80467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onHover / onClick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404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function สำหรับ custom behavior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ใช้ mode: 'index' + intersect: false สำหรับ dashboard ที่ใช้งานง่าย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สร้างความน่าสนใจด้วย animation ที่ลื่นไหล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1945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ตั้งค่า animation ให้กราฟ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duration: 1500,      // ระยะเวลา (ms)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easing: "easeOutQuart", // รูปแบบการเคลื่อนไหว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delay: (ctx)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ctx.dataIndex * 100  // หน่วงทีละจุด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1945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F778BA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Easing Options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เท่ากันตลอด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easeOutQuart — ช้าลงตอนจบ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easeInOutCubic — นุ่มนวล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easeOutBounce — เด้งตอนจบ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function ทำให้แต่ละจุดปรากฏทีละจุด (stagger effect)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animation ไม่มากเกินไปเพื่อไม่ให้รบกวนผู้ใช้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Elements: Line &amp; 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ปรับแต่งรูปร่างของเส้นและจุดบนกราฟ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560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ปรับแต่ง elements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tension: 0.4,        // ความโค้ง (0 = ตรง, 1 = โค้งมาก)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borderWidth: 2,      // ความหนาเส้น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borderCapStyle: "round"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radius: 4,           // ขนาดจุด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hoverRadius: 8,      // ขนาดจุดตอน hover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"#58A6FF"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Properties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— ค่า 0.3-0.4 สวยที่สุด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borderWidth — แนะนำ 2-3px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Properties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— ปกติ 3-5px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hoverRadius — ขยายตอน hover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731520"/>
            <a:ext cx="1554480" cy="1554480"/>
          </a:xfrm>
          <a:prstGeom prst="ellipse">
            <a:avLst/>
          </a:prstGeom>
          <a:solidFill>
            <a:srgbClr val="F778BA">
              <a:alpha val="15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515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UI/UX: สีและ Gradient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3291840"/>
            <a:ext cx="5029200" cy="1645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340156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340156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340156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566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 gradient สำหรับพื้นที่ใต้กราฟ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gradient = ctx.createLinearGradient(0, 0, 0, 400)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gradient.addColorStop(0, "rgba(88,166,255,0.4)")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gradient.addColorStop(1, "rgba(88,166,255,0.0)")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ใส่ใน dataset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backgroundColor: gradient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ทำให้กราฟดูมีมิติ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rgba สำหรับความโปร่งใส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ปรับเส้นกราฟให้โค้งมน ดูเป็นมืออาชีพ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384048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384048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tension: 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เส้นตรง แข็ง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914400" y="3291840"/>
            <a:ext cx="731520" cy="0"/>
          </a:xfrm>
          <a:prstGeom prst="line">
            <a:avLst/>
          </a:prstGeom>
          <a:noFill/>
          <a:ln w="25400">
            <a:solidFill>
              <a:srgbClr val="FF7B7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371600"/>
            <a:ext cx="411480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4114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tension: 0.4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5488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เส้นโค้ง สวยงาม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206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 tension 0.3-0.4 คือค่าที่เหมาะสมที่สุดสำหรับ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ค่ามากกว่า 0.5 อาจทำให้กราฟบิดเบี้ยวจากข้อมูลจริง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เส้นโค้งช่วยให้ผู้ใช้มองเห็น trend ได้ง่ายขึ้น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แบบสวย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label และ format ตัวเลขใน tooltip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30175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ปรับแต่ง tooltip ให้สวย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tooltip: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"rgba(22,27,34,0.95)",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titleColor: "#58A6FF",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bodyColor: "#E6EDF3",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borderColor: "#58A6FF",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borderWidth: 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cornerRadius: 8,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callbacks: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(ctx)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format ตัวเลขแบบไทย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val = ctx.parsed.y.toLocaleString()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 ยอดขาย: ${val} บาท`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3017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Styling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backgroundColor — สีพื้น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borderColor — ขอบ tooltip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cornerRadius — มุมโค้ง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callbacks.label — format ข้อความ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ใช้ toLocaleString()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ตัวเลขให้อ่านง่าย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แบบมืออาชีพ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ปรับตำแหน่งและสไตล์ของ Legend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560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ปรับแต่ง Legend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"top",       // top, bottom, left, right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align: "end",          // start, center,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"#E6EDF3",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usePointStyle: true,  // ใช้วงกลมแทนสี่เหลี่ยม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pointStyle: "circle",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20,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size: 13,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family: "Calibri"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usePointStyle ทำให้ legend ดูทันสมัย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'top' เหมาะกับ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padding เพิ่มระยะห่าง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ใช้สีที่อ่านง่ายบนพื้นมืด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อัปเดตกราฟแบบ real-time ด้วย setInterval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32004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อัปเดตข้อมูลแบบ real-time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updateChart()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fetch("/api/sales/latest")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newData = await res.json()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เพิ่มข้อมูลใหม่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chart.data.labels.push(newData.date)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chart.data.datasets[0].data.push(newData.total)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ลบข้อมูลเก่า (เก็บแค่ 12 จุด)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(chart.data.labels.length &gt; 12)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chart.data.labels.shift()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chart.data.datasets[0].data.shift()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chart.update("none")  // ไม่ใส่ animation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setInterval(updateChart, 5000)  // ทุก 5 วินาที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3200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chart.update()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Chart.js ให้ re-render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"none" mode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ข้าม animation เพื่อ performance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.shift() + .push()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เลื่อนข้อมูลแบบ sliding window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Datasets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เปรียบเทียบหลายชุดข้อมูลในกราฟเดียว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926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หลาย datasets ในกราฟเดียว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"Sales",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salesData,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borderColor: "#58A6FF",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gradient1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"Expenses",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expenseData,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borderColor: "#F778BA",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gradient2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"Profit",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profitData,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borderColor: "#3FB950",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gradient3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926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dataset มีสี/สไตล์แยก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ใช้สีที่ต่างกันชัดเจน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ช่วยแยก dataset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ไม่ควรเกิน 4-5 datasets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interaction mode: 'index'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ทำให้กราฟรันเร็วแม้ข้อมูลเยอะ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8046720" cy="36576"/>
          </a:xfrm>
          <a:prstGeom prst="rect">
            <a:avLst/>
          </a:prstGeom>
          <a:solidFill>
            <a:srgbClr val="39D2E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false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 animation เพิ่มความเร็วเมื่อข้อมูลมาก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8046720" cy="5943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057400"/>
            <a:ext cx="80467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decimation plugin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ลดจำนวนจุดที่แสดง (เช่น 10,000 → 500)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8046720" cy="5943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743200"/>
            <a:ext cx="80467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normalized: true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Chart.js ว่าข้อมูลเรียงแล้ว ไม่ต้อง sort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8046720" cy="5943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429000"/>
            <a:ext cx="804672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spanGaps: true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ข้ามค่า null ไม่ต้องตัดเส้น ลด rendering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4114800"/>
            <a:ext cx="80467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parsing: false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65760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ส่งข้อมูลในรูปแบบที่ Chart.js ต้องการโดยตรง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จัดวาง dashboard ด้วย CSS Grid / Flexbox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30175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Grid สำหรับ Dashboard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.dashboard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repeat(2, 1fr);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Responsive: 1 column บนมือถือ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768px)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.dashboard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1fr;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.chart-card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#161B22;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3017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Tips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จัดวาง 2-4 คอลัมน์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ระยะห่างระหว่าง chart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true ใน Chart.js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ปรับ mobile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ใช้ min-height กัน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หดเล็กเกินไป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error จาก API อย่างมืออาชีพ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5029200" cy="32918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38988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38988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38988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544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จัดการ error แบบครบวงจร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loadChart()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fetch("/api/sales")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(!res.ok)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Error(`API Error: ${res.status}`)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res.json()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renderChart(data)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console.error("Failed:", error)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แสดงข้อความ error บน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showErrorMessage("ไม่สามารถโหลดข้อมูลได้")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ใช้ fallback data (ข้อมูลสำรอง)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renderChart(FALLBACK_DATA)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280160"/>
            <a:ext cx="2926080" cy="3291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280160"/>
            <a:ext cx="292608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46304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เซิร์ฟเวอร์ไม่ตอบ, timeout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Error (4xx, 5xx)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error, unauthorized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ไม่ถูกต้อง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Data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แสดงข้อมูลสำรองแทน blank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spinner ขณะรอข้อมูลจาก API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743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จัดการ loading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showLoading(containerId)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el = document.getElementById(containerId)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el.innerHTML = 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class="loading-spinner"&gt;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class="spinner"&gt;&lt;/div&gt;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&lt;p&gt;กำลังโหลดข้อมูล...&lt;/p&gt;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เรียกใช้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showLoading("chart-container")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 = await fetchData()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renderChart(data)  // แทนที่ spinner ด้วย chart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1371600"/>
            <a:ext cx="3200400" cy="1645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2" name="Shape 9"/>
          <p:cNvSpPr/>
          <p:nvPr/>
        </p:nvSpPr>
        <p:spPr>
          <a:xfrm>
            <a:off x="596188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3" name="Shape 10"/>
          <p:cNvSpPr/>
          <p:nvPr/>
        </p:nvSpPr>
        <p:spPr>
          <a:xfrm>
            <a:off x="611733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1645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 Spinner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.spinner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40px; height: 40px;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3px solid #161B22;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border-top: 3px solid #58A6FF;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50%;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spin 0.8s linear infinite;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ที่ดี: แสดง loading indicator ทุกครั้งที่รอ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skeleton screen สำหรับ dashboard ที่ซับซ้อน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แนวทางการเขียนโค้ด dashboard ที่ดี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86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926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481328"/>
            <a:ext cx="109728" cy="1097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48132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แยก config เป็น reusable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createChartConfig(type, data, opts)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responsive: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maintainAspectRatio: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plugins: { ...defaultPlugins, ...opts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scales: defaultScales,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animation: defaultAnimation,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เรียกใช้ง่าย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config = createChartConfig("line", salesData)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Chart(ctx, config)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2926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292608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แยก config จาก data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สร้าง reusable function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default options + override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แยกไฟล์ chart config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ใช้ constants สำหรับสี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destroy() ก่อนสร้าง chart ใหม่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ตัวอย่าง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Users + Revenue Charts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฿284,500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196596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88720"/>
            <a:ext cx="19659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6596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19659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฿156,200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+15.7%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188720"/>
            <a:ext cx="196596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188720"/>
            <a:ext cx="1965960" cy="36576"/>
          </a:xfrm>
          <a:prstGeom prst="rect">
            <a:avLst/>
          </a:prstGeom>
          <a:solidFill>
            <a:srgbClr val="39D2E0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3.24%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83880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411480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286000"/>
            <a:ext cx="41148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57200" y="2743200"/>
          <a:ext cx="3931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4663440" y="2286000"/>
            <a:ext cx="4114800" cy="11887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63440" y="2286000"/>
            <a:ext cx="41148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100" dirty="0"/>
          </a:p>
        </p:txBody>
      </p:sp>
      <p:graphicFrame>
        <p:nvGraphicFramePr>
          <p:cNvPr id="31" name="Chart 1"/>
          <p:cNvGraphicFramePr/>
          <p:nvPr/>
        </p:nvGraphicFramePr>
        <p:xfrm>
          <a:off x="4754880" y="2651760"/>
          <a:ext cx="393192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Shape 28"/>
          <p:cNvSpPr/>
          <p:nvPr/>
        </p:nvSpPr>
        <p:spPr>
          <a:xfrm>
            <a:off x="4663440" y="3657600"/>
            <a:ext cx="4114800" cy="11887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663440" y="3657600"/>
            <a:ext cx="41148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4" name="Text 30"/>
          <p:cNvSpPr/>
          <p:nvPr/>
        </p:nvSpPr>
        <p:spPr>
          <a:xfrm>
            <a:off x="48463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1100" dirty="0"/>
          </a:p>
        </p:txBody>
      </p:sp>
      <p:graphicFrame>
        <p:nvGraphicFramePr>
          <p:cNvPr id="35" name="Chart 2"/>
          <p:cNvGraphicFramePr/>
          <p:nvPr/>
        </p:nvGraphicFramePr>
        <p:xfrm>
          <a:off x="4846320" y="4023360"/>
          <a:ext cx="182880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Text 3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548640"/>
            <a:ext cx="1554480" cy="155448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8686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01752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017520"/>
            <a:ext cx="38404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API = Dashboard จริง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ดึงข้อมูลจาก Node.js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แปลงข้อมูลเป็น Chart format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Chart() สร้างกราฟ + update()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3017520"/>
            <a:ext cx="41148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= หัวใจของการ customize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— legend, title, tooltip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— แกน, grid, ticks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+ interaction + elements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BC8C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1097280"/>
            <a:ext cx="1828800" cy="1828800"/>
          </a:xfrm>
          <a:prstGeom prst="ellipse">
            <a:avLst/>
          </a:prstGeom>
          <a:solidFill>
            <a:srgbClr val="58A6FF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17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ถาม-ตอบ &amp; แลกเปลี่ยนความคิดเห็น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ขอบคุณครับ!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2026-04-24T04:26:23Z</dcterms:created>
  <dcterms:modified xsi:type="dcterms:W3CDTF">2026-04-24T04:43:02Z</dcterms:modified>
</cp:coreProperties>
</file>